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1: Introduzca el concepto clásico del embudo. Destaque a los alumnos que, aunque ha guiado a las empresas durante más de un siglo, su premisa básica (que el vendedor controla la información) está en crisis en los mercados digitales actuales.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2: Analice la cima del cono. Haga hincapié en el inmenso desperdicio de horas de trabajo cuando los equipos comerciales persiguen listas frías sin verificar intenciones de compra previas.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3: Explique la presión sobre el equipo de prospección saliente. Los sueldos y herramientas son cada vez más costosos, mientras la tasa de respuesta en frío cae a mínimos históricos.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4: Trate el fenómeno del estancamiento en la mitad del embudo. A menudo, el mayor competidor no es otra empresa, sino la 'falta de decisión' y la inercia del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5: Destaque la dinámica del comité de adquisiciones. Incluso cuando el usuario final ama la solución, los contratos se caen si finanzas o el área jurídica encuentran riesgos o precios injustificados.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6: Muestre que ganar el contrato es solo la mitad del camino. Un proceso de incorporación deficiente es la causa directa del 60% de las cancelaciones durante el primer 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7: Presenta la gráfica maestra de 7 etapas solicitada en la consigna. Guíe a los alumnos paso a paso desde los 10,000 contactos iniciales hasta los 25 clientes cerrados y los 14 de expansión.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8: Inicie el bloque moderno. Explique el concepto de 'rastro o escape digital' (digital exhaust): el rastro de dudas, quejas y preguntas que los compradores dejan antes de pagar.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9: Muestre las fuentes de datos. Subraye que las reseñas negativas de competidores tienen la tasa de conversión más alta porque el cliente ya tiene presupuesto aprobado y dolor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10: Presente Apify. Explique que un 'Actor' es un microservicio en la nube que cualquier usuario puede ejecutar con un clic o activar mediante llamadas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11: Detalle los números exactos de la consigna. Para emprendedores universitarios, el plan Starter de $19 USD es el punto de partida perfecto para validar modelos comerciales.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12: Describa Bright Data como la opción de grado industrial. Es la herramienta que usan empresas multinacionales y fondos de inversión para raspar información a escala masiva.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13: Compare Bright Data ($500+/mes) con Apify ($19/mes). Bright Data es imbatible para millones de filas de datos, pero inviable para un estudiante o prototipo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14: Presente Social Fetch y las APIs de cobro por registro. Explique por qué evitar suscripciones fijas recurrentes es vital para proyectos con presupuestos acotados.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15: Lección financiera fundamental de la clase. Compare los dos números: 20 GB descargados = $168 USD gastados frente a 25 MB de texto = $0.21 USD. Enseñe a bloquear medios pesados.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16: Detalle el motor de triaje con IA. Raspar datos es inútil si los vendedores se ahogan en información basura. La IA actúa como el filtro calificador automático.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17: Muestre cómo cambia la señal según el canal: Reddit para software corporativo, TikTok para bienes de consumo, y portales de reseñas para robar clientes a la competencia.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18: Cuadro de decisión para los estudiantes. Ayúdeles a elegir la herramienta adecuada según el estado de su proyecto, su presupuesto y el volumen requerido.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19: Conecte todos los eslabones técnicos en una sola arquitectura funcional: Extractor -&gt; Webhook -&gt; Clasificador IA -&gt; Enriquecimiento CRM -&gt; Contacto Comercial Contextual.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20: Conclusión general de la cátedra. Resuma la lección principal: el éxito comercial hoy no es cuestión de insistencia ciega, sino de inteligencia de señales y velocidad para aportar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53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FUNDAMENTOS DEL EMBUDO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El Embudo de Conversión Tradicional: Orígenes y Filosofía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La arquitectura lineal clásica desde la conciencia masiva hasta la transacción comercial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Origen y el Modelo AIDA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Formulado a partir del marco de E. St. Elmo Lewis en 1898 (Atención, Interés, Deseo, Acción), presupone que los compradores avanzan por etapas cognitivas secuenciales y predecibles.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La Física Matemática de la Deserción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Se conceptualiza como cono porque la fricción, la inercia y el rechazo reducen drásticamente el volumen en cada fase, obligando a alimentar masivamente el tope del embudo.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Previsibilidad Lineal vs. Fricción Real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Ofrece a la dirección comercial métricas de pronóstico y cuotas claras, pero asume un trayecto controlado por el vendedor que ignora la autonomía del comprador moderno.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01_traditional_funnel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53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ETAPA 1: TOPE DEL CONO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2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Etapa 1 — 'Suspects' y Prospectos: El Tope del Embudo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Alimentando el cono con perfiles demográficos amplios y listas de contactos en frío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Diferencia entre 'Suspects' y Prospectos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Los 'suspects' son cuentas generales que encajan en el Perfil de Cliente Ideal (ICP); los prospectos o leads son contactos específicos con cargo y datos corporativos verificados.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Captación de Volumen Masivo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Las organizaciones tradicionales compran directorios estáticos (ZoomInfo, Apollo, ferias industriales), captando miles de registros sin comprobar si tienen urgencia real de compra.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El Reto del Ruido vs. Señal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Las bases de datos frías están inactivas: más del 85%–90% de los contactos no tienen presupuesto asignado ni un proyecto de compra activo en el momento de ser abordados.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02_stage1_leads_susp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22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ETAPA 2: PROSPECCIÓN EN FRÍO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3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Etapa 2 — Prospección en Frío y Activación del Interés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El reto de contactar prospectos no solicitados mediante llamadas y correos salientes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La Cadencia de Prospección Saliente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Los representantes de desarrollo (SDRs) aplican secuencias intensivas: más de 80 llamadas telefónicas diarias, correos automatizados y mensajes de LinkedIn durante 14 días.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La Realidad del 1% al 2% de Éxito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Las llamadas en frío solo logran agendar una reunión en el 1%–2% de los intentos; los correos sufren bloqueos de filtros antispam corporativos y fatiga de los destinatarios.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El Objetivo: Microcompromisos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La meta de la prospección en frío no es cerrar la venta, sino lograr un microcompromiso: que el cliente reconozca un reto operativo y acepte una llamada exploratoria de 20 minutos.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03_stage2_cold_outre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9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ETAPA 3: EDUCACIÓN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4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Etapa 3 — Exploración y Educación sobre el Producto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Guiando al prospecto calificado a través de diagnósticos, demostraciones y pruebas piloto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Diagnóstico y Demostración a la Medida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El ejecutivo de cuenta (AE) analiza los cuellos de botella del cliente y realiza una demostración en vivo vinculando cada función con el dolor del negocio.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Auditoría Técnica y de Seguridad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Los prospectos revisan fichas técnicas, calculadoras de ROI y casos de estudio, mientras el área de TI somete la plataforma a revisiones de seguridad, API y normativas de datos.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La Trampa del Estancamiento Medio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Más del 50% de los prospectos calificados se congelan en esta fase debido a la inercia corporativa, prioridades internas opuestas o falta de un caso de negocio financiero urgente.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04_stage3_product_explo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22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ETAPA 4: INTENCIÓN DE COMPRA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5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Etapa 4 — Intención de Compra y Evaluación de Propuestas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Superando comités de compra, cotizaciones formales y revisiones de compras y finanzas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Emisión de la Propuesta Comercial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Entrega formal de cotizaciones, alcances de trabajo (SOW), licitaciones (RFP), esquemas de precios por volumen y acuerdos de nivel de servicio (SLA).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El Comité Corporativo de Compras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En ventas B2B participan entre 6 y 10 decisores: el líder de área, la Dirección de Finanzas (CFO), el área de Seguridad Informática y el departamento Legal de Compras.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Resolución de Objeciones y Cierre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Negociación de descuentos solicitados por compras, condiciones contractuales y garantías; fijar fechas límite comerciales para evitar aplazamientos indefinidos.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05_stage4_intent_propos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53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ETAPA 5: VENTA CERRADA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6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Etapa 5 — El Cierre de Venta y la Conversión Comercial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Formalización contractual, reconocimiento de ingresos y traspaso a posventa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Firma de Contrato y Pago Efectivo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El momento exacto de conversión: firma del contrato maestro (MSA), emisión de la orden de compra, liquidación bancaria e ingreso reconocido contablemente.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Realización del Costo de Adquisición (CAC)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Todos los sueldos del equipo de ventas, comisiones comerciales, licencias de software y gasto en prospección se cargan formalmente al valor de este nuevo cliente.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Traspaso Clave a Éxito del Cliente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Transferencia inmediata al Gestor de Éxito del Cliente (CSM) para acelerar el Tiempo al Primer Valor (TTV), asegurar la adopción y evitar el arrepentimiento del comprador.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06_stage5_closed_s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91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ETAPA 6 Y 7: RETENCIÓN Y EXPANSIÓN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7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Etapas 6 y 7 — Posventa, Venta Adicional y Venta Cruzada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Multiplicando el Valor de Vida del Cliente (LTV) mediante retención y expansión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La Inversión del Embudo en Reloj de Arena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El embudo no concluye con la venta; se invierte en una figura expansiva donde los clientes retenidos generan entre el 70% y el 90% del valor total de la empresa a largo plazo.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Venta Adicional (Upsell) vs. Cruzada (Cross-Sell)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El upsell promueve planes superiores, más usuarios y módulos prémium; el cross-sell introduce herramientas complementarias, accesorios o servicios profesionales.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Retención Neta de Ingresos (NRR)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Adquirir un cliente nuevo cuesta entre 5 y 7 veces más que retener a uno actual. Empresas con NRR &gt; 115% logran que su crecimiento dependa principalmente de su base instalada.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07_master_conversion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22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PROSPECCIÓN MODERNA DE LEADS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8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El Cambio de Paradigma: Caza en Frío vs. Cosecha de Intención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Por qué la prospección invasiva se extingue y cómo el rastro digital delata a los compradores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La Caída del Outbound Tradicional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Filtros antispam de Google y Microsoft bloquean dominios comerciales; identificadores telefónicos bajan la respuesta al 2%; los ejecutivos ignoran correos genéricos.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Huella Digital e Intención Pública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Los compradores actuales piden recomendaciones en comunidades públicas (Reddit, TikTok, foros, Twitter/X) semanas antes de contactar a cualquier proveedor.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Definición de Cosecha de Intención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En lugar de interrumpir a 1,000 desconocidos rezando para que 1 necesite comprar, los sistemas modernos escuchan señales de demanda activa y las convierten en ventas de alta probabilidad.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08_shift_hunting_harve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645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ARQUITECTURA DE SEÑALES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9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Arquitectura de Descubrimiento: Dónde Residen las Señales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Identificando foros de debate, quejas de usuarios e insatisfacción con competidores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Comunidades y Foros (Reddit y Discord)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Subreddits como r/SaaS, r/smallbusiness y foros técnicos contienen preguntas espontáneas: '¿Qué software resuelve X?' y '¿Cuál es la mejor alternativa a Y?'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Video Corto (TikTok y YouTube)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Los comentarios en reseñas virales de productos y tutoriales albergan intención de compra pura: '¿Dónde lo compro?' y '¿Tienen envíos disponibles a México?'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Portales de Reseñas (G2, Capterra y Amazon)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Las reseñas recientes de 1 y 2 estrellas de sus competidores representan prospectos en fuga: clientes confirmados cuyo proveedor actual les falló y buscan sustituto.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09_discovery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40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HERRAMIENTAS: APIFY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10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Perfil de Plataforma 1 — Apify: El Mercado de Scrapers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Extracción web serverless y recopilación de datos impulsada por 'Actors' de la comunidad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El Ecosistema de 'Actors'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Apify cuenta con una tienda global de scrapers prediseñados y alojados en la nube para Reddit, TikTok, Instagram, Google Maps y comercios electrónicos.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Ejecución en la Nube y Exportación Directa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Ejecuta navegadores Chromium sin necesidad de mantener infraestructura propia; entrega conjuntos de datos en JSON, CSV, hojas de cálculo o webhooks.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Automatización Accesible para Desarrolladores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Se conecta de manera natural con Python, Node.js y plataformas sin código (Make, Zapier), facilitando la creación de flujos rápidos para proyectos y startups.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10_apify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76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APIFY: COSTOS Y BALANCES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11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Economía de Apify: Estructura de Precios, Ventajas y Desventajas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Análisis de modelos de consumo, costos por scraper y recargos por proxies residenciales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Estructura de Precios y Consumo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Nivel gratuito con $5 USD de crédito mensual (~1,000–2,000 posts de Reddit); Plan Starter de $19–$29 USD/mes; Scrapers de Reddit entre $1.50 y $4.00 USD por cada 1,000 resultados.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Fortalezas Principales de Apify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Bajo umbral de entrada para estudiantes y fundadores ($19/mes); inmenso catálogo listo para usarse; sin mantenimiento de servidores; documentación técnica clara.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Debilidades y Riesgos Ocultos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Los proxies residenciales cuestan ~$8.00 USD/GB cuando los sitios bloquean peticiones; raspar video agota los créditos con extrema rapidez si no se optimiza.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11_apify_pricing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875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HERRAMIENTAS: BRIGHT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12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Perfil de Plataforma 2 — Bright Data: Infraestructura Corporativa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Redes masivas de proxies residenciales y evasión automatizada de antibloqueos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Infraestructura Global de IPs Residenciales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Opera la red de proxies más grande del mundo con más de 72 millones de IPs residenciales en 195 países, permitiendo recolectar datos sin bloqueos por región.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Web Unlocker y Emulación de Navegación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Algoritmos propietarios de IA resuelven CAPTCHAs automáticamente, superan barreras de Cloudflare y emulan huellas digitales de usuarios reales.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APIs Scraper de Alta Confiabilidad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Endpoints prediseñados para Instagram, TikTok, LinkedIn y Amazon que devuelven estructuras JSON con disponibilidad garantizada del 99.9% y cumplimiento legal.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12_bright_data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22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BRIGHT DATA: ESCALA Y COSTOS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13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Economía de Bright Data: Tarifas, Fortalezas y Debilidades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Inteligencia web de alto rendimiento tasada para presupuestos corporativos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Modelos de Facturación Corporativa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Prueba con 5,000 créditos (~$7.50 USD); Pago por uso a ~$1.50 USD por 1,000 registros; Proxies residenciales a ~$8.40 USD/GB; Planes comprometidos desde $500 USD/mes.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Fortalezas Principales de Bright Data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Virtualmente imposible de bloquear incluso en sitios con firewalls complejos; soporte de millones de registros diarios; cumplimiento riguroso de normativas y SLA corporativo.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Debilidades y Barreras de Acceso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Curva de aprendizaje muy pronunciada; interfaz técnica compleja; compromisos mínimos de $500 USD que resultan inaccesibles para proyectos tempranos.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13_bright_data_pricing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9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HERRAMIENTAS: SOCIAL FETCH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14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Perfil de Plataforma 3 — Social Fetch y APIs Sociales Ágiles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Inteligencia social por registro sin el costo fijo de suscripciones mensuales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Arquitectura con Cobro por Registro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A diferencia de las plataformas pesadas que cobran mensualidades y gigabytes de datos, las APIs especializadas facturan únicamente por post o comentario útil extraído.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Paquetes Únicos Sin Suscripción ($30 USD)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Permite adquirir paquetes puntuales de crédito (ej. $30 USD sin renovación forzosa mensual), garantizando certeza de gasto para investigaciones y campañas ágiles.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Monitoreo Rápido de Pulso de Redes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Diseñado específicamente para rastrear menciones de marca, sentimiento del consumidor y alertas de palabras clave sin lidiar con emuladores de navegador.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14_social_fetch_pri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40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RIESGOS OPERATIVOS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15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La Trampa del Ancho de Banda en Video: TikTok y YouTube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Cómo raspar sitios con video puede drenar un presupuesto de proxies en minutos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El Problema del Peso del Video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Las plataformas de video cargan archivos pesados (15–30 MB por clip). Si un scraper no optimizado abre la página completa, descarga todo el video en segundo plano.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El Impacto Financiero Inesperado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A $8.00–$8.40 USD por GB, raspar 1,000 reseñas en TikTok puede consumir 20 GB de proxies residenciales: ¡$168 USD drenados en menos de 15 minutos para unos pocos leads!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La Metodología Segura de Extracción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Configure el navegador para bloquear recursos multimedia (.mp4, .webm); extraiga únicamente texto y metadatos; o utilice APIs con cobro por registro como Social Fetch.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15_bandwidth_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40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TRIAJE CON 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16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Triaje Automatizado de Leads: De Datos Crudos a Prospectos Calificados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Uso de Modelos de Lenguaje (LLMs) y PLN para filtrar ruido y detectar intención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El Desafío del Ruido en Redes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Más del 95% de los comentarios raspados son memes, bromas o charla irrelevante; clasificarlos con personas destruye la rentabilidad y la velocidad comercial.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Clasificación Semántica de Intención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Uso de modelos LLM eficientes (GPT-4o-mini, Claude Haiku, Llama 3) para categorizar textos en: Alta Intención Comercial, Descubrimiento de Dolor, Queja o Spam.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Calificación Algorítmica (0 a 100)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Asignación de puntuaciones según palabras de urgencia ('recomienden software', 'busco proveedor', 'cambiar de marca') para enviar los mejores prospectos (85+) al equipo de ventas.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16_automated_triaging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40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MAPEO DE SEÑALES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17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Matriz de Señales Multiplataforma: Reddit, TikTok, Reseñas y LinkedIn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Asociando el comportamiento de cada plataforma con disparadores comerciales precisos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Reddit (Profundidad B2B y Software)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Preguntas técnicas exhaustivas de profesionales; los usuarios valoran recomendaciones de expertos honestas y directas en comentarios o mensajes privados.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TikTok e Instagram (Consumo Masivo B2C)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Impulso de compra derivado de demostraciones de estilo de vida; usuarios solicitando enlaces directos de compra y tiempos de entrega a México.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G2, Capterra y Amazon (Fuga de Competidores)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Clientes molestos criticando alzas de precios o mal soporte; la mayor oportunidad para ofrecer una migración inmediata a su producto.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17_multi_platform_sign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76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BENCHMARK DE PLATAFORMAS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18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Benchmark Comparativo: Apify vs. Bright Data vs. Social Fetch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Evaluación cruzada de costos, resistencia a bloqueos, complejidad y caso de uso ideal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Apify: La Navaja Suiza Ágil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Ideal para startups y proyectos universitarios ($19/mes); catálogo extenso de scrapers; configuración técnica accesible; requiere vigilar el uso de proxies.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Bright Data: La Fortaleza Empresarial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Imbatible para grandes volúmenes corporativos ($500+/mes); 72 millones de IPs residenciales; desbloqueo infalible; fuera de alcance para prototipos iniciales.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Social Fetch: El Monitor Táctico de Pulso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Excelente para monitoreo de menciones sin compromisos fijos ($30 USD paquete único); cobro por registro limpio; inmune a la trampa de ancho de banda de video.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18_tool_comparis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53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ARQUITECTURA INTEGRADA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19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La Cadena Integral Autónoma: Del Rastreador Web al Cierre de Venta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Diseño de un motor automatizado y escalable de prospección y contacto comercial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Rastreo Programado y Envío por Webhook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Apify o Bright Data ejecutan búsquedas automáticas diarias por palabras clave; al hallar coincidencias, envían el paquete de datos vía webhook al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Triaje con IA y Enriquecimiento de Datos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Un modelo LLM califica la urgencia comercial; servicios como Apollo o Tomba identifican el correo corporativo y perfil de LinkedIn del usuario.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Contacto Contextual y Personalizado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El vendedor recibe un mensaje prediseñado citando la duda exacta del cliente: 'Vi tu pregunta sobre X en Reddit; así es como lo resolvemos nosotros.'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19_end_to_end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400000" cy="329184"/>
          </a:xfrm>
          <a:prstGeom prst="round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SÍNTESIS EJECUTIVA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84048"/>
            <a:ext cx="868680" cy="329184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44100"/>
                </a:solidFill>
                <a:latin typeface="Segoe UI"/>
              </a:defRPr>
            </a:pPr>
            <a:r>
              <a:t>20 / 20</a:t>
            </a:r>
          </a:p>
        </p:txBody>
      </p:sp>
      <p:pic>
        <p:nvPicPr>
          <p:cNvPr id="6" name="Picture 5" descr="anahuac_mayab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310000"/>
            <a:ext cx="2200000" cy="47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7772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50">
                <a:solidFill>
                  <a:srgbClr val="231F20"/>
                </a:solidFill>
                <a:latin typeface="Segoe UI"/>
              </a:defRPr>
            </a:pPr>
            <a:r>
              <a:t>Síntesis Estratégica y Economía Unitaria: Tradicional vs. Moderno</a:t>
            </a:r>
          </a:p>
          <a:p>
            <a:pPr>
              <a:defRPr sz="1250">
                <a:solidFill>
                  <a:srgbClr val="5A504B"/>
                </a:solidFill>
                <a:latin typeface="Segoe UI"/>
              </a:defRPr>
            </a:pPr>
            <a:r>
              <a:t>Comparativa de CAC, velocidad de ciclo y directrices prácticas para emprendedores Anáhuac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7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59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Ventajas Radicales en Economía Unitaria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El modelo tradicional en frío cuesta $150–$350 USD por lead con 1%–2% de conversión; la cosecha moderna de intención cuesta $15–$45 USD por lead con 12%–22% de conversión.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10711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1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La Ventaja de la Rapidez de Respuesta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Contactar a un prospecto dentro de la primera hora tras publicar su problema en redes multiplica por más de un 700% la probabilidad de agendar una reunión comercial.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46903"/>
            <a:ext cx="53949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56631"/>
            <a:ext cx="73152" cy="1170432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38343"/>
            <a:ext cx="5074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231F20"/>
                </a:solidFill>
                <a:latin typeface="Segoe UI"/>
              </a:defRPr>
            </a:pPr>
            <a:r>
              <a:t>Regla del Profesor Westland para Emprendedores</a:t>
            </a:r>
          </a:p>
          <a:p>
            <a:pPr>
              <a:defRPr sz="1100">
                <a:solidFill>
                  <a:srgbClr val="3C322D"/>
                </a:solidFill>
                <a:latin typeface="Segoe UI"/>
              </a:defRPr>
            </a:pPr>
            <a:r>
              <a:t>No malgaste capital semilla comprando listas estáticas de correos fríos. Invierta $20–$50 USD en cosecha de intención para hallar a los clientes que buscan su solución hoy.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01367"/>
            <a:ext cx="5221224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aphic_20_executive_summary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74920" cy="446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20000"/>
            <a:ext cx="10728655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50">
                <a:solidFill>
                  <a:srgbClr val="8C7E72"/>
                </a:solidFill>
                <a:latin typeface="Segoe UI"/>
              </a:defRPr>
            </a:pPr>
            <a:r>
              <a:t>Universidad Anáhuac Mayab  •  Prof. J. Christopher Westland  •  Adquisición de Clientes, Embudos y Prospección Moderna de Leads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