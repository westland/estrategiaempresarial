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570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Strategic innovation is not a matter of luck or a random sketch on a napkin. True innovation is a disciplined, structured process: it links customer needs, investor backing, feature engineering, global sales channels, and bottom-line financial health. Taking an idea from paper to a profitable, scalable enterprise requires validating every decision against empirical data and preparing for continuous reinvention as the market evolves.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successful innovation begins by identifying a genuine customer need or desire. Too many founders fall into the fatal trap of falling in love with their technology or invention, forgetting the fundamental truth: without customers paying real money for your solution, your company will not exist next year. Praise and social media likes do not cover payroll or server bills. What sustains an enterprise is paying customers who perceive so much value that they willingly part with their money.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innovators, we compete for capital in two entirely separate realms: equity investors and paying customers. On the right, investors provide the upfront venture risk capital that funds salaries, engineering, and logistics before commercial revenue kicks in. But on the left stands the ultimate authority: paying customers. Investor money merely buys runway and time; only customer money delivers operational autonomy, profitability, and long-term viability. Our strategic mandate is to deploy investment capital to accelerate reaching self-sustaining, paying customers.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successful product must be conceptualized as a packaged bundle of features, never as a monolithic block. Every button, software module, or complementary service costs time and capital. Therefore, we evaluate every single feature using one uncompromising criterion: what tangible impact does it create for the customer? Does it save them time, save them money, or eliminate a concrete frustration? If a feature does not provide an unmistakable, perceived benefit, it must be ruthlessly eliminated to maintain lean unit economics and a sharp value proposition.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Product features divide into three vital tiers based on customer impact. At the foundation are Basics: table stakes expected across the industry; if your car cannot brake or your app will not open, you are disqualified, yet having basics never creates customer preference. In the center sits your Differentiator: the compelling reason your solution wins; optimal strategy dictates focusing on a single, defensible differentiator that is difficult to replicate. At the pinnacle are Exciters: features of immense emotional or existential impact that spark rapid adoption and absolute willingness to pay, such as a life-saving medical therapy.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modern consumption chain and global distribution channels allow innovators to launch products at planetary scale without spending millions building brick-and-mortar storefronts or logistics fleets. Platforms such as Amazon and Alibaba dominate distribution, utilizing AI algorithms that analyze millions of real-time search queries. When a customer signals intent, these algorithmic systems present your product, highlighting your distinct differentiator and closing transactions within seconds. Winning today means leveraging these digital distribution ecosystems.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viability of any innovation is captured by three master financial curves plotted over time: revenues, variable costs, and fixed overhead. The revenue curve starts low and surges once the market embraces your core differentiator. The variable cost curve tracks per-unit production and fulfillment; as volume expands, unit costs decline and stabilize through economies of scale. Meanwhile, fixed and discretionary expenses maintain underlying infrastructure and marketing. Once fixed overhead stabilizes, every incremental sale translates into expanding net margin.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financial lifecycle of an innovative venture involves non-negotiable stages. In the opening years, virtually every disruptive business operates at a loss while developing technology, assembling inventory, and opening sales channels. During this window, equity capital from investors provides vital operational oxygen. The decisive turning point occurs at Break-Even: beyond this threshold lies the profit growth stage, where recurring customer revenue sustains ongoing expansion and produces compounding profitability.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product maintains an enduring competitive moat forever: sooner or later, competitors replicate your differentiator, customer expectations evolve, and the offering faces obsolescence. When this occurs, the innovation cycle does not die; it restarts from first principles. We return to customer discovery to uncover emerging friction points. Crucially, we now have access to technological breakthroughs that did not exist during the prior cycle—such as faster AI models and automated workflows—allowing us to engineer an exponentially superior product and distribution engine to lead the market once again.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master principles define our sustainable innovation framework: first, the paying customer is sovereign; without real revenue for genuine value, no business endures. Second, we compete for capital across two realms, deploying investor funds with discipline to achieve cash-flow independence as swiftly as possible. Third, we package products as focused feature bundles anchored by a singular differentiator. Fourth, we leverage algorithmic global distribution. And fifth, we never grow complacent: we proactively reboot the innovation cycle with cutting-edge technology as market conditions evolve.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one-person billion-dollar company is the most profound business transformation of our era. Tech leaders like Sam Altman have predicted that we will soon see the first billion-dollar corporation operated by a single individual. This is no longer speculative fiction: in the United States and globally, solo founders are achieving unprecedented market valuations by deploying coordinated swarms of autonomous agents that manage end-to-end commercial operations.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ClawInc Manifesto, developed by Professor Christopher Westland at the University of Illinois Chicago, captures a fundamental paradigm shift: the leap from passive mechanization to agentic autonomy. For decades, software served merely as a passive tool awaiting human keystrokes. Today, we enter an era of intelligent systems possessing agency to research, reason, make decisions, and execute real-world transactions, fundamentally restructuring the nature of enterprise work.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Building an army of AI bots no longer requires years of coding in C++ or Java: today we program agents in natural human language using strategic prompts. This fundamentally democratizes technological innovation. Software engineering has evolved into an executive discipline rooted in leadership, cognitive empathy, and communication clarity: if you can give clear, actionable instructions to a human deputy, you possess the capability to command an entire fleet of autonomous AI agents.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pillar of ClawInc's Tripartite Architecture is the bot's Personality. An autonomous agent is not cold, impersonal code; it possesses a carefully calibrated persona with specific temperament, cognitive biases, and communication tone. While Henry, our Chief of Staff, operates with an executive, prudent, and structured demeanor, Scout, our market analyst, operates with restless curiosity and investigative rigor. This explicit definition ensures every bot faithfully reflects corporate values across every commercial interaction.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Pillars two and three of the agentic architecture are Action Scripts and Ethical Taboos. Action scripts structure the operational workflows the bot executes to resolve business tasks. However, the most critical pillar is Taboos: unbreachable red lines inspired by foundational ethics, such as never misleading customers, never granting unauthorized price cuts, and never engaging in spam. Without taboos, an autonomous agent can destroy brand equity in minutes; with bulletproof guardrails, it operates with complete dependability.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Traditional marketing pedagogy centered on static '4 Ps' has become obsolete in fast-paced digital environments. Drawing upon Clausewitz's 'Fog of War' and the strategic realism of Eisenhower and Drucker, we recognize that modern business operates under perpetual uncertainty and friction. Static consulting blueprints are ineffective: competitive advantage is achieved by deploying live agents, stress-testing the market in real time, absorbing live response data, and dynamically adjusting strategy on the fly.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Henry Ford often remarked that when he only wanted a pair of hands, he had to hire an entire human being; AI agents fulfill that aspiration by delivering unlimited cognitive capability and execution without ego, politics, or fatigue. However, this demands a new managerial style: rather than succumbing to micromanagement, the founder must lead like a wise parent—instilling values, setting clear boundaries, granting operational autonomy, and holding agents accountable for verified outcomes.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5-Agent Company represents the core organizational architecture of the future for solo entrepreneurs. A single founder no longer requires multi-million dollar payrolls or physical headquarters; they command five specialized agents: Henry as Chief of Staff, Scout as Market Researcher, Writer as Persuasive Copywriter, Coder as Technical Data Analyst, and Watcher as Operations Sentinel. Together, they cover all essential business functions at a negligible fraction of legacy costs.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Henry and Scout form the strategic frontline of the agent team. Henry serves as Chief of Staff and the founder's executive deputy—supervising cloud infrastructure, orchestrating workflows, and synthesizing operational reports. Scout is the tireless market intelligence analyst: scanning industry developments in real time and mapping competitive vulnerabilities. What would take a legacy consulting team weeks to compile, Scout delivers in minutes with verified data points.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Writer and Coder represent the commercial execution and analytical power of the firm. Writer dives deep into buyer psychology, authoring campaigns, articles, and proposals with tailored empathy that resonates with prospective customers. In lockstep, Coder parses user databases, calculates purchase recency and frequency metrics, and deploys dynamic pricing models responsive to market demand. Uniting narrative persuasion with quantitative analytics maximizes revenue conversion.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jp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jp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jp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jp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jp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jp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jp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jp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99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GUÍA MAESTRA DE INNOVACIÓN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Hoja de Ruta de Innovación Estratégica</a:t>
            </a:r>
          </a:p>
          <a:p>
            <a:pPr>
              <a:defRPr sz="1250">
                <a:solidFill>
                  <a:srgbClr val="5A504B"/>
                </a:solidFill>
                <a:latin typeface="Segoe UI"/>
              </a:defRPr>
            </a:pPr>
            <a:r>
              <a:t>Cómo transformar una idea en un negocio rentable, escalable y duradero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El Ciclo de Innovación</a:t>
            </a:r>
          </a:p>
          <a:p>
            <a:pPr>
              <a:defRPr sz="1100">
                <a:solidFill>
                  <a:srgbClr val="3C322D"/>
                </a:solidFill>
                <a:latin typeface="Segoe UI"/>
              </a:defRPr>
            </a:pPr>
            <a:r>
              <a:t>Conecta las necesidades del cliente, el desarrollo de funcionalidades, los canales de venta modernos y el desempeño financiero real.</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Basado en Evidencia, No en Suposiciones</a:t>
            </a:r>
          </a:p>
          <a:p>
            <a:pPr>
              <a:defRPr sz="1100">
                <a:solidFill>
                  <a:srgbClr val="3C322D"/>
                </a:solidFill>
                <a:latin typeface="Segoe UI"/>
              </a:defRPr>
            </a:pPr>
            <a:r>
              <a:t>El éxito empresarial no depende de la suerte, sino de validar cada paso con clientes que pagan dinero real e inversionistas.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Visión de Futuro y Adaptabilidad</a:t>
            </a:r>
          </a:p>
          <a:p>
            <a:pPr>
              <a:defRPr sz="1100">
                <a:solidFill>
                  <a:srgbClr val="3C322D"/>
                </a:solidFill>
                <a:latin typeface="Segoe UI"/>
              </a:defRPr>
            </a:pPr>
            <a:r>
              <a:t>Aprenda a transitar desde el descubrimiento de sus primeros clientes hasta la reinvención continua frente a la obsolescencia.</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1_strategy_1789828260758.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333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REGLA DE ORO DE LA INNOVACIÓN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Todo Comienza con el Cliente que Paga</a:t>
            </a:r>
          </a:p>
          <a:p>
            <a:pPr>
              <a:defRPr sz="1250">
                <a:solidFill>
                  <a:srgbClr val="5A504B"/>
                </a:solidFill>
                <a:latin typeface="Segoe UI"/>
              </a:defRPr>
            </a:pPr>
            <a:r>
              <a:t>Si no tiene clientes pagando dinero real, su empresa no existirá el próximo año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Necesidades Reales y Urgencias</a:t>
            </a:r>
          </a:p>
          <a:p>
            <a:pPr>
              <a:defRPr sz="1100">
                <a:solidFill>
                  <a:srgbClr val="3C322D"/>
                </a:solidFill>
                <a:latin typeface="Segoe UI"/>
              </a:defRPr>
            </a:pPr>
            <a:r>
              <a:t>La innovación nunca comienza con la tecnología o la invención; nace al descubrir un dolor genuino y agudo en el cliente.</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La Prueba de Supervivencia</a:t>
            </a:r>
          </a:p>
          <a:p>
            <a:pPr>
              <a:defRPr sz="1100">
                <a:solidFill>
                  <a:srgbClr val="3C322D"/>
                </a:solidFill>
                <a:latin typeface="Segoe UI"/>
              </a:defRPr>
            </a:pPr>
            <a:r>
              <a:t>Una invención puede recibir elogios y aplausos, pero si nadie saca su cartera para pagar por ella, la empresa cerrará.</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Metodología de Cuestionamiento ('Quizzing')</a:t>
            </a:r>
          </a:p>
          <a:p>
            <a:pPr>
              <a:defRPr sz="1100">
                <a:solidFill>
                  <a:srgbClr val="3C322D"/>
                </a:solidFill>
                <a:latin typeface="Segoe UI"/>
              </a:defRPr>
            </a:pPr>
            <a:r>
              <a:t>Preguntas rigurosas: ¿Quién es exactamente el comprador? ¿Dónde compra hoy? ¿Y por qué pagará por nuestra solución y no por alternativas?</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2_customer_1789828401402.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ESTRUCTURA DE CAPITAL</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Los Dos Reinos del Dinero: Clientes vs. Inversionistas</a:t>
            </a:r>
          </a:p>
          <a:p>
            <a:pPr>
              <a:defRPr sz="1250">
                <a:solidFill>
                  <a:srgbClr val="5A504B"/>
                </a:solidFill>
                <a:latin typeface="Segoe UI"/>
              </a:defRPr>
            </a:pPr>
            <a:r>
              <a:t>Los innovadores deben competir por capital en dos escenarios fundamentalmente distintos</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El Reino de los Inversionistas</a:t>
            </a:r>
          </a:p>
          <a:p>
            <a:pPr>
              <a:defRPr sz="1100">
                <a:solidFill>
                  <a:srgbClr val="3C322D"/>
                </a:solidFill>
                <a:latin typeface="Segoe UI"/>
              </a:defRPr>
            </a:pPr>
            <a:r>
              <a:t>Suministra el capital inicial semilla y de riesgo para mantener viva la empresa mientras investiga, diseña y produce inventario.</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Reino de los Clientes</a:t>
            </a:r>
          </a:p>
          <a:p>
            <a:pPr>
              <a:defRPr sz="1100">
                <a:solidFill>
                  <a:srgbClr val="3C322D"/>
                </a:solidFill>
                <a:latin typeface="Segoe UI"/>
              </a:defRPr>
            </a:pPr>
            <a:r>
              <a:t>Genera ingresos comerciales mediante compras reales. Es la única fuente que garantiza autonomía, rentabilidad y longevidad.</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Supervivencia Inicial vs. Longevidad</a:t>
            </a:r>
          </a:p>
          <a:p>
            <a:pPr>
              <a:defRPr sz="1100">
                <a:solidFill>
                  <a:srgbClr val="3C322D"/>
                </a:solidFill>
                <a:latin typeface="Segoe UI"/>
              </a:defRPr>
            </a:pPr>
            <a:r>
              <a:t>Muchas empresas tecnológicas sobreviven inicialmente con capital de riesgo antes de cruzar hacia un flujo de caja positivo.</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_two_realms_1789829062635.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5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DESARROLLO DE PRODUCTO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4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El Producto como un 'Paquete de Funcionalidades'</a:t>
            </a:r>
          </a:p>
          <a:p>
            <a:pPr>
              <a:defRPr sz="1250">
                <a:solidFill>
                  <a:srgbClr val="5A504B"/>
                </a:solidFill>
                <a:latin typeface="Segoe UI"/>
              </a:defRPr>
            </a:pPr>
            <a:r>
              <a:t>Descomponiendo su oferta en bloques de valor medidos estrictamente por el impacto en el cliente</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Bloques de Valor (Feature Bundle)</a:t>
            </a:r>
          </a:p>
          <a:p>
            <a:pPr>
              <a:defRPr sz="1100">
                <a:solidFill>
                  <a:srgbClr val="3C322D"/>
                </a:solidFill>
                <a:latin typeface="Segoe UI"/>
              </a:defRPr>
            </a:pPr>
            <a:r>
              <a:t>Un producto no es un artefacto monolítico, sino una combinación estratégica de funcionalidades, atributos y servicios.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Métrica de Impacto en el Cliente</a:t>
            </a:r>
          </a:p>
          <a:p>
            <a:pPr>
              <a:defRPr sz="1100">
                <a:solidFill>
                  <a:srgbClr val="3C322D"/>
                </a:solidFill>
                <a:latin typeface="Segoe UI"/>
              </a:defRPr>
            </a:pPr>
            <a:r>
              <a:t>Cada funcionalidad cuesta tiempo y capital construirla y mantenerla; debe justificarse estrictamente por el beneficio percibido por el comprador.</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Eliminar el Desperdicio de Funciones</a:t>
            </a:r>
          </a:p>
          <a:p>
            <a:pPr>
              <a:defRPr sz="1100">
                <a:solidFill>
                  <a:srgbClr val="3C322D"/>
                </a:solidFill>
                <a:latin typeface="Segoe UI"/>
              </a:defRPr>
            </a:pPr>
            <a:r>
              <a:t>Añadir características irrelevantes infla los costos variables y diluye la propuesta de valor central a los ojos del comprador.</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3_features_1789828500925.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368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CLASIFICACIÓN DE FUNCIONALIDADES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5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Los 3 Tipos de Funcionalidades del Producto</a:t>
            </a:r>
          </a:p>
          <a:p>
            <a:pPr>
              <a:defRPr sz="1250">
                <a:solidFill>
                  <a:srgbClr val="5A504B"/>
                </a:solidFill>
                <a:latin typeface="Segoe UI"/>
              </a:defRPr>
            </a:pPr>
            <a:r>
              <a:t>Básicas (requisitos de entrada), el Diferenciador Único y Excitadores de alto impacto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1. Básicas (Table Stakes)</a:t>
            </a:r>
          </a:p>
          <a:p>
            <a:pPr>
              <a:defRPr sz="1100">
                <a:solidFill>
                  <a:srgbClr val="3C322D"/>
                </a:solidFill>
                <a:latin typeface="Segoe UI"/>
              </a:defRPr>
            </a:pPr>
            <a:r>
              <a:t>Características que todos los competidores ya poseen. Obligatorias para entrar al mercado, pero por sí solas no ganan cuota.</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2. Diferenciadores</a:t>
            </a:r>
          </a:p>
          <a:p>
            <a:pPr>
              <a:defRPr sz="1100">
                <a:solidFill>
                  <a:srgbClr val="3C322D"/>
                </a:solidFill>
                <a:latin typeface="Segoe UI"/>
              </a:defRPr>
            </a:pPr>
            <a:r>
              <a:t>Lo que hace que su producto sea distinto y superior. La regla de oro estratégica es tener idealmente **un solo** diferenciador extraordinario.</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3. Excitadores (Exciters)</a:t>
            </a:r>
          </a:p>
          <a:p>
            <a:pPr>
              <a:defRPr sz="1100">
                <a:solidFill>
                  <a:srgbClr val="3C322D"/>
                </a:solidFill>
                <a:latin typeface="Segoe UI"/>
              </a:defRPr>
            </a:pPr>
            <a:r>
              <a:t>Características excepcionales que provocan compras por impulso o urgencia extrema. Ejemplo: una terapia médica revolucionaria sin sustitutos.</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_three_features_1789829149582.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87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CADENA DE CONSUMO MODERNA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6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Canales de Distribución, Gigantes Tecnológicos e IA</a:t>
            </a:r>
          </a:p>
          <a:p>
            <a:pPr>
              <a:defRPr sz="1250">
                <a:solidFill>
                  <a:srgbClr val="5A504B"/>
                </a:solidFill>
                <a:latin typeface="Segoe UI"/>
              </a:defRPr>
            </a:pPr>
            <a:r>
              <a:t>Cómo plataformas como Amazon y Alibaba despliegan IA y bots para vender su diferenciador</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La Cadena de Consumo Global</a:t>
            </a:r>
          </a:p>
          <a:p>
            <a:pPr>
              <a:defRPr sz="1100">
                <a:solidFill>
                  <a:srgbClr val="3C322D"/>
                </a:solidFill>
                <a:latin typeface="Segoe UI"/>
              </a:defRPr>
            </a:pPr>
            <a:r>
              <a:t>Los canales modernos de venta y logística están concentrados en gigantes digitales con redes de cumplimiento mundiales.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Rol de Amazon y Alibaba</a:t>
            </a:r>
          </a:p>
          <a:p>
            <a:pPr>
              <a:defRPr sz="1100">
                <a:solidFill>
                  <a:srgbClr val="3C322D"/>
                </a:solidFill>
                <a:latin typeface="Segoe UI"/>
              </a:defRPr>
            </a:pPr>
            <a:r>
              <a:t>Proporcionan almacenamiento, gestión de inventario y entrega ultrarrápida sin que los fundadores deban construir flotas logísticas propias.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Bots de Venta Algorítmicos e IA</a:t>
            </a:r>
          </a:p>
          <a:p>
            <a:pPr>
              <a:defRPr sz="1100">
                <a:solidFill>
                  <a:srgbClr val="3C322D"/>
                </a:solidFill>
                <a:latin typeface="Segoe UI"/>
              </a:defRPr>
            </a:pPr>
            <a:r>
              <a:t>Algoritmos inteligentes detectan el segundo exacto en que un usuario busca una solución y ofrecen su diferenciador para cerrar la venta.</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_ecommerce_ai_1789829173768.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DINÁMICA FINANCIERA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7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Evolución en el Tiempo: Ingresos, Costos Variables y Fijos</a:t>
            </a:r>
          </a:p>
          <a:p>
            <a:pPr>
              <a:defRPr sz="1250">
                <a:solidFill>
                  <a:srgbClr val="5A504B"/>
                </a:solidFill>
                <a:latin typeface="Segoe UI"/>
              </a:defRPr>
            </a:pPr>
            <a:r>
              <a:t>Cómo las decisiones operativas se traducen en las tres curvas financieras maestras del negocio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Ingresos (Curva Roja)</a:t>
            </a:r>
          </a:p>
          <a:p>
            <a:pPr>
              <a:defRPr sz="1100">
                <a:solidFill>
                  <a:srgbClr val="3C322D"/>
                </a:solidFill>
                <a:latin typeface="Segoe UI"/>
              </a:defRPr>
            </a:pPr>
            <a:r>
              <a:t>Generados directamente por compras de clientes. Se aceleran con fuerza a medida que su diferenciador gana tracción y recomendación.</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Costos Variables (Curva Marrón)</a:t>
            </a:r>
          </a:p>
          <a:p>
            <a:pPr>
              <a:defRPr sz="1100">
                <a:solidFill>
                  <a:srgbClr val="3C322D"/>
                </a:solidFill>
                <a:latin typeface="Segoe UI"/>
              </a:defRPr>
            </a:pPr>
            <a:r>
              <a:t>Costos directos vinculados a fabricar y entregar funcionalidades. Su crecimiento se aplana gracias a las economías de escala.</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Costos Fijos y Discrecionales (Línea Azul)</a:t>
            </a:r>
          </a:p>
          <a:p>
            <a:pPr>
              <a:defRPr sz="1100">
                <a:solidFill>
                  <a:srgbClr val="3C322D"/>
                </a:solidFill>
                <a:latin typeface="Segoe UI"/>
              </a:defRPr>
            </a:pPr>
            <a:r>
              <a:t>Inversiones que sustentan la infraestructura: servidores cloud, plataformas, mercadotecnia y administración general.</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7_finance_1789828568925.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87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CICLO DE VIDA EMPRESARIAL</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8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De la Fase de Pérdidas Inicial a la Etapa de Crecimiento Rentable</a:t>
            </a:r>
          </a:p>
          <a:p>
            <a:pPr>
              <a:defRPr sz="1250">
                <a:solidFill>
                  <a:srgbClr val="5A504B"/>
                </a:solidFill>
                <a:latin typeface="Segoe UI"/>
              </a:defRPr>
            </a:pPr>
            <a:r>
              <a:t>Sobreviviendo con capital de riesgo hasta que los clientes permitan la autosuficiencia</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Fase de Pérdidas de Inicio</a:t>
            </a:r>
          </a:p>
          <a:p>
            <a:pPr>
              <a:defRPr sz="1100">
                <a:solidFill>
                  <a:srgbClr val="3C322D"/>
                </a:solidFill>
                <a:latin typeface="Segoe UI"/>
              </a:defRPr>
            </a:pPr>
            <a:r>
              <a:t>La empresa opera con pérdidas netas durante sus primeros años mientras construye inventario, diseña el producto y activa canales.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Financiamiento Exclusivo de Inversionistas</a:t>
            </a:r>
          </a:p>
          <a:p>
            <a:pPr>
              <a:defRPr sz="1100">
                <a:solidFill>
                  <a:srgbClr val="3C322D"/>
                </a:solidFill>
                <a:latin typeface="Segoe UI"/>
              </a:defRPr>
            </a:pPr>
            <a:r>
              <a:t>Durante la fase de números rojos, la empresa sobrevive mediante rondas de financiamiento estructuradas (Pre-Seed, Seed, Serie A/B).</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Cruce a la Etapa de Crecimiento Rentable</a:t>
            </a:r>
          </a:p>
          <a:p>
            <a:pPr>
              <a:defRPr sz="1100">
                <a:solidFill>
                  <a:srgbClr val="3C322D"/>
                </a:solidFill>
                <a:latin typeface="Segoe UI"/>
              </a:defRPr>
            </a:pPr>
            <a:r>
              <a:t>Al alcanzar el Punto de Equilibrio (Break-Even), los clientes que pagan financian la expansión continua, generando retornos exponenciales.</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_loss_to_profit_1789829197834.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REINVENCIÓN CONTINUA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9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Obsolescencia del Producto y Reinicio del Ciclo</a:t>
            </a:r>
          </a:p>
          <a:p>
            <a:pPr>
              <a:defRPr sz="1250">
                <a:solidFill>
                  <a:srgbClr val="5A504B"/>
                </a:solidFill>
                <a:latin typeface="Segoe UI"/>
              </a:defRPr>
            </a:pPr>
            <a:r>
              <a:t>Evolucionando y diseñando soluciones superiores ante las nuevas olas tecnológicas</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Obsolescencia Inevitable</a:t>
            </a:r>
          </a:p>
          <a:p>
            <a:pPr>
              <a:defRPr sz="1100">
                <a:solidFill>
                  <a:srgbClr val="3C322D"/>
                </a:solidFill>
                <a:latin typeface="Segoe UI"/>
              </a:defRPr>
            </a:pPr>
            <a:r>
              <a:t>Con el tiempo, los competidores copian sus ventajas, las preferencias de los clientes cambian y las funciones originales se comoditizan.</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Reinicio del Ciclo de Innovación</a:t>
            </a:r>
          </a:p>
          <a:p>
            <a:pPr>
              <a:defRPr sz="1100">
                <a:solidFill>
                  <a:srgbClr val="3C322D"/>
                </a:solidFill>
                <a:latin typeface="Segoe UI"/>
              </a:defRPr>
            </a:pPr>
            <a:r>
              <a:t>El innovador resiliente regresa al inicio: investiga qué desean los clientes hoy e identifica nuevas frustraciones no resueltas.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Aprovechamiento de Tecnologías Emergentes</a:t>
            </a:r>
          </a:p>
          <a:p>
            <a:pPr>
              <a:defRPr sz="1100">
                <a:solidFill>
                  <a:srgbClr val="3C322D"/>
                </a:solidFill>
                <a:latin typeface="Segoe UI"/>
              </a:defRPr>
            </a:pPr>
            <a:r>
              <a:t>Despliegue tecnologías de frontera (LLMs avanzados, agentes autónomos, sensores) para rediseñar productos y distribución.</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_obsolescence_1789829224208.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SÍNTESIS ESTRATÉGICA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10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Fórmula Maestra para la Innovación Sostenible</a:t>
            </a:r>
          </a:p>
          <a:p>
            <a:pPr>
              <a:defRPr sz="1250">
                <a:solidFill>
                  <a:srgbClr val="5A504B"/>
                </a:solidFill>
                <a:latin typeface="Segoe UI"/>
              </a:defRPr>
            </a:pPr>
            <a:r>
              <a:t>Alineando clientes que pagan, capital de riesgo, paquetes de valor, canales automatizados y reinvención</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1. El Cliente como Estrella Polar</a:t>
            </a:r>
          </a:p>
          <a:p>
            <a:pPr>
              <a:defRPr sz="1100">
                <a:solidFill>
                  <a:srgbClr val="3C322D"/>
                </a:solidFill>
                <a:latin typeface="Segoe UI"/>
              </a:defRPr>
            </a:pPr>
            <a:r>
              <a:t>Sin clientes pagando moneda real no hay empresa; todo esfuerzo debe resolver un dolor urgente, real y agudo.</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2. Paquete Enfocado con un Solo Diferenciador</a:t>
            </a:r>
          </a:p>
          <a:p>
            <a:pPr>
              <a:defRPr sz="1100">
                <a:solidFill>
                  <a:srgbClr val="3C322D"/>
                </a:solidFill>
                <a:latin typeface="Segoe UI"/>
              </a:defRPr>
            </a:pPr>
            <a:r>
              <a:t>Funciones básicas obligatorias, un único diferenciador de alto impacto y distribución impulsada por plataformas de IA algorítmicas.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3. Disciplina Financiera y Reinvención Continua</a:t>
            </a:r>
          </a:p>
          <a:p>
            <a:pPr>
              <a:defRPr sz="1100">
                <a:solidFill>
                  <a:srgbClr val="3C322D"/>
                </a:solidFill>
                <a:latin typeface="Segoe UI"/>
              </a:defRPr>
            </a:pPr>
            <a:r>
              <a:t>Navegar las pérdidas iniciales con capital disciplinado, alcanzar rentabilidad sostenible y reiniciar el ciclo con cada cambio de paradigma.</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lide8_summary_1789828587430.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EL NUEVO PARADIGMA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11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Empresa Unipersonal de Mil Millones de Dólares</a:t>
            </a:r>
          </a:p>
          <a:p>
            <a:pPr>
              <a:defRPr sz="1250">
                <a:solidFill>
                  <a:srgbClr val="5A504B"/>
                </a:solidFill>
                <a:latin typeface="Segoe UI"/>
              </a:defRPr>
            </a:pPr>
            <a:r>
              <a:t>Cómo un fundador individual orquesta empresas multimillonarias impulsadas por bots de IA</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La Predicción de Sam Altman</a:t>
            </a:r>
          </a:p>
          <a:p>
            <a:pPr>
              <a:defRPr sz="1100">
                <a:solidFill>
                  <a:srgbClr val="3C322D"/>
                </a:solidFill>
                <a:latin typeface="Segoe UI"/>
              </a:defRPr>
            </a:pPr>
            <a:r>
              <a:t>Líderes de Silicon Valley anticipan que muy pronto seremos testigos de la primera empresa de $1B operada por una sola persona.</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Apalancamiento Agéntico Radical</a:t>
            </a:r>
          </a:p>
          <a:p>
            <a:pPr>
              <a:defRPr sz="1100">
                <a:solidFill>
                  <a:srgbClr val="3C322D"/>
                </a:solidFill>
                <a:latin typeface="Segoe UI"/>
              </a:defRPr>
            </a:pPr>
            <a:r>
              <a:t>Un fundador en solitario ya no requiere contratar cientos de empleados; comanda un ejército de agentes de IA autónomos 24/7.</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Escala Global Sin Fricción</a:t>
            </a:r>
          </a:p>
          <a:p>
            <a:pPr>
              <a:defRPr sz="1100">
                <a:solidFill>
                  <a:srgbClr val="3C322D"/>
                </a:solidFill>
                <a:latin typeface="Segoe UI"/>
              </a:defRPr>
            </a:pPr>
            <a:r>
              <a:t>Capacidad de generar millones en ingresos comerciales directos sin nóminas infladas ni burocracia corporativa paralizante.</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1.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MANIFIESTO CLAWINC</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12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De la Mecanización a la Autonomía Inteligente</a:t>
            </a:r>
          </a:p>
          <a:p>
            <a:pPr>
              <a:defRPr sz="1250">
                <a:solidFill>
                  <a:srgbClr val="5A504B"/>
                </a:solidFill>
                <a:latin typeface="Segoe UI"/>
              </a:defRPr>
            </a:pPr>
            <a:r>
              <a:t>El software ya no es una utilidad pasiva; es un colaborador activo dotado de agencia</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El Fin del Software Pasivo</a:t>
            </a:r>
          </a:p>
          <a:p>
            <a:pPr>
              <a:defRPr sz="1100">
                <a:solidFill>
                  <a:srgbClr val="3C322D"/>
                </a:solidFill>
                <a:latin typeface="Segoe UI"/>
              </a:defRPr>
            </a:pPr>
            <a:r>
              <a:t>Durante décadas, el software funcionó como un martillo o una hoja de cálculo, reaccionando estrictamente a comandos manuales.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Amanecer de la Inteligencia Agéntica</a:t>
            </a:r>
          </a:p>
          <a:p>
            <a:pPr>
              <a:defRPr sz="1100">
                <a:solidFill>
                  <a:srgbClr val="3C322D"/>
                </a:solidFill>
                <a:latin typeface="Segoe UI"/>
              </a:defRPr>
            </a:pPr>
            <a:r>
              <a:t>Ahora colaboramos con entidades inteligentes dotadas de autonomía, capaces de resolver objetivos complejos de forma independiente.</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Agencia Digital y Robótica</a:t>
            </a:r>
          </a:p>
          <a:p>
            <a:pPr>
              <a:defRPr sz="1100">
                <a:solidFill>
                  <a:srgbClr val="3C322D"/>
                </a:solidFill>
                <a:latin typeface="Segoe UI"/>
              </a:defRPr>
            </a:pPr>
            <a:r>
              <a:t>Ya sea mediante bots de software (framework OpenClaw) o integración física robótica, la labor operativa y cognitiva queda delegada.</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2.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PROGRAMACIÓN MODERNA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13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Programación en Lenguaje Humano: Adiós a C++ y Java</a:t>
            </a:r>
          </a:p>
          <a:p>
            <a:pPr>
              <a:defRPr sz="1250">
                <a:solidFill>
                  <a:srgbClr val="5A504B"/>
                </a:solidFill>
                <a:latin typeface="Segoe UI"/>
              </a:defRPr>
            </a:pPr>
            <a:r>
              <a:t>La programación pasa de ser un oficio matemático arcano a una disciplina de liderazgo ejecutivo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El Fin de la Sintaxis Arcana</a:t>
            </a:r>
          </a:p>
          <a:p>
            <a:pPr>
              <a:defRPr sz="1100">
                <a:solidFill>
                  <a:srgbClr val="3C322D"/>
                </a:solidFill>
                <a:latin typeface="Segoe UI"/>
              </a:defRPr>
            </a:pPr>
            <a:r>
              <a:t>Escribir miles de líneas de código de bajo nivel ya no es un requisito indispensable para movilizar una fuerza laboral digital.</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Poder del Prompting</a:t>
            </a:r>
          </a:p>
          <a:p>
            <a:pPr>
              <a:defRPr sz="1100">
                <a:solidFill>
                  <a:srgbClr val="3C322D"/>
                </a:solidFill>
                <a:latin typeface="Segoe UI"/>
              </a:defRPr>
            </a:pPr>
            <a:r>
              <a:t>Los agentes de software se programan utilizando lenguaje humano natural a través de directivas ejecutivas estratégicas y precisas.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Liderazgo Directivo y Filosófico</a:t>
            </a:r>
          </a:p>
          <a:p>
            <a:pPr>
              <a:defRPr sz="1100">
                <a:solidFill>
                  <a:srgbClr val="3C322D"/>
                </a:solidFill>
                <a:latin typeface="Segoe UI"/>
              </a:defRPr>
            </a:pPr>
            <a:r>
              <a:t>Cualquiera que sepa liderar equipos, definir metas comerciales y ofrecer retroalimentación clara puede programar sistemas autónomos.</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3.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ARQUITECTURA AGÉNTICA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14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Arquitectura Tripartita: Pilar 1 – Personalidad</a:t>
            </a:r>
          </a:p>
          <a:p>
            <a:pPr>
              <a:defRPr sz="1250">
                <a:solidFill>
                  <a:srgbClr val="5A504B"/>
                </a:solidFill>
                <a:latin typeface="Segoe UI"/>
              </a:defRPr>
            </a:pPr>
            <a:r>
              <a:t>Diseñando la psique, el tono comunicativo y los sesgos cognitivos de agentes autónomos</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Ingeniería de la Psique del Bot</a:t>
            </a:r>
          </a:p>
          <a:p>
            <a:pPr>
              <a:defRPr sz="1100">
                <a:solidFill>
                  <a:srgbClr val="3C322D"/>
                </a:solidFill>
                <a:latin typeface="Segoe UI"/>
              </a:defRPr>
            </a:pPr>
            <a:r>
              <a:t>Así como se contratan empleados por temperamento y carácter, cada agente requiere una persona operativa diseñada a su medida.</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Alineación por Roles Específicos</a:t>
            </a:r>
          </a:p>
          <a:p>
            <a:pPr>
              <a:defRPr sz="1100">
                <a:solidFill>
                  <a:srgbClr val="3C322D"/>
                </a:solidFill>
                <a:latin typeface="Segoe UI"/>
              </a:defRPr>
            </a:pPr>
            <a:r>
              <a:t>Un 'Henry' (Jefe de Gabinete) debe ser formal, analítico y sereno; un 'Scout' (Investigador de Mercado) debe ser curioso e incansable.</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Consistencia Operativa</a:t>
            </a:r>
          </a:p>
          <a:p>
            <a:pPr>
              <a:defRPr sz="1100">
                <a:solidFill>
                  <a:srgbClr val="3C322D"/>
                </a:solidFill>
                <a:latin typeface="Segoe UI"/>
              </a:defRPr>
            </a:pPr>
            <a:r>
              <a:t>Una personalidad bien estructurada asegura que el bot ejecute con consistencia, empatía y profesionalismo en toda interacción.</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4.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ARQUITECTURA AGÉNTICA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15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Pilares 2 y 3: Guiones de Acción y Tabúes Éticos</a:t>
            </a:r>
          </a:p>
          <a:p>
            <a:pPr>
              <a:defRPr sz="1250">
                <a:solidFill>
                  <a:srgbClr val="5A504B"/>
                </a:solidFill>
                <a:latin typeface="Segoe UI"/>
              </a:defRPr>
            </a:pPr>
            <a:r>
              <a:t>Flujos de ejecución lógica y barreras morales inspiradas en ética fundamental</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Guiones de Acción (Action Scripts)</a:t>
            </a:r>
          </a:p>
          <a:p>
            <a:pPr>
              <a:defRPr sz="1100">
                <a:solidFill>
                  <a:srgbClr val="3C322D"/>
                </a:solidFill>
                <a:latin typeface="Segoe UI"/>
              </a:defRPr>
            </a:pPr>
            <a:r>
              <a:t>Heurísticas de ejecución secuencial para interactuar con clientes, cerrar transacciones y analizar dinámicas del mercado.</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Tabúes Operativos (Líneas Rojas)</a:t>
            </a:r>
          </a:p>
          <a:p>
            <a:pPr>
              <a:defRPr sz="1100">
                <a:solidFill>
                  <a:srgbClr val="3C322D"/>
                </a:solidFill>
                <a:latin typeface="Segoe UI"/>
              </a:defRPr>
            </a:pPr>
            <a:r>
              <a:t>Prohibiciones explícitas e inviolables diseñadas para prevenir desastres éticos, contingencias legales o daños reputacionales.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Fundamento Ético Inquebrantable</a:t>
            </a:r>
          </a:p>
          <a:p>
            <a:pPr>
              <a:defRPr sz="1100">
                <a:solidFill>
                  <a:srgbClr val="3C322D"/>
                </a:solidFill>
                <a:latin typeface="Segoe UI"/>
              </a:defRPr>
            </a:pPr>
            <a:r>
              <a:t>Mandamientos operativos claros (ej. 'No alucinarás datos', 'No violarás la privacidad') que mantienen el sistema seguro y confiable.</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5.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REALISMO ESTRATÉGICO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16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Navegando la 'Niebla de Guerra': Más Allá de las 4 Ps</a:t>
            </a:r>
          </a:p>
          <a:p>
            <a:pPr>
              <a:defRPr sz="1250">
                <a:solidFill>
                  <a:srgbClr val="5A504B"/>
                </a:solidFill>
                <a:latin typeface="Segoe UI"/>
              </a:defRPr>
            </a:pPr>
            <a:r>
              <a:t>Estrategia en tiempo real inspirada en Clausewitz, Peter Drucker y Eisenhower</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La Niebla del Mercado</a:t>
            </a:r>
          </a:p>
          <a:p>
            <a:pPr>
              <a:defRPr sz="1100">
                <a:solidFill>
                  <a:srgbClr val="3C322D"/>
                </a:solidFill>
                <a:latin typeface="Segoe UI"/>
              </a:defRPr>
            </a:pPr>
            <a:r>
              <a:t>Las tradicionales '4 Ps' del marketing (Producto, Precio, Plaza, Promoción) colapsan ante la velocidad y la incertidumbre digital.</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La Visión de Drucker y Eisenhower</a:t>
            </a:r>
          </a:p>
          <a:p>
            <a:pPr>
              <a:defRPr sz="1100">
                <a:solidFill>
                  <a:srgbClr val="3C322D"/>
                </a:solidFill>
                <a:latin typeface="Segoe UI"/>
              </a:defRPr>
            </a:pPr>
            <a:r>
              <a:t>Gestionar una empresa en turbulencia se asemeja a liderar tropas en la niebla: exige agilidad pragmática y adaptación inmediata.</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Acción Rápida y Corrección Instantánea</a:t>
            </a:r>
          </a:p>
          <a:p>
            <a:pPr>
              <a:defRPr sz="1100">
                <a:solidFill>
                  <a:srgbClr val="3C322D"/>
                </a:solidFill>
                <a:latin typeface="Segoe UI"/>
              </a:defRPr>
            </a:pPr>
            <a:r>
              <a:t>Los agentes operan 24/7 sin fatiga, permitiendo a los fundadores validar hipótesis, fallar rápido y recalibrar en tiempo real.</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6.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LIDERAZGO AGÉNTICO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17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Revolución Ejecutiva: Liderar como un Buen Padre</a:t>
            </a:r>
          </a:p>
          <a:p>
            <a:pPr>
              <a:defRPr sz="1250">
                <a:solidFill>
                  <a:srgbClr val="5A504B"/>
                </a:solidFill>
                <a:latin typeface="Segoe UI"/>
              </a:defRPr>
            </a:pPr>
            <a:r>
              <a:t>Henry Ford a la inversa: manos e intelecto incansables sin la carga del ego</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La Visión de Ford Hecha Realidad</a:t>
            </a:r>
          </a:p>
          <a:p>
            <a:pPr>
              <a:defRPr sz="1100">
                <a:solidFill>
                  <a:srgbClr val="3C322D"/>
                </a:solidFill>
                <a:latin typeface="Segoe UI"/>
              </a:defRPr>
            </a:pPr>
            <a:r>
              <a:t>Henry Ford lamentaba: '¿Por qué cada vez que pido un par de manos, me viene un ser humano entero?' Los bots ofrecen intelecto sin ego.</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Peligro de la Microgestión</a:t>
            </a:r>
          </a:p>
          <a:p>
            <a:pPr>
              <a:defRPr sz="1100">
                <a:solidFill>
                  <a:srgbClr val="3C322D"/>
                </a:solidFill>
                <a:latin typeface="Segoe UI"/>
              </a:defRPr>
            </a:pPr>
            <a:r>
              <a:t>Fiscalizar cada pulsación de tecla o clic paraliza la velocidad operativa del negocio y agota por completo al fundador.</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Liderazgo Parental Responsable</a:t>
            </a:r>
          </a:p>
          <a:p>
            <a:pPr>
              <a:defRPr sz="1100">
                <a:solidFill>
                  <a:srgbClr val="3C322D"/>
                </a:solidFill>
                <a:latin typeface="Segoe UI"/>
              </a:defRPr>
            </a:pPr>
            <a:r>
              <a:t>El rol del humano es inculcar valores centrales, definir guías operativas claras y gestionar expectativas en la curva de aprendizaje.</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7.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ORGANIZACIÓN CLAWINC</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18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La Empresa de 5 Agentes: El Motor Operativo Central</a:t>
            </a:r>
          </a:p>
          <a:p>
            <a:pPr>
              <a:defRPr sz="1250">
                <a:solidFill>
                  <a:srgbClr val="5A504B"/>
                </a:solidFill>
                <a:latin typeface="Segoe UI"/>
              </a:defRPr>
            </a:pPr>
            <a:r>
              <a:t>La arquitectura corporativa mínima viable para reemplazar una agencia tradicional de 100 personas</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Un Fundador Solitario al Timón</a:t>
            </a:r>
          </a:p>
          <a:p>
            <a:pPr>
              <a:defRPr sz="1100">
                <a:solidFill>
                  <a:srgbClr val="3C322D"/>
                </a:solidFill>
                <a:latin typeface="Segoe UI"/>
              </a:defRPr>
            </a:pPr>
            <a:r>
              <a:t>El ser humano opera como Arquitecto de IA, comandando 5 especialistas digitales altamente sincronizados y autónomos.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El Equipo de Liderazgo Central</a:t>
            </a:r>
          </a:p>
          <a:p>
            <a:pPr>
              <a:defRPr sz="1100">
                <a:solidFill>
                  <a:srgbClr val="3C322D"/>
                </a:solidFill>
                <a:latin typeface="Segoe UI"/>
              </a:defRPr>
            </a:pPr>
            <a:r>
              <a:t>• Henry: Jefe de Gabinete y Líder de Pitch.</a:t>
            </a:r>
            <a:br/>
            <a:r>
              <a:t>• Scout: Inteligencia de Mercado y Reconocimiento.</a:t>
            </a:r>
            <a:br/>
            <a:r>
              <a:t>• Writer: Psicografía y Redacción Persuasiva.</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Unidad Técnica y de Operaciones</a:t>
            </a:r>
          </a:p>
          <a:p>
            <a:pPr>
              <a:defRPr sz="1100">
                <a:solidFill>
                  <a:srgbClr val="3C322D"/>
                </a:solidFill>
                <a:latin typeface="Segoe UI"/>
              </a:defRPr>
            </a:pPr>
            <a:r>
              <a:t>• Coder: Analítica de Datos RFM y Precios Dinámicos.</a:t>
            </a:r>
            <a:br/>
            <a:r>
              <a:t>• Watcher: Vigilancia Continua y Auditoría de Sistemas 24/7.</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8.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AGENTES ESTRATÉGICOS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19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Henry (Jefe de Gabinete) y Scout (Inteligencia de Mercado)</a:t>
            </a:r>
          </a:p>
          <a:p>
            <a:pPr>
              <a:defRPr sz="1250">
                <a:solidFill>
                  <a:srgbClr val="5A504B"/>
                </a:solidFill>
                <a:latin typeface="Segoe UI"/>
              </a:defRPr>
            </a:pPr>
            <a:r>
              <a:t>Mando ejecutivo y reconocimiento de mercado competitivo en tiempo real</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Henry (Jefe de Gabinete)</a:t>
            </a:r>
          </a:p>
          <a:p>
            <a:pPr>
              <a:defRPr sz="1100">
                <a:solidFill>
                  <a:srgbClr val="3C322D"/>
                </a:solidFill>
                <a:latin typeface="Segoe UI"/>
              </a:defRPr>
            </a:pPr>
            <a:r>
              <a:t>Valida infraestructura cloud, orquesta la hoja de ruta de campañas a 90 días y lidera la defensa del pitch comercial ante clientes.</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Scout (Inteligencia de Mercado)</a:t>
            </a:r>
          </a:p>
          <a:p>
            <a:pPr>
              <a:defRPr sz="1100">
                <a:solidFill>
                  <a:srgbClr val="3C322D"/>
                </a:solidFill>
                <a:latin typeface="Segoe UI"/>
              </a:defRPr>
            </a:pPr>
            <a:r>
              <a:t>Rastrea tendencias del mercado global (ej. cambios en café de especialidad 2026) y analiza a rivales como Blue Bottle en minutos.</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Sinergia Estratégica Inmediata</a:t>
            </a:r>
          </a:p>
          <a:p>
            <a:pPr>
              <a:defRPr sz="1100">
                <a:solidFill>
                  <a:srgbClr val="3C322D"/>
                </a:solidFill>
                <a:latin typeface="Segoe UI"/>
              </a:defRPr>
            </a:pPr>
            <a:r>
              <a:t>Scout detecta espacios en blanco en el mercado y Henry alinea instantáneamente al resto de los agentes para capturar la oportunidad.</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19.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b="1" sz="1050">
                <a:solidFill>
                  <a:srgbClr val="FFFFFF"/>
                </a:solidFill>
                <a:latin typeface="Segoe UI"/>
              </a:defRPr>
            </a:pPr>
            <a:r>
              <a:t>AGENTES DE EJECUCIÓN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20 / 20</a:t>
            </a:r>
          </a:p>
        </p:txBody>
      </p:sp>
      <p:sp>
        <p:nvSpPr>
          <p:cNvPr id="6" name="TextBox 5"/>
          <p:cNvSpPr txBox="1"/>
          <p:nvPr/>
        </p:nvSpPr>
        <p:spPr>
          <a:xfrm>
            <a:off x="731520" y="777240"/>
            <a:ext cx="10789920" cy="1051560"/>
          </a:xfrm>
          <a:prstGeom prst="rect">
            <a:avLst/>
          </a:prstGeom>
          <a:noFill/>
        </p:spPr>
        <p:txBody>
          <a:bodyPr wrap="square" lIns="0" tIns="0" rIns="0" bIns="0">
            <a:spAutoFit/>
          </a:bodyPr>
          <a:lstStyle/>
          <a:p>
            <a:pPr>
              <a:defRPr sz="2500" b="1">
                <a:solidFill>
                  <a:srgbClr val="231F20"/>
                </a:solidFill>
                <a:latin typeface="Segoe UI"/>
              </a:defRPr>
            </a:pPr>
            <a:r>
              <a:t>Writer (Contenido) y Coder (Analítica y Precios)</a:t>
            </a:r>
          </a:p>
          <a:p>
            <a:pPr>
              <a:defRPr sz="1250">
                <a:solidFill>
                  <a:srgbClr val="5A504B"/>
                </a:solidFill>
                <a:latin typeface="Segoe UI"/>
              </a:defRPr>
            </a:pPr>
            <a:r>
              <a:t>Fusionando narrativa persuasiva con rigor cuantitativo de ventas</a:t>
            </a:r>
          </a:p>
        </p:txBody>
      </p:sp>
      <p:sp>
        <p:nvSpPr>
          <p:cNvPr id="7" name="Rounded Rectangle 6"/>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965959"/>
            <a:ext cx="5074920" cy="1207008"/>
          </a:xfrm>
          <a:prstGeom prst="rect">
            <a:avLst/>
          </a:prstGeom>
          <a:noFill/>
        </p:spPr>
        <p:txBody>
          <a:bodyPr wrap="square" lIns="0" tIns="0" rIns="0" bIns="0">
            <a:spAutoFit/>
          </a:bodyPr>
          <a:lstStyle/>
          <a:p>
            <a:pPr>
              <a:defRPr sz="1350" b="1">
                <a:solidFill>
                  <a:srgbClr val="231F20"/>
                </a:solidFill>
                <a:latin typeface="Segoe UI"/>
              </a:defRPr>
            </a:pPr>
            <a:r>
              <a:t>Writer (Psicografía y Contenido)</a:t>
            </a:r>
          </a:p>
          <a:p>
            <a:pPr>
              <a:defRPr sz="1100">
                <a:solidFill>
                  <a:srgbClr val="3C322D"/>
                </a:solidFill>
                <a:latin typeface="Segoe UI"/>
              </a:defRPr>
            </a:pPr>
            <a:r>
              <a:t>Construye perfiles conductuales profundos de los consumidores y genera material publicitario multicanal altamente persuasivo.</a:t>
            </a:r>
          </a:p>
        </p:txBody>
      </p:sp>
      <p:sp>
        <p:nvSpPr>
          <p:cNvPr id="10" name="Rounded Rectangle 9"/>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02151"/>
            <a:ext cx="5074920" cy="1207008"/>
          </a:xfrm>
          <a:prstGeom prst="rect">
            <a:avLst/>
          </a:prstGeom>
          <a:noFill/>
        </p:spPr>
        <p:txBody>
          <a:bodyPr wrap="square" lIns="0" tIns="0" rIns="0" bIns="0">
            <a:spAutoFit/>
          </a:bodyPr>
          <a:lstStyle/>
          <a:p>
            <a:pPr>
              <a:defRPr sz="1350" b="1">
                <a:solidFill>
                  <a:srgbClr val="231F20"/>
                </a:solidFill>
                <a:latin typeface="Segoe UI"/>
              </a:defRPr>
            </a:pPr>
            <a:r>
              <a:t>Coder (Datos y Precios Dinámicos)</a:t>
            </a:r>
          </a:p>
          <a:p>
            <a:pPr>
              <a:defRPr sz="1100">
                <a:solidFill>
                  <a:srgbClr val="3C322D"/>
                </a:solidFill>
                <a:latin typeface="Segoe UI"/>
              </a:defRPr>
            </a:pPr>
            <a:r>
              <a:t>Ejecuta modelos RFM (Recencia, Frecuencia, Monetario) sobre bases de datos en vivo y calibra precios dinámicamente para maximizar margen.</a:t>
            </a:r>
          </a:p>
        </p:txBody>
      </p:sp>
      <p:sp>
        <p:nvSpPr>
          <p:cNvPr id="13" name="Rounded Rectangle 12"/>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5038343"/>
            <a:ext cx="5074920" cy="1207008"/>
          </a:xfrm>
          <a:prstGeom prst="rect">
            <a:avLst/>
          </a:prstGeom>
          <a:noFill/>
        </p:spPr>
        <p:txBody>
          <a:bodyPr wrap="square" lIns="0" tIns="0" rIns="0" bIns="0">
            <a:spAutoFit/>
          </a:bodyPr>
          <a:lstStyle/>
          <a:p>
            <a:pPr>
              <a:defRPr sz="1350" b="1">
                <a:solidFill>
                  <a:srgbClr val="231F20"/>
                </a:solidFill>
                <a:latin typeface="Segoe UI"/>
              </a:defRPr>
            </a:pPr>
            <a:r>
              <a:t>Motor de Ventas Integrado</a:t>
            </a:r>
          </a:p>
          <a:p>
            <a:pPr>
              <a:defRPr sz="1100">
                <a:solidFill>
                  <a:srgbClr val="3C322D"/>
                </a:solidFill>
                <a:latin typeface="Segoe UI"/>
              </a:defRPr>
            </a:pPr>
            <a:r>
              <a:t>Writer formula el mensaje de máxima resonancia mientras Coder optimiza el embudo de conversión para cerrar cada venta.</a:t>
            </a:r>
          </a:p>
        </p:txBody>
      </p:sp>
      <p:sp>
        <p:nvSpPr>
          <p:cNvPr id="16" name="Rounded Rectangle 15"/>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gent_slide20.jpg"/>
          <p:cNvPicPr>
            <a:picLocks noChangeAspect="1"/>
          </p:cNvPicPr>
          <p:nvPr/>
        </p:nvPicPr>
        <p:blipFill>
          <a:blip r:embed="rId3"/>
          <a:stretch>
            <a:fillRect/>
          </a:stretch>
        </p:blipFill>
        <p:spPr>
          <a:xfrm>
            <a:off x="6400800" y="1874519"/>
            <a:ext cx="5074920" cy="4462272"/>
          </a:xfrm>
          <a:prstGeom prst="rect">
            <a:avLst/>
          </a:prstGeom>
        </p:spPr>
      </p:pic>
      <p:pic>
        <p:nvPicPr>
          <p:cNvPr id="18" name="Picture 17" descr="anahuac_mayab_highres.png"/>
          <p:cNvPicPr>
            <a:picLocks noChangeAspect="1"/>
          </p:cNvPicPr>
          <p:nvPr/>
        </p:nvPicPr>
        <p:blipFill>
          <a:blip r:embed="rId4"/>
          <a:stretch>
            <a:fillRect/>
          </a:stretch>
        </p:blipFill>
        <p:spPr>
          <a:xfrm>
            <a:off x="8200000" y="310000"/>
            <a:ext cx="2200000" cy="476000"/>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Innovación Estratégica y Plan de Negocios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8489</Words>
  <Application>Microsoft Office PowerPoint</Application>
  <PresentationFormat>Widescreen</PresentationFormat>
  <Paragraphs>561</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 Christopher Westland</dc:creator>
  <cp:keywords/>
  <dc:description>generated using python-pptx</dc:description>
  <cp:lastModifiedBy>Westland, James Christopher</cp:lastModifiedBy>
  <cp:revision>1</cp:revision>
  <dcterms:created xsi:type="dcterms:W3CDTF">2013-01-27T09:14:16Z</dcterms:created>
  <dcterms:modified xsi:type="dcterms:W3CDTF">2026-10-07T17:38:25Z</dcterms:modified>
  <cp:category/>
</cp:coreProperties>
</file>