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 Presentar la tesis central: los estados financieros son planos operativos físicos. Explique a los estudiantes el cono de incertidumbre a través de los horizontes (Hoy, 1A, 3A, 5A, 10A) y cómo las hipótesis tempranas apalancan el valor terminal.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 Detalla la dinámica de ingresos. Advierta a los emprendedores por qué proyectar 'de arriba a abajo' destruye credibilidad. Explique la interacción entre la curva S de adopción y la caída inevitable de precios unitarios con la competencia.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 Analiza los costos variables y la Ley de Wright. Muestre cómo la experiencia acumulada reduce el costo unitario de manera predecible, permitiendo a empresas como Tesla o plantas de semiconductores expandir su margen bruto a gran escala.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 Examina el costo fijo y el apalancamiento operativo. Discuta con los alumnos por qué las empresas de software y manufactura tienen dinámicas distintas de punto de equilibrio, y por qué los costos fijos elevados quiebran startups en crisis.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5: Revisa la matriz pro forma a 10 años. Detalle cómo cambian las prioridades financieras en cada hito (Hoy, 1A, 3A, 5A, 10A) desde la supervivencia inicial por quema de caja hasta la madurez generadora de efectivo.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6: Descompone la cascada del flujo de caja libre. Resalte la diferencia crítica entre EBITDA y FCF: por qué un negocio puede mostrar utilidad contable mientras su saldo bancario cae a cero por capital de trabajo.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7: Conecta el flujo de caja libre con el cálculo del Valor Presente Neto y el precio de mercado de las acciones. Enfatice que el valor terminal suele concentrar entre el 60% y el 80% de la valoración total en empresas de innovación.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Analiza el riesgo financiero como variabilidad de flujos. Muestre a los alumnos cómo la tasa de descuento destruye el valor presente de los flujos lejanos si la comercialización se retrasa, justificando las altas exigencias de los fondos de VC.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Relata la historia de Isaac Newton al frente de la Real Casa de Moneda de Inglaterra y su publicación de 1686 de tablas de interés compuesto. Muestre cómo el rigor de la física se aplicó al valor temporal del dinero en contratos reales.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10: Explica el aporte de Irving Fisher en los años 1920 y 1930. Analice el Teorema de Separación de Fisher: la administración corporativa puede enfocarse exclusivamente en maximizar el VPN sin consultar el consumo de cada accionista.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11: Traza el camino desde Joel Dean (1951) hasta la llegada de las hojas de cálculo en computadoras personales en los 80. Explique cómo el software convirtió una técnica académica elitista en la herramienta diaria de banqueros y emprendedores.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12: Muestra el cambio tectónico en la composición del S&amp;P 500 (83% tangible en 1975 a más del 90% intangible hoy). Explique por qué el balance general tradicional ya no refleja los activos generadores de valor en empresas tecnológicas.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13: Aborda la crisis predictiva. Enfatice cómo los efectos de red y la caída de barreras marginales crean mercados donde el ganador se queda con casi todo, haciendo que las proyecciones a 5 años tengan márgenes de error astronómicos.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14: Expone la paradoja del VPN estático frente a la innovación de ruptura. Introduzca las Opciones Reales: fraccionar la inversión en etapas. Resalte el principio contraintuitivo: la volatilidad eleva el valor económico cuando existe flexibilidad gerencial.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15: Entra en el pronóstico econométrico. Compare las tasas compuestas lineales tradicionales con modelos ARIMA y SARIMAX, demostrando cómo modelar ciclos estacionales y autocorrelación en la cobranza de caja.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16: Analiza la aplicación de IA y Deep Learning en finanzas. Explique los Temporal Fusion Transformers (TFT) y cómo las fuentes de datos alternativos (tráfico web, APIs de pago, actividad en GitHub) anticipan giros en el flujo de caja.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17: Muestra el bucle cerrado entre operaciones y finanzas. Explique a los futuros directores cómo pasar de una gestión contable reactiva mensual a una navegación directiva continua guiada por telemetría de flujo de caja.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18: Desarrolla la simulación de Monte Carlo en valoración de startups. Enfatice la importancia del percentil 5 (CFaR) para estimar cuánto capital levantar, asegurando que la empresa sobreviva a un escenario adverso severo.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19: Plantea la distinción epistemológica de Frank Knight. Recuerde a los alumnos que la IA perfecciona el pronóstico estadístico, pero no puede prever cisnes negros; la verdadera fortaleza reside en colchones de capital y antifragilidad.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20: Concluye la cátedra integrando los 6 pilares de la brújula financiera: Visión -&gt; Operaciones -&gt; Economía Unitaria -&gt; FCF -&gt; VPN -&gt; Bucle de IA -&gt; Antifragilidad. Brinde las conclusiones finales para los futuros líderes de Anáhuac Mayab.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VISIÓN Y PROYECCIONES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Innovación como Proyección hacia el Futuro: Visión y Operaciones</a:t>
            </a:r>
          </a:p>
          <a:p>
            <a:pPr>
              <a:defRPr sz="1200">
                <a:solidFill>
                  <a:srgbClr val="5A504B"/>
                </a:solidFill>
                <a:latin typeface="Segoe UI"/>
              </a:defRPr>
            </a:pPr>
            <a:r>
              <a:t>Traduciendo una hipótesis emprendedora en una arquitectura operativa cuantitativa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Visión como Plano Operativo</a:t>
            </a:r>
          </a:p>
          <a:p>
            <a:pPr>
              <a:defRPr sz="1050">
                <a:solidFill>
                  <a:srgbClr val="3C322D"/>
                </a:solidFill>
                <a:latin typeface="Segoe UI"/>
              </a:defRPr>
            </a:pPr>
            <a:r>
              <a:t>Toda innovación inicia como un modelo mental sobre el funcionamiento del mercado futuro. Los modelos financieros no son abstracciones contables, sino planos de capacidad física, velocidad de ventas y compromisos de suministro.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Dilema del Horizonte Temporal</a:t>
            </a:r>
          </a:p>
          <a:p>
            <a:pPr>
              <a:defRPr sz="1050">
                <a:solidFill>
                  <a:srgbClr val="3C322D"/>
                </a:solidFill>
                <a:latin typeface="Segoe UI"/>
              </a:defRPr>
            </a:pPr>
            <a:r>
              <a:t>El emprendedor debe proyectar operaciones a lo largo de horizontes crecientes: Hoy, Año 1, Año 3, Año 5 y Año 10. A mayor plazo, mayor es el impacto multiplicador en la valoración, pero más amplio el abanico de incertidumbre.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Anclando Cifras en la Realidad Física</a:t>
            </a:r>
          </a:p>
          <a:p>
            <a:pPr>
              <a:defRPr sz="1050">
                <a:solidFill>
                  <a:srgbClr val="3C322D"/>
                </a:solidFill>
                <a:latin typeface="Segoe UI"/>
              </a:defRPr>
            </a:pPr>
            <a:r>
              <a:t>La valoración de riesgo fracasa cuando se basa en porcentajes superficiales. El análisis riguroso vincula cada peso de ingreso y costo con impulsores operativos reales: rendimiento de planta, servidores, cuotas y soporte.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1_vision_to_operations_horiz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MECÁNICA DE INGRESOS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Ingresos: Venta de Productos, Adopción y Poder de Fijación de Precios</a:t>
            </a:r>
          </a:p>
          <a:p>
            <a:pPr>
              <a:defRPr sz="1200">
                <a:solidFill>
                  <a:srgbClr val="5A504B"/>
                </a:solidFill>
                <a:latin typeface="Segoe UI"/>
              </a:defRPr>
            </a:pPr>
            <a:r>
              <a:t>Modelando volúmenes según el ciclo de adopción y analizando la erosión de precios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Ecuación Fundamental de Ingresos</a:t>
            </a:r>
          </a:p>
          <a:p>
            <a:pPr>
              <a:defRPr sz="1050">
                <a:solidFill>
                  <a:srgbClr val="3C322D"/>
                </a:solidFill>
                <a:latin typeface="Segoe UI"/>
              </a:defRPr>
            </a:pPr>
            <a:r>
              <a:t>El ingreso comercial es el producto del volumen de unidades vendidas por el precio unitario obtenido (P x Q). Las ventas de innovación siguen curvas en S de difusión social (modelo de Bass), desde pioneros hasta la mayoría tardía.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Poder de Precio vs. Erosión Competitiva</a:t>
            </a:r>
          </a:p>
          <a:p>
            <a:pPr>
              <a:defRPr sz="1050">
                <a:solidFill>
                  <a:srgbClr val="3C322D"/>
                </a:solidFill>
                <a:latin typeface="Segoe UI"/>
              </a:defRPr>
            </a:pPr>
            <a:r>
              <a:t>Las innovaciones radicales gozan de poder de fijación de precios y márgenes iniciales altos. Sin embargo, la competencia y los sustitutos reducen los precios en 3 a 5 años, exigiendo escalar volumen para sostener el crecimiento.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Velocidad de Canales 'Bottom-Up'</a:t>
            </a:r>
          </a:p>
          <a:p>
            <a:pPr>
              <a:defRPr sz="1050">
                <a:solidFill>
                  <a:srgbClr val="3C322D"/>
                </a:solidFill>
                <a:latin typeface="Segoe UI"/>
              </a:defRPr>
            </a:pPr>
            <a:r>
              <a:t>Los planes financieros sólidos construyen ingresos de abajo hacia arriba: calculando el embudo de prospectos, tasas de conversión, ciclos de cierre y retención, desterrando la falacia de 'capturar el 1% del mercado global'.</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2_revenue_adoption_pricing.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ESTRUCTURA DE COSTOS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Costos Variables: Escala de Producción y Curvas de Aprendizaje</a:t>
            </a:r>
          </a:p>
          <a:p>
            <a:pPr>
              <a:defRPr sz="1200">
                <a:solidFill>
                  <a:srgbClr val="5A504B"/>
                </a:solidFill>
                <a:latin typeface="Segoe UI"/>
              </a:defRPr>
            </a:pPr>
            <a:r>
              <a:t>Comprendiendo la economía marginal de producción, mano de obra y la Ley de Wright</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Proporcionalidad del Costo Directo</a:t>
            </a:r>
          </a:p>
          <a:p>
            <a:pPr>
              <a:defRPr sz="1050">
                <a:solidFill>
                  <a:srgbClr val="3C322D"/>
                </a:solidFill>
                <a:latin typeface="Segoe UI"/>
              </a:defRPr>
            </a:pPr>
            <a:r>
              <a:t>Los costos variables crecen en proporción directa al volumen físico o digital producido: materias primas, ensamblaje directo, horas de cómputo en la nube por usuario activo, empaque y comisiones de pasarela de pago.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La Ley de Wright y Curva de Experiencia</a:t>
            </a:r>
          </a:p>
          <a:p>
            <a:pPr>
              <a:defRPr sz="1050">
                <a:solidFill>
                  <a:srgbClr val="3C322D"/>
                </a:solidFill>
                <a:latin typeface="Segoe UI"/>
              </a:defRPr>
            </a:pPr>
            <a:r>
              <a:t>Formulada por Theodore Wright en 1936, los costos unitarios caen a una tasa predecible (típicamente 15%–25%) cada vez que la producción acumulada histórica se duplica, gracias a la optimización de procesos y menores mermas.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Expansión del Margen de Contribución</a:t>
            </a:r>
          </a:p>
          <a:p>
            <a:pPr>
              <a:defRPr sz="1050">
                <a:solidFill>
                  <a:srgbClr val="3C322D"/>
                </a:solidFill>
                <a:latin typeface="Segoe UI"/>
              </a:defRPr>
            </a:pPr>
            <a:r>
              <a:t>Restar el costo variable unitario al precio de venta define el margen de contribución (P - CV). Ampliar este margen mediante economías de escala es el motor indispensable para absorber los costos fijos corporativos.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3_variable_costs_learning_curv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ESTRUCTURA DE COSTOS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Costos Fijos: Administración, Canales y Cadena de Suministro</a:t>
            </a:r>
          </a:p>
          <a:p>
            <a:pPr>
              <a:defRPr sz="1200">
                <a:solidFill>
                  <a:srgbClr val="5A504B"/>
                </a:solidFill>
                <a:latin typeface="Segoe UI"/>
              </a:defRPr>
            </a:pPr>
            <a:r>
              <a:t>Gestionando la estructura base no dependiente del volumen y el apalancamiento operativo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Base Inelástica de Operación</a:t>
            </a:r>
          </a:p>
          <a:p>
            <a:pPr>
              <a:defRPr sz="1050">
                <a:solidFill>
                  <a:srgbClr val="3C322D"/>
                </a:solidFill>
                <a:latin typeface="Segoe UI"/>
              </a:defRPr>
            </a:pPr>
            <a:r>
              <a:t>Los costos fijos representan compromisos que no fluctúan con la producción inmediata: nóminas de dirección e I+D, cumplimiento normativo y legal, licencias de software ERP y arrendamientos físicos.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Infraestructura de Canales y Logística</a:t>
            </a:r>
          </a:p>
          <a:p>
            <a:pPr>
              <a:defRPr sz="1050">
                <a:solidFill>
                  <a:srgbClr val="3C322D"/>
                </a:solidFill>
                <a:latin typeface="Segoe UI"/>
              </a:defRPr>
            </a:pPr>
            <a:r>
              <a:t>Establecer canales de comercialización, equipos dedicados a grandes cuentas corporativas, bodegas logísticas y sistemas integrados de cadena de suministro requiere capital fijo antes del primer envío.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Apalancamiento Operativo: Espada de Doble Filo</a:t>
            </a:r>
          </a:p>
          <a:p>
            <a:pPr>
              <a:defRPr sz="1050">
                <a:solidFill>
                  <a:srgbClr val="3C322D"/>
                </a:solidFill>
                <a:latin typeface="Segoe UI"/>
              </a:defRPr>
            </a:pPr>
            <a:r>
              <a:t>Estructuras con altos costos fijos crean apalancamiento operativo masivo: al cruzar el punto de equilibrio, cada venta incremental fluye a utilidad neta. Por contraparte, retrasos en ventas generan quema de caja letal.</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4_fixed_costs_operating_leverag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PROYECCIONES TEMPORALES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5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El Horizonte Plurianual: Hoy, Año 1, Año 3, Año 5 y Año 10</a:t>
            </a:r>
          </a:p>
          <a:p>
            <a:pPr>
              <a:defRPr sz="1200">
                <a:solidFill>
                  <a:srgbClr val="5A504B"/>
                </a:solidFill>
                <a:latin typeface="Segoe UI"/>
              </a:defRPr>
            </a:pPr>
            <a:r>
              <a:t>Programando hitos operativos e intensidad de capital en el ciclo del emprendimiento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De Hoy al Año 1: La Trinchera de I+D</a:t>
            </a:r>
          </a:p>
          <a:p>
            <a:pPr>
              <a:defRPr sz="1050">
                <a:solidFill>
                  <a:srgbClr val="3C322D"/>
                </a:solidFill>
                <a:latin typeface="Segoe UI"/>
              </a:defRPr>
            </a:pPr>
            <a:r>
              <a:t>Caracterizado por flujo de caja negativo, desarrollo del MVP, pruebas de prototipos y nula rentabilidad contable. El capital se consume para des-riesgar la viabilidad tecnológica y de producto.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Años 3 al 5: Escalamiento y Punto de Equilibrio</a:t>
            </a:r>
          </a:p>
          <a:p>
            <a:pPr>
              <a:defRPr sz="1050">
                <a:solidFill>
                  <a:srgbClr val="3C322D"/>
                </a:solidFill>
                <a:latin typeface="Segoe UI"/>
              </a:defRPr>
            </a:pPr>
            <a:r>
              <a:t>Alcanzar el encaje producto-mercado, consolidar canales repetibles de venta, cruzar el punto de equilibrio operativo y generar EBITDA positivo mediante economías de escala.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Año 10: Fosos Defensivos y Flujo Terminal Libre</a:t>
            </a:r>
          </a:p>
          <a:p>
            <a:pPr>
              <a:defRPr sz="1050">
                <a:solidFill>
                  <a:srgbClr val="3C322D"/>
                </a:solidFill>
                <a:latin typeface="Segoe UI"/>
              </a:defRPr>
            </a:pPr>
            <a:r>
              <a:t>Transición de absorción intensiva de capital a liderazgo de mercado sustentable. Efectos de red y propiedad intelectual protegen márgenes operativos, generando dividendos y recompras.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5_multiyear_proforma_scorecard.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MECÁNICA DEL EFECTIVO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6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Flujo de Caja Libre (FCF): El Verdadero Cimiento del Valor</a:t>
            </a:r>
          </a:p>
          <a:p>
            <a:pPr>
              <a:defRPr sz="1200">
                <a:solidFill>
                  <a:srgbClr val="5A504B"/>
                </a:solidFill>
                <a:latin typeface="Segoe UI"/>
              </a:defRPr>
            </a:pPr>
            <a:r>
              <a:t>Por qué la utilidad contable engaña y solo el efectivo disponible paga al inversionista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Falacia de la Utilidad Neta Contable</a:t>
            </a:r>
          </a:p>
          <a:p>
            <a:pPr>
              <a:defRPr sz="1050">
                <a:solidFill>
                  <a:srgbClr val="3C322D"/>
                </a:solidFill>
                <a:latin typeface="Segoe UI"/>
              </a:defRPr>
            </a:pPr>
            <a:r>
              <a:t>'La utilidad es una opinión, pero el efectivo es un hecho'. La contabilidad por acumulación reconoce ventas a crédito y amortiza activos a décadas, ocultando crisis agudas de liquidez bajo utilidades en papel.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Fórmula del Flujo de Caja Libre de la Empresa (FCFF)</a:t>
            </a:r>
          </a:p>
          <a:p>
            <a:pPr>
              <a:defRPr sz="1050">
                <a:solidFill>
                  <a:srgbClr val="3C322D"/>
                </a:solidFill>
                <a:latin typeface="Segoe UI"/>
              </a:defRPr>
            </a:pPr>
            <a:r>
              <a:t>El FCFF representa el efectivo neto disponible generado por operaciones: FCFF = EBIT(1 - t) + Depreciación y Amortización - Variación en Capital de Trabajo Neto (NWC) - CapEx en activos de capital.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El Drenaje de Capital de Trabajo y CapEx</a:t>
            </a:r>
          </a:p>
          <a:p>
            <a:pPr>
              <a:defRPr sz="1050">
                <a:solidFill>
                  <a:srgbClr val="3C322D"/>
                </a:solidFill>
                <a:latin typeface="Segoe UI"/>
              </a:defRPr>
            </a:pPr>
            <a:r>
              <a:t>Startups en hipercrecimiento quiebran frecuentemente siendo 'rentables' porque financiar cuentas por cobrar crecientes e inventario absorbe la liquidez antes de que el dinero entre a bancos.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6_free_cash_flow_waterfall.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FUNDAMENTOS DE VALORACIÓN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7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Valor Presente Neto (VPN): Cómo Valoramos Empresas y Acciones</a:t>
            </a:r>
          </a:p>
          <a:p>
            <a:pPr>
              <a:defRPr sz="1200">
                <a:solidFill>
                  <a:srgbClr val="5A504B"/>
                </a:solidFill>
                <a:latin typeface="Segoe UI"/>
              </a:defRPr>
            </a:pPr>
            <a:r>
              <a:t>El ancla matemática universal que convierte flujos futuros en riqueza presente</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Primer Principio de la Valoración Financiera</a:t>
            </a:r>
          </a:p>
          <a:p>
            <a:pPr>
              <a:defRPr sz="1050">
                <a:solidFill>
                  <a:srgbClr val="3C322D"/>
                </a:solidFill>
                <a:latin typeface="Segoe UI"/>
              </a:defRPr>
            </a:pPr>
            <a:r>
              <a:t>Todo activo financiero —desde un emprendimiento en etapa semilla hasta una acción pública— deriva su valor intrínseco exclusivamente del valor presente de sus flujos de efectivo futuros.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Fórmula del VPN y Valuación por Acción</a:t>
            </a:r>
          </a:p>
          <a:p>
            <a:pPr>
              <a:defRPr sz="1050">
                <a:solidFill>
                  <a:srgbClr val="3C322D"/>
                </a:solidFill>
                <a:latin typeface="Segoe UI"/>
              </a:defRPr>
            </a:pPr>
            <a:r>
              <a:t>VPN = Suma[ FCF_t / (1 + r)^t ] + [ Valor Terminal / (1 + r)^T ] - Inversión Inicial. El Valor de la Empresa menos deuda neta equivale al Patrimonio; dividido entre acciones emitidas fija el precio por acción.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El Criterio de Creación de Valor Económico</a:t>
            </a:r>
          </a:p>
          <a:p>
            <a:pPr>
              <a:defRPr sz="1050">
                <a:solidFill>
                  <a:srgbClr val="3C322D"/>
                </a:solidFill>
                <a:latin typeface="Segoe UI"/>
              </a:defRPr>
            </a:pPr>
            <a:r>
              <a:t>Un proyecto o empresa crea valor si y solo si su VPN &gt; 0. Un VPN positivo certifica que el rendimiento supera el costo de oportunidad del capital, remunerando el riesgo asumido.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7_npv_discounting_architectur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RIESGO Y COSTO CAPITAL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8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Riesgo Financiero y Tasa de Descuento: Cotizando la Incertidumbre ($r$)</a:t>
            </a:r>
          </a:p>
          <a:p>
            <a:pPr>
              <a:defRPr sz="1200">
                <a:solidFill>
                  <a:srgbClr val="5A504B"/>
                </a:solidFill>
                <a:latin typeface="Segoe UI"/>
              </a:defRPr>
            </a:pPr>
            <a:r>
              <a:t>Por qué la tasa de descuento penaliza implacablemente las promesas lejanas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El Riesgo como Dispersión del Flujo</a:t>
            </a:r>
          </a:p>
          <a:p>
            <a:pPr>
              <a:defRPr sz="1050">
                <a:solidFill>
                  <a:srgbClr val="3C322D"/>
                </a:solidFill>
                <a:latin typeface="Segoe UI"/>
              </a:defRPr>
            </a:pPr>
            <a:r>
              <a:t>El riesgo financiero no es meramente la probabilidad de quebrar; es la varianza estadística y dispersión de los flujos de efectivo futuros respecto al valor esperado proyectado.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La Tasa de Exigencia (WACC y CAPM)</a:t>
            </a:r>
          </a:p>
          <a:p>
            <a:pPr>
              <a:defRPr sz="1050">
                <a:solidFill>
                  <a:srgbClr val="3C322D"/>
                </a:solidFill>
                <a:latin typeface="Segoe UI"/>
              </a:defRPr>
            </a:pPr>
            <a:r>
              <a:t>La tasa de descuento (r) incorpora la tasa libre de riesgo (r_f), la volatilidad del mercado ponderada (beta) y primas específicas por iliquidez y riesgo tecnológico en el emprendimiento.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La Penalización Temporal sobre la Innovación</a:t>
            </a:r>
          </a:p>
          <a:p>
            <a:pPr>
              <a:defRPr sz="1050">
                <a:solidFill>
                  <a:srgbClr val="3C322D"/>
                </a:solidFill>
                <a:latin typeface="Segoe UI"/>
              </a:defRPr>
            </a:pPr>
            <a:r>
              <a:t>Emprendimientos tempranos enfrentan tasas del 25% al 35% (frente a 7%-9% de servicios públicos). A una tasa del 35%, $100 ganados en el Año 5 valen apenas $22.30 hoy, castigando demoras en monetizar.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8_discount_rate_risk_hurdl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HISTORIA VPN: NEWTON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9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Los Orígenes: Sir Isaac Newton, la Real Casa de Moneda y las Tablas</a:t>
            </a:r>
          </a:p>
          <a:p>
            <a:pPr>
              <a:defRPr sz="1200">
                <a:solidFill>
                  <a:srgbClr val="5A504B"/>
                </a:solidFill>
                <a:latin typeface="Segoe UI"/>
              </a:defRPr>
            </a:pPr>
            <a:r>
              <a:t>La génesis en el siglo XVII del descuento compuesto y las tablas de arrendamiento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Newton como Maestro de la Moneda (1696-1727)</a:t>
            </a:r>
          </a:p>
          <a:p>
            <a:pPr>
              <a:defRPr sz="1050">
                <a:solidFill>
                  <a:srgbClr val="3C322D"/>
                </a:solidFill>
                <a:latin typeface="Segoe UI"/>
              </a:defRPr>
            </a:pPr>
            <a:r>
              <a:t>Además de formular la física clásica y el cálculo, Newton fue Guardián y Maestro de la Real Casa de Moneda inglesa, liderando la Gran Recuñación de 1696 y sentando bases monetarias empíricas.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Las Tablas para Tierras Eclesiásticas (1686)</a:t>
            </a:r>
          </a:p>
          <a:p>
            <a:pPr>
              <a:defRPr sz="1050">
                <a:solidFill>
                  <a:srgbClr val="3C322D"/>
                </a:solidFill>
                <a:latin typeface="Segoe UI"/>
              </a:defRPr>
            </a:pPr>
            <a:r>
              <a:t>Atribuido a Newton, 'Tables for Renewing and Purchasing of Leases of Church-Lands' constituyó el primer compendio matemático riguroso de tablas de interés compuesto y valor actual para contratos.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Superando la Negociación Arbitraria Feudal</a:t>
            </a:r>
          </a:p>
          <a:p>
            <a:pPr>
              <a:defRPr sz="1050">
                <a:solidFill>
                  <a:srgbClr val="3C322D"/>
                </a:solidFill>
                <a:latin typeface="Segoe UI"/>
              </a:defRPr>
            </a:pPr>
            <a:r>
              <a:t>Newton sustituyó el regateo señorial por cálculo financiero formal, demostrando que los flujos futuros de rentas y primas de renovación poseen un valor de capital presente matemáticamente exacto.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9_newton_royal_mint_tabl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HISTORIA VPN: 1920</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10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Revolución de 1920: Irving Fisher y la Teoría del Interés</a:t>
            </a:r>
          </a:p>
          <a:p>
            <a:pPr>
              <a:defRPr sz="1200">
                <a:solidFill>
                  <a:srgbClr val="5A504B"/>
                </a:solidFill>
                <a:latin typeface="Segoe UI"/>
              </a:defRPr>
            </a:pPr>
            <a:r>
              <a:t>Formalizando el presupuesto de capital moderno, elección intertemporal y el VPN</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Obra Teórica de Irving Fisher</a:t>
            </a:r>
          </a:p>
          <a:p>
            <a:pPr>
              <a:defRPr sz="1050">
                <a:solidFill>
                  <a:srgbClr val="3C322D"/>
                </a:solidFill>
                <a:latin typeface="Segoe UI"/>
              </a:defRPr>
            </a:pPr>
            <a:r>
              <a:t>En 'The Rate of Interest' (1907) y 'The Theory of Interest' (1930), el economista de Yale unificó la preferencia temporal humana y la productividad del capital en la teoría financiera moderna.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Teorema de Separación de Fisher</a:t>
            </a:r>
          </a:p>
          <a:p>
            <a:pPr>
              <a:defRPr sz="1050">
                <a:solidFill>
                  <a:srgbClr val="3C322D"/>
                </a:solidFill>
                <a:latin typeface="Segoe UI"/>
              </a:defRPr>
            </a:pPr>
            <a:r>
              <a:t>Demostró que la decisión de inversión productiva de una empresa (maximizar el VPN) es totalmente independiente del momento de consumo y las preferencias personales de sus accionistas.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La Tasa de Rendimiento sobre el Costo</a:t>
            </a:r>
          </a:p>
          <a:p>
            <a:pPr>
              <a:defRPr sz="1050">
                <a:solidFill>
                  <a:srgbClr val="3C322D"/>
                </a:solidFill>
                <a:latin typeface="Segoe UI"/>
              </a:defRPr>
            </a:pPr>
            <a:r>
              <a:t>Fisher formuló la primera definición matemática rigurosa de la Tasa Interna de Retorno (TIR) y estableció que el valor del capital es el valor presente descontado de los ingresos netos futuros.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0_irving_fisher_1920s_revolut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HISTORIA VPN: ERA MODERNA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11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Adopción Corporativa de Posguerra: Joel Dean y las Hojas de Cálculo</a:t>
            </a:r>
          </a:p>
          <a:p>
            <a:pPr>
              <a:defRPr sz="1200">
                <a:solidFill>
                  <a:srgbClr val="5A504B"/>
                </a:solidFill>
                <a:latin typeface="Segoe UI"/>
              </a:defRPr>
            </a:pPr>
            <a:r>
              <a:t>Cómo el flujo descontado pasó de la academia a los directorios empresariales y PCs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Capital Budgeting de Joel Dean (1951)</a:t>
            </a:r>
          </a:p>
          <a:p>
            <a:pPr>
              <a:defRPr sz="1050">
                <a:solidFill>
                  <a:srgbClr val="3C322D"/>
                </a:solidFill>
                <a:latin typeface="Segoe UI"/>
              </a:defRPr>
            </a:pPr>
            <a:r>
              <a:t>Profesor de la Universidad de Columbia, Joel Dean transformó la gestión empresarial al desacreditar las reglas rudimentarias del 'Periodo de Recuperación' e instaurar el DCF en los directorios corporativos.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Racionamiento de Capital de Lorie-Savage (1955)</a:t>
            </a:r>
          </a:p>
          <a:p>
            <a:pPr>
              <a:defRPr sz="1050">
                <a:solidFill>
                  <a:srgbClr val="3C322D"/>
                </a:solidFill>
                <a:latin typeface="Segoe UI"/>
              </a:defRPr>
            </a:pPr>
            <a:r>
              <a:t>Formalizó la asignación de presupuestos finitos de inversión, demostrando matemáticamente por qué el VPN clasifica de forma óptima proyectos mutuamente excluyentes frente a las distorsiones de la TIR.</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La Revolución del Software en PC (1979-1990)</a:t>
            </a:r>
          </a:p>
          <a:p>
            <a:pPr>
              <a:defRPr sz="1050">
                <a:solidFill>
                  <a:srgbClr val="3C322D"/>
                </a:solidFill>
                <a:latin typeface="Segoe UI"/>
              </a:defRPr>
            </a:pPr>
            <a:r>
              <a:t>VisiCalc (1979), Lotus 1-2-3 (1983) y Microsoft Excel (1987) democratizaron el modelado pro forma plurianual, convirtiendo al VPN en el sistema operativo estándar de las finanzas globales.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1_postwar_corporate_dcf_evolut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REVOLUCIÓN INTANGIBLE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12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Revolución de los Activos Intangibles: La Fábrica que se Desvanece</a:t>
            </a:r>
          </a:p>
          <a:p>
            <a:pPr>
              <a:defRPr sz="1200">
                <a:solidFill>
                  <a:srgbClr val="5A504B"/>
                </a:solidFill>
                <a:latin typeface="Segoe UI"/>
              </a:defRPr>
            </a:pPr>
            <a:r>
              <a:t>Valorando empresas cuando el valor reside en software, propiedad intelectual y redes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Gran Inversión Macroeconómica</a:t>
            </a:r>
          </a:p>
          <a:p>
            <a:pPr>
              <a:defRPr sz="1050">
                <a:solidFill>
                  <a:srgbClr val="3C322D"/>
                </a:solidFill>
                <a:latin typeface="Segoe UI"/>
              </a:defRPr>
            </a:pPr>
            <a:r>
              <a:t>En 1975, los activos físicos tangibles (plantas, maquinaria, inventarios) constituían el 83% del valor de mercado del S&amp;P 500; hoy en 2026, los intangibles superan el 90% de la capitalización.</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Catálogo del Capital Intangible</a:t>
            </a:r>
          </a:p>
          <a:p>
            <a:pPr>
              <a:defRPr sz="1050">
                <a:solidFill>
                  <a:srgbClr val="3C322D"/>
                </a:solidFill>
                <a:latin typeface="Segoe UI"/>
              </a:defRPr>
            </a:pPr>
            <a:r>
              <a:t>El valor contemporáneo radica en código fuente patentado, pesos sinápticos de modelos de IA, patentes, efectos de red en datos, confianza de marca y capital humano de la organización.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Normas Contables que Ciegan el Balance</a:t>
            </a:r>
          </a:p>
          <a:p>
            <a:pPr>
              <a:defRPr sz="1050">
                <a:solidFill>
                  <a:srgbClr val="3C322D"/>
                </a:solidFill>
                <a:latin typeface="Segoe UI"/>
              </a:defRPr>
            </a:pPr>
            <a:r>
              <a:t>Bajo GAAP e IFRS, la inversión en I+D, marca y talento se envía de inmediato al estado de resultados como gasto operativo en vez de capitalizarse, volviendo obsoleto el valor en libros contable.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2_intangible_assets_shift.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COLAPSO PREDICTIVO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13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Crisis Predictiva: Por Qué los Flujos Modernos son Inestables</a:t>
            </a:r>
          </a:p>
          <a:p>
            <a:pPr>
              <a:defRPr sz="1200">
                <a:solidFill>
                  <a:srgbClr val="5A504B"/>
                </a:solidFill>
                <a:latin typeface="Segoe UI"/>
              </a:defRPr>
            </a:pPr>
            <a:r>
              <a:t>Escalamiento con costo marginal cero y destrucción creativa rompen los modelos lineales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Leyes de Potencia vs. Distribución Normal</a:t>
            </a:r>
          </a:p>
          <a:p>
            <a:pPr>
              <a:defRPr sz="1050">
                <a:solidFill>
                  <a:srgbClr val="3C322D"/>
                </a:solidFill>
                <a:latin typeface="Segoe UI"/>
              </a:defRPr>
            </a:pPr>
            <a:r>
              <a:t>Los emprendimientos intangibles no siguen curvas de campana; operan bajo dinámicas extremas de poder donde el 1% de las empresas se apropia del 90% de los beneficios de la industria.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Aceleración de la Destrucción Creativa</a:t>
            </a:r>
          </a:p>
          <a:p>
            <a:pPr>
              <a:defRPr sz="1050">
                <a:solidFill>
                  <a:srgbClr val="3C322D"/>
                </a:solidFill>
                <a:latin typeface="Segoe UI"/>
              </a:defRPr>
            </a:pPr>
            <a:r>
              <a:t>La vida promedio de una empresa en el S&amp;P 500 ha colapsado de 61 años en 1958 a menos de 18 años hoy. Los fosos digitales pueden desaparecer de la noche a la mañana por disrupciones de código abierto.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Dispersión Explosiva de Pronósticos</a:t>
            </a:r>
          </a:p>
          <a:p>
            <a:pPr>
              <a:defRPr sz="1050">
                <a:solidFill>
                  <a:srgbClr val="3C322D"/>
                </a:solidFill>
                <a:latin typeface="Segoe UI"/>
              </a:defRPr>
            </a:pPr>
            <a:r>
              <a:t>Proyectar el flujo de caja a 5 o 10 años para una startup tecnológica tiene un margen de dispersión superior al +/-300%, convirtiendo los modelos deterministas de punto único en herramientas inútiles.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3_predictive_breakdown_volatilit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PARADOJA DE VALORACIÓN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14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Límites del VPN Estático: Por Qué el DCF Rechaza la Innovación Radical</a:t>
            </a:r>
          </a:p>
          <a:p>
            <a:pPr>
              <a:defRPr sz="1200">
                <a:solidFill>
                  <a:srgbClr val="5A504B"/>
                </a:solidFill>
                <a:latin typeface="Segoe UI"/>
              </a:defRPr>
            </a:pPr>
            <a:r>
              <a:t>Cómo el descuento inflexible descarta proyectos transformadores y el remedio de Opciones Reales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'Trampa del VPN' en I+D Radical</a:t>
            </a:r>
          </a:p>
          <a:p>
            <a:pPr>
              <a:defRPr sz="1050">
                <a:solidFill>
                  <a:srgbClr val="3C322D"/>
                </a:solidFill>
                <a:latin typeface="Segoe UI"/>
              </a:defRPr>
            </a:pPr>
            <a:r>
              <a:t>El DCF clásico asume un compromiso rígido a 10 años y descuenta fuertemente los flujos lejanos con altas tasas de riesgo, arrojando sistemáticamente VPN negativo que induce a abortar ideas disruptivas.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Enfoque de Opciones Reales</a:t>
            </a:r>
          </a:p>
          <a:p>
            <a:pPr>
              <a:defRPr sz="1050">
                <a:solidFill>
                  <a:srgbClr val="3C322D"/>
                </a:solidFill>
                <a:latin typeface="Segoe UI"/>
              </a:defRPr>
            </a:pPr>
            <a:r>
              <a:t>La innovación radical se modela no como una cinta transportadora, sino como un árbol de decisiones por etapas: comprar opciones para expandir, diferir, pivotar o abandonar según hitos empíricos reales.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La Volatilidad como Creadora de Valor</a:t>
            </a:r>
          </a:p>
          <a:p>
            <a:pPr>
              <a:defRPr sz="1050">
                <a:solidFill>
                  <a:srgbClr val="3C322D"/>
                </a:solidFill>
                <a:latin typeface="Segoe UI"/>
              </a:defRPr>
            </a:pPr>
            <a:r>
              <a:t>Bajo Black-Scholes y modelos binomiales, una mayor volatilidad subyacente INCREMENTA el valor de una opción de compra, ya que las pérdidas están acotadas mientras las ganancias no tienen techo.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4_static_npv_vs_real_option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6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EL FUTURO: SERIES TIEMPO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15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Análisis de Series Temporales: Superando el Crecimiento Lineal Ficticio</a:t>
            </a:r>
          </a:p>
          <a:p>
            <a:pPr>
              <a:defRPr sz="1200">
                <a:solidFill>
                  <a:srgbClr val="5A504B"/>
                </a:solidFill>
                <a:latin typeface="Segoe UI"/>
              </a:defRPr>
            </a:pPr>
            <a:r>
              <a:t>Sustituyendo el CAGR plano de Excel por rigor econométrico y autorregresivo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Falacia del Crecimiento Porcentual Plano</a:t>
            </a:r>
          </a:p>
          <a:p>
            <a:pPr>
              <a:defRPr sz="1050">
                <a:solidFill>
                  <a:srgbClr val="3C322D"/>
                </a:solidFill>
                <a:latin typeface="Segoe UI"/>
              </a:defRPr>
            </a:pPr>
            <a:r>
              <a:t>Las presentaciones de startups asumen rutinariamente un crecimiento anual constante del 20% al 30%. En la realidad operativa existen estacionalidad severa, saturación y choques de demanda.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Instrumental Econométrico Moderno</a:t>
            </a:r>
          </a:p>
          <a:p>
            <a:pPr>
              <a:defRPr sz="1050">
                <a:solidFill>
                  <a:srgbClr val="3C322D"/>
                </a:solidFill>
                <a:latin typeface="Segoe UI"/>
              </a:defRPr>
            </a:pPr>
            <a:r>
              <a:t>El uso de ARIMA, SARIMAX y Vectores Autorregresivos (VAR) permite modelar bucles de retroalimentación dinámica entre inversión comercial, bajas de clientes y cobranza rezagada de efectivo.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Cambios Estructurales y Volatilidad GARCH</a:t>
            </a:r>
          </a:p>
          <a:p>
            <a:pPr>
              <a:defRPr sz="1050">
                <a:solidFill>
                  <a:srgbClr val="3C322D"/>
                </a:solidFill>
                <a:latin typeface="Segoe UI"/>
              </a:defRPr>
            </a:pPr>
            <a:r>
              <a:t>Las series financieras son no estacionarias. Los modelos GARCH parametrizan la acumulación de volatilidad en el tiempo, identificando riesgos reales de insolvencia bajo choques exógenos.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5_time_series_forecasting_model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6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EL FUTURO: IA Y FINANZAS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16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Inteligencia Artificial y Machine Learning: Arquitecturas Neuronales Financieras</a:t>
            </a:r>
          </a:p>
          <a:p>
            <a:pPr>
              <a:defRPr sz="1200">
                <a:solidFill>
                  <a:srgbClr val="5A504B"/>
                </a:solidFill>
                <a:latin typeface="Segoe UI"/>
              </a:defRPr>
            </a:pPr>
            <a:r>
              <a:t>Aprovechando Temporal Fusion Transformers, Deep Learning y Modelos Fundacionales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Temporal Fusion Transformers (TFT)</a:t>
            </a:r>
          </a:p>
          <a:p>
            <a:pPr>
              <a:defRPr sz="1050">
                <a:solidFill>
                  <a:srgbClr val="3C322D"/>
                </a:solidFill>
                <a:latin typeface="Segoe UI"/>
              </a:defRPr>
            </a:pPr>
            <a:r>
              <a:t>Las arquitecturas neuronales modernas procesan secuencias operativas multi-horizonte, combinando auto-atención con mecanismos de compuerta para detectar relaciones no lineales entre miles de variables.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Telemetría Alternativa de Alta Frecuencia</a:t>
            </a:r>
          </a:p>
          <a:p>
            <a:pPr>
              <a:defRPr sz="1050">
                <a:solidFill>
                  <a:srgbClr val="3C322D"/>
                </a:solidFill>
                <a:latin typeface="Segoe UI"/>
              </a:defRPr>
            </a:pPr>
            <a:r>
              <a:t>Los algoritmos ingieren datos de actividad digital continua: carga en servidores, transacciones diarias en Stripe, descargas en app stores, commits en GitHub y manifiestos de importación.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Modelos de Lenguaje como Auditores de Riesgo</a:t>
            </a:r>
          </a:p>
          <a:p>
            <a:pPr>
              <a:defRPr sz="1050">
                <a:solidFill>
                  <a:srgbClr val="3C322D"/>
                </a:solidFill>
                <a:latin typeface="Segoe UI"/>
              </a:defRPr>
            </a:pPr>
            <a:r>
              <a:t>Modelos fundacionales analizan contratos con clientes, reportes regulatorios e informes trimestrales, extrayendo alertas cualitativas para parametrizar la incertidumbre en los modelos de flujo.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6_ai_ml_forecasting_architectur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TELEMETRÍA OPERATIVA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17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Vinculando Operaciones al Flujo de Caja en Tiempo Real: El Bucle Digital</a:t>
            </a:r>
          </a:p>
          <a:p>
            <a:pPr>
              <a:defRPr sz="1200">
                <a:solidFill>
                  <a:srgbClr val="5A504B"/>
                </a:solidFill>
                <a:latin typeface="Segoe UI"/>
              </a:defRPr>
            </a:pPr>
            <a:r>
              <a:t>Eliminando el retraso contable mediante telemetría operativa conectada al FCF</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Rompiendo el Retraso de 30 Días de Cierre</a:t>
            </a:r>
          </a:p>
          <a:p>
            <a:pPr>
              <a:defRPr sz="1050">
                <a:solidFill>
                  <a:srgbClr val="3C322D"/>
                </a:solidFill>
                <a:latin typeface="Segoe UI"/>
              </a:defRPr>
            </a:pPr>
            <a:r>
              <a:t>La administración clásica toma decisiones con estados financieros entregados entre 15 y 30 días después del cierre de mes. La infraestructura digital conecta APIs de operación directamente a modelos de liquidez viva.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Optimización Dinámica de Capital de Trabajo</a:t>
            </a:r>
          </a:p>
          <a:p>
            <a:pPr>
              <a:defRPr sz="1050">
                <a:solidFill>
                  <a:srgbClr val="3C322D"/>
                </a:solidFill>
                <a:latin typeface="Segoe UI"/>
              </a:defRPr>
            </a:pPr>
            <a:r>
              <a:t>Agentes de IA ajustan inventarios mínimos y disparadores de cobro en tiempo real, comprimiendo el Ciclo de Conversión de Efectivo (CCC) y liberando liquidez atrapada.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Economía Unitaria por Micro-Cohortes</a:t>
            </a:r>
          </a:p>
          <a:p>
            <a:pPr>
              <a:defRPr sz="1050">
                <a:solidFill>
                  <a:srgbClr val="3C322D"/>
                </a:solidFill>
                <a:latin typeface="Segoe UI"/>
              </a:defRPr>
            </a:pPr>
            <a:r>
              <a:t>Monitorear continuamente el Costo de Adquisición (CAC), Retención Neta de Ingresos (NRR) y tiempo de recuperación por cohorte permite reasignar el presupuesto publicitario al instante.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7_realtime_operations_fcf_loop.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INCERTIDUMBRE Y RIESGO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18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Valoración Probabilística: Simulación Monte Carlo y Flujo en Riesgo</a:t>
            </a:r>
          </a:p>
          <a:p>
            <a:pPr>
              <a:defRPr sz="1200">
                <a:solidFill>
                  <a:srgbClr val="5A504B"/>
                </a:solidFill>
                <a:latin typeface="Segoe UI"/>
              </a:defRPr>
            </a:pPr>
            <a:r>
              <a:t>Sustituyendo la falsa certeza de un solo escenario con 100,000 realidades operativas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Falsa Seguridad del Escenario Base</a:t>
            </a:r>
          </a:p>
          <a:p>
            <a:pPr>
              <a:defRPr sz="1050">
                <a:solidFill>
                  <a:srgbClr val="3C322D"/>
                </a:solidFill>
                <a:latin typeface="Segoe UI"/>
              </a:defRPr>
            </a:pPr>
            <a:r>
              <a:t>Los planes de negocios tradicionales sufren de falsa precisión determinista. Los resultados de innovación son distribuciones probabilísticas con sesgo y colas anchas.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Simulación de Monte Carlo Computacional</a:t>
            </a:r>
          </a:p>
          <a:p>
            <a:pPr>
              <a:defRPr sz="1050">
                <a:solidFill>
                  <a:srgbClr val="3C322D"/>
                </a:solidFill>
                <a:latin typeface="Segoe UI"/>
              </a:defRPr>
            </a:pPr>
            <a:r>
              <a:t>Ejecutar 100,000 iteraciones simultáneas variando precios unitarios, costos de materias primas, ritmo de adopción y respuesta de competidores genera una densidad real de valoración.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Flujo de Caja en Riesgo (CFaR) y Solvencia</a:t>
            </a:r>
          </a:p>
          <a:p>
            <a:pPr>
              <a:defRPr sz="1050">
                <a:solidFill>
                  <a:srgbClr val="3C322D"/>
                </a:solidFill>
                <a:latin typeface="Segoe UI"/>
              </a:defRPr>
            </a:pPr>
            <a:r>
              <a:t>Cuantificar el percentil 5 de peor escenario de liquidez establece el Flujo de Caja en Riesgo (CFaR), permitiendo dimensionar con rigor el tamaño óptimo de las rondas de capital semilla.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8_monte_carlo_probabilistic_valuat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RIESGO FINANCIERO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19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Naturaleza del Riesgo: Volatilidad Aleatoria vs. Incertidumbre Knightiana</a:t>
            </a:r>
          </a:p>
          <a:p>
            <a:pPr>
              <a:defRPr sz="1200">
                <a:solidFill>
                  <a:srgbClr val="5A504B"/>
                </a:solidFill>
                <a:latin typeface="Segoe UI"/>
              </a:defRPr>
            </a:pPr>
            <a:r>
              <a:t>Por qué el futuro jamás puede asegurarse y cómo construir antifragilidad</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Riesgo Medible vs. Incertidumbre de Knight</a:t>
            </a:r>
          </a:p>
          <a:p>
            <a:pPr>
              <a:defRPr sz="1050">
                <a:solidFill>
                  <a:srgbClr val="3C322D"/>
                </a:solidFill>
                <a:latin typeface="Segoe UI"/>
              </a:defRPr>
            </a:pPr>
            <a:r>
              <a:t>El economista Frank Knight (1921) diferenció el riesgo (aleatoriedad medible con probabilidades conocidas) de la incertidumbre knightiana (sucesos inéditos donde las probabilidades son incalculables).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Peligro de la Confianza Ciega en Modelos de IA</a:t>
            </a:r>
          </a:p>
          <a:p>
            <a:pPr>
              <a:defRPr sz="1050">
                <a:solidFill>
                  <a:srgbClr val="3C322D"/>
                </a:solidFill>
                <a:latin typeface="Segoe UI"/>
              </a:defRPr>
            </a:pPr>
            <a:r>
              <a:t>Los algoritmos de series temporales calibrados en el pasado fallan ante cambios estructurales de régimen económico o rupturas tecnológicas; los modelos no eliminan la incertidumbre fundamental.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Diseñando Empresas de Innovación Antifrágiles</a:t>
            </a:r>
          </a:p>
          <a:p>
            <a:pPr>
              <a:defRPr sz="1050">
                <a:solidFill>
                  <a:srgbClr val="3C322D"/>
                </a:solidFill>
                <a:latin typeface="Segoe UI"/>
              </a:defRPr>
            </a:pPr>
            <a:r>
              <a:t>Como el futuro no puede predecirse con certeza, la estrategia financiera debe enfocarse en la supervivencia: mantener reservas de efectivo, costos variables flexibles y capacidad ágil de pivotar.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9_risk_vs_knightian_uncertaint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SÍNTESIS ESTRATÉGICA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20 / 20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400">
                <a:solidFill>
                  <a:srgbClr val="231F20"/>
                </a:solidFill>
                <a:latin typeface="Segoe UI"/>
              </a:defRPr>
            </a:pPr>
            <a:r>
              <a:t>La Brújula Financiera del Emprendedor: De la Visión al Valor Empresarial</a:t>
            </a:r>
          </a:p>
          <a:p>
            <a:pPr>
              <a:defRPr sz="1200">
                <a:solidFill>
                  <a:srgbClr val="5A504B"/>
                </a:solidFill>
                <a:latin typeface="Segoe UI"/>
              </a:defRPr>
            </a:pPr>
            <a:r>
              <a:t>Marco ejecutivo integrado para financiar y gobernar la innovación tecnológica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00">
                <a:solidFill>
                  <a:srgbClr val="231F20"/>
                </a:solidFill>
                <a:latin typeface="Segoe UI"/>
              </a:defRPr>
            </a:pPr>
            <a:r>
              <a:t>La Cadena Operativa-Financiera Integral</a:t>
            </a:r>
          </a:p>
          <a:p>
            <a:pPr>
              <a:defRPr sz="1050">
                <a:solidFill>
                  <a:srgbClr val="3C322D"/>
                </a:solidFill>
                <a:latin typeface="Segoe UI"/>
              </a:defRPr>
            </a:pPr>
            <a:r>
              <a:t>La innovación arranca con una visión operativa que define ingresos (P x Q), costos variables y estructura fija a través de horizontes crecientes de 1, 3, 5 y 10 años.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00">
                <a:solidFill>
                  <a:srgbClr val="231F20"/>
                </a:solidFill>
                <a:latin typeface="Segoe UI"/>
              </a:defRPr>
            </a:pPr>
            <a:r>
              <a:t>El Efectivo Libre como Árbitro Supremo</a:t>
            </a:r>
          </a:p>
          <a:p>
            <a:pPr>
              <a:defRPr sz="1050">
                <a:solidFill>
                  <a:srgbClr val="3C322D"/>
                </a:solidFill>
                <a:latin typeface="Segoe UI"/>
              </a:defRPr>
            </a:pPr>
            <a:r>
              <a:t>La valoración corporativa se cimienta en el Flujo de Caja Libre descontado por riesgo: una línea matemática que va desde Newton y Fisher hasta el desafío de los activos intangibles modernos.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00">
                <a:solidFill>
                  <a:srgbClr val="231F20"/>
                </a:solidFill>
                <a:latin typeface="Segoe UI"/>
              </a:defRPr>
            </a:pPr>
            <a:r>
              <a:t>Gobernanza Adaptativa Apoyada en IA</a:t>
            </a:r>
          </a:p>
          <a:p>
            <a:pPr>
              <a:defRPr sz="1050">
                <a:solidFill>
                  <a:srgbClr val="3C322D"/>
                </a:solidFill>
                <a:latin typeface="Segoe UI"/>
              </a:defRPr>
            </a:pPr>
            <a:r>
              <a:t>El emprendedor actual utiliza series temporales, IA predictiva y opciones reales no para eliminar la incertidumbre, sino para navegar el riesgo con disciplina cuantitativa y agilidad estratégica.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0_founders_financial_compas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Análisis Financiero para la Innovación y el Emprendimiento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