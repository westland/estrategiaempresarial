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136"/>
    <p:sldId id="259" r:id="rId137"/>
    <p:sldId id="260" r:id="rId138"/>
    <p:sldId id="261" r:id="rId139"/>
    <p:sldId id="262" r:id="rId140"/>
    <p:sldId id="263" r:id="rId141"/>
    <p:sldId id="264" r:id="rId142"/>
    <p:sldId id="265" r:id="rId143"/>
    <p:sldId id="266" r:id="rId144"/>
    <p:sldId id="267" r:id="rId145"/>
    <p:sldId id="268" r:id="rId146"/>
    <p:sldId id="269" r:id="rId147"/>
    <p:sldId id="270" r:id="rId148"/>
    <p:sldId id="271" r:id="rId149"/>
    <p:sldId id="272" r:id="rId150"/>
    <p:sldId id="273" r:id="rId151"/>
    <p:sldId id="274" r:id="rId152"/>
    <p:sldId id="275" r:id="rId153"/>
    <p:sldId id="276" r:id="rId154"/>
    <p:sldId id="277" r:id="rId155"/>
    <p:sldId id="278" r:id="rId156"/>
    <p:sldId id="279" r:id="rId157"/>
    <p:sldId id="280" r:id="rId158"/>
    <p:sldId id="281" r:id="rId159"/>
    <p:sldId id="282" r:id="rId160"/>
    <p:sldId id="283" r:id="rId161"/>
    <p:sldId id="284" r:id="rId162"/>
    <p:sldId id="285" r:id="rId163"/>
    <p:sldId id="286" r:id="rId164"/>
    <p:sldId id="287" r:id="rId165"/>
    <p:sldId id="288" r:id="rId166"/>
    <p:sldId id="289" r:id="rId167"/>
    <p:sldId id="290" r:id="rId168"/>
    <p:sldId id="291" r:id="rId169"/>
    <p:sldId id="292" r:id="rId170"/>
    <p:sldId id="293" r:id="rId171"/>
    <p:sldId id="294" r:id="rId172"/>
    <p:sldId id="295" r:id="rId173"/>
    <p:sldId id="296" r:id="rId174"/>
    <p:sldId id="297" r:id="rId175"/>
    <p:sldId id="298" r:id="rId176"/>
    <p:sldId id="299" r:id="rId177"/>
    <p:sldId id="300" r:id="rId178"/>
    <p:sldId id="301" r:id="rId179"/>
    <p:sldId id="302" r:id="rId180"/>
    <p:sldId id="303" r:id="rId181"/>
    <p:sldId id="304" r:id="rId182"/>
    <p:sldId id="305" r:id="rId183"/>
    <p:sldId id="306" r:id="rId184"/>
    <p:sldId id="307" r:id="rId185"/>
    <p:sldId id="308" r:id="rId186"/>
    <p:sldId id="309" r:id="rId187"/>
    <p:sldId id="310" r:id="rId188"/>
    <p:sldId id="311" r:id="rId189"/>
    <p:sldId id="312" r:id="rId190"/>
    <p:sldId id="313" r:id="rId191"/>
    <p:sldId id="314" r:id="rId192"/>
    <p:sldId id="315" r:id="rId19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78" y="10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presProps" Target="presProps.xml"/><Relationship Id="rId195" Type="http://schemas.openxmlformats.org/officeDocument/2006/relationships/viewProps" Target="viewProps.xml"/><Relationship Id="rId196" Type="http://schemas.openxmlformats.org/officeDocument/2006/relationships/theme" Target="theme/theme1.xml"/><Relationship Id="rId19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0.png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6.png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8.png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9.pn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1.png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2.png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4.png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5.pn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8.png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0.png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1.png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3.png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4.png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6.png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7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9.png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0.png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3.png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7.png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8.png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9.png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1. Bienvenidos a la Inteligencia Artificial en las Finanzas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Una Revolución Financiera: </a:t>
            </a:r>
            <a:r>
              <a:rPr sz="1300">
                <a:solidFill>
                  <a:srgbClr val="3D2314"/>
                </a:solidFill>
                <a:latin typeface="Segoe UI"/>
              </a:rPr>
              <a:t>Antes, ir al banco significaba manejar hasta un edificio de piedra, hacer fila y firmar cheques de papel. Hoy, algoritmos informáticos mueven billones en segundos.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Lo Que Aprenderás: </a:t>
            </a:r>
            <a:r>
              <a:rPr sz="1300">
                <a:solidFill>
                  <a:srgbClr val="3D2314"/>
                </a:solidFill>
                <a:latin typeface="Segoe UI"/>
              </a:rPr>
              <a:t>Cómo la IA aprueba hipotecas en minutos, cómo los fondos de inversión automatizados operan en bolsa y cómo los intercambios de criptomonedas funcionan 24/7.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 Apps a Empresas Vivas: </a:t>
            </a:r>
            <a:r>
              <a:rPr sz="1300">
                <a:solidFill>
                  <a:srgbClr val="3D2314"/>
                </a:solidFill>
                <a:latin typeface="Segoe UI"/>
              </a:rPr>
              <a:t>Verás cómo los bots compran y venden activos, cómo la biometría detecta fraudes y por qué Jack Dorsey rediseña los bancos como 'cerebros vivos.'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Gran Idea: ¡No solo estás aprendiendo cómo funciona el dinero, estás aprendiendo a liderar un ejército digital de bots financieros y asesores autónomos!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1: Robots de IA inteligentes transformando la banca moderna y los mercados financieros.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 de 60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2. De las Cajas del Banco a las Pantallas del Celular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Modelo Tradicional (Sucursales): </a:t>
            </a:r>
            <a:r>
              <a:rPr sz="1300">
                <a:solidFill>
                  <a:srgbClr val="3D2314"/>
                </a:solidFill>
                <a:latin typeface="Segoe UI"/>
              </a:rPr>
              <a:t>Hace diez años, pedir un préstamo para un auto o abrir una cuenta de ahorro requería visitar una sucursal y esperar días por una respuesta.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Nuevo Modelo (Apps FinTech): </a:t>
            </a:r>
            <a:r>
              <a:rPr sz="1300">
                <a:solidFill>
                  <a:srgbClr val="3D2314"/>
                </a:solidFill>
                <a:latin typeface="Segoe UI"/>
              </a:rPr>
              <a:t>Hoy, en Cash App, Nu o apps de banca digital, el dinero se mueve deslizando el dedo. Los créditos y las criptomonedas llegan directo a tu celular.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 Escala Global: </a:t>
            </a:r>
            <a:r>
              <a:rPr sz="1300">
                <a:solidFill>
                  <a:srgbClr val="3D2314"/>
                </a:solidFill>
                <a:latin typeface="Segoe UI"/>
              </a:rPr>
              <a:t>Los pagos digitales y las inversiones automáticas procesan más de $10 billones de dólares al año, reemplazando los cheques de papel en todo el planeta.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Piénsalo así: Una sucursal bancaria tradicional es como una caseta telefónica. ¡Una app FinTech moderna es como un banco supercomputadora en tu bolsillo!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2: Fila en una sucursal tradicional frente a una app bancaria móvil instantánea.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 de 60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3. Búsqueda Financiera: Captando Clientes con Necesidad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Valor de la Necesidad: </a:t>
            </a:r>
            <a:r>
              <a:rPr sz="1300">
                <a:solidFill>
                  <a:srgbClr val="3D2314"/>
                </a:solidFill>
                <a:latin typeface="Segoe UI"/>
              </a:rPr>
              <a:t>Cuando alguien busca en Google 'refinanciar hipoteca 30 años' o 'préstamo urgente para negocio', ¡está listo para contratar inmediatamente!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Clics Millonarios: </a:t>
            </a:r>
            <a:r>
              <a:rPr sz="1300">
                <a:solidFill>
                  <a:srgbClr val="3D2314"/>
                </a:solidFill>
                <a:latin typeface="Segoe UI"/>
              </a:rPr>
              <a:t>Las palabras clave de finanzas son las más caras del mundo. Los bancos pagan hasta $50 o $100 dólares por un solo clic porque un crédito les genera miles.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Decisión Instantánea: </a:t>
            </a:r>
            <a:r>
              <a:rPr sz="1300">
                <a:solidFill>
                  <a:srgbClr val="3D2314"/>
                </a:solidFill>
                <a:latin typeface="Segoe UI"/>
              </a:rPr>
              <a:t>Quien responda al usuario con una pre-aprobación digital en segundos se queda con el cliente antes de que los rivales abran su oficina.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Recuerda: Buscar un préstamo es una necesidad urgente. Quien responde con velocidad y tasas bajas se gana la lealtad del cliente.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3: Una lupa identificando usuarios listos para solicitar una hipoteca.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 de 60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4. El Feed Infinito: Vendiendo Cripto y Emoción Financiera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Atrayendo al Inversionista Joven: </a:t>
            </a:r>
            <a:r>
              <a:rPr sz="1300">
                <a:solidFill>
                  <a:srgbClr val="3D2314"/>
                </a:solidFill>
                <a:latin typeface="Segoe UI"/>
              </a:rPr>
              <a:t>Las redes sociales y apps de trading usan alertas, gráficas verdes y notificaciones para que revises el precio de las acciones todo el día.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Inversión Gamificada: </a:t>
            </a:r>
            <a:r>
              <a:rPr sz="1300">
                <a:solidFill>
                  <a:srgbClr val="3D2314"/>
                </a:solidFill>
                <a:latin typeface="Segoe UI"/>
              </a:rPr>
              <a:t>Las apps celebran tus compras con confeti virtual y tablas de clasificación, haciendo que invertir se sienta tan adictivo como un videojuego.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Auge Viral: </a:t>
            </a:r>
            <a:r>
              <a:rPr sz="1300">
                <a:solidFill>
                  <a:srgbClr val="3D2314"/>
                </a:solidFill>
                <a:latin typeface="Segoe UI"/>
              </a:rPr>
              <a:t>Cuando los algoritmos de TikTok o X impulsan videos sobre una nueva criptomoneda o acción viral, millones de dólares entran en cuestión de horas.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Regla Clave: En las finanzas modernas, la atención mueve el capital. ¡Un activo que domina las redes sociales puede dispararse antes de que Wall Street despierte!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4: Un teléfono mostrando gráficas bursátiles y compras instantáneas de cripto.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 de 60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5. La Tubería Oculta de las FinTech: Cómo Viaja el Dinero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Detrás de la Tarjeta de Débito: </a:t>
            </a:r>
            <a:r>
              <a:rPr sz="1300">
                <a:solidFill>
                  <a:srgbClr val="3D2314"/>
                </a:solidFill>
                <a:latin typeface="Segoe UI"/>
              </a:rPr>
              <a:t>Cuando pagas con tarjeta en una tienda o compras Bitcoin en línea, una red invisible de tuberías financieras se activa al instante.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Los 4 Pasos Clave: </a:t>
            </a:r>
            <a:r>
              <a:rPr sz="1300">
                <a:solidFill>
                  <a:srgbClr val="3D2314"/>
                </a:solidFill>
                <a:latin typeface="Segoe UI"/>
              </a:rPr>
              <a:t>1. El Cliente paga -&gt; 2. La Pasarela FinTech (Stripe/Mercado Pago) -&gt; 3. La Cámara de Compensación -&gt; 4. La Bóveda o Registro del Banco.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Liquidación Electrónica: </a:t>
            </a:r>
            <a:r>
              <a:rPr sz="1300">
                <a:solidFill>
                  <a:srgbClr val="3D2314"/>
                </a:solidFill>
                <a:latin typeface="Segoe UI"/>
              </a:rPr>
              <a:t>Miles de computadoras verifican saldos, previenen fraudes y transfieren fondos entre países en menos de dos segundos.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Imagínalo como la red eléctrica: presionas un interruptor (tu tarjeta) y la energía viaja de inmediato por kilómetros de cables.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5: Las cuatro tuberías digitales que mueven el dinero a nivel global.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 de 60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6. Operaciones en 5 Milisegundos: Mercados de Alta Frecuencia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Velocidad de Wall Street: </a:t>
            </a:r>
            <a:r>
              <a:rPr sz="1300">
                <a:solidFill>
                  <a:srgbClr val="3D2314"/>
                </a:solidFill>
                <a:latin typeface="Segoe UI"/>
              </a:rPr>
              <a:t>Los operadores humanos que gritaban en los pisos de remate fueron reemplazados por algoritmos de fibra óptica de ultra alta velocidad.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Más Rápido que un Parpadeo: </a:t>
            </a:r>
            <a:r>
              <a:rPr sz="1300">
                <a:solidFill>
                  <a:srgbClr val="3D2314"/>
                </a:solidFill>
                <a:latin typeface="Segoe UI"/>
              </a:rPr>
              <a:t>Un ojo humano parpadea en 300 milisegundos. ¡Las computadoras de alta frecuencia analizan noticias y operan acciones en menos de 5 milisegundos!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Liquidez Algorítmica: </a:t>
            </a:r>
            <a:r>
              <a:rPr sz="1300">
                <a:solidFill>
                  <a:srgbClr val="3D2314"/>
                </a:solidFill>
                <a:latin typeface="Segoe UI"/>
              </a:rPr>
              <a:t>Estos programas compran y venden millones de acciones por segundo, garantizando que siempre puedas comprar o vender activos cuando quieras.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¿Sabías qué? Más del 70% de las operaciones en bolsa y cripto las ejecutan programas autónomos sin intervención humana directa.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6: Un cronómetro mostrando transacciones financieras ejecutadas en 0.005 segundos.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6 de 60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7. El Libro de Órdenes: Cómo Coinciden Compradores y Vendedores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Bazar Digital: </a:t>
            </a:r>
            <a:r>
              <a:rPr sz="1300">
                <a:solidFill>
                  <a:srgbClr val="3D2314"/>
                </a:solidFill>
                <a:latin typeface="Segoe UI"/>
              </a:rPr>
              <a:t>Cada bolsa financiera (la Bolsa de Valores, Nasdaq, Coinbase) funciona con un motor de coincidencia electrónica.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Posturas de Compra y Venta: </a:t>
            </a:r>
            <a:r>
              <a:rPr sz="1300">
                <a:solidFill>
                  <a:srgbClr val="3D2314"/>
                </a:solidFill>
                <a:latin typeface="Segoe UI"/>
              </a:rPr>
              <a:t>Los compradores ofrecen 'Bids' (precio máximo a pagar); los vendedores piden 'Asks' (precio mínimo que aceptan).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Cierre del Trato: </a:t>
            </a:r>
            <a:r>
              <a:rPr sz="1300">
                <a:solidFill>
                  <a:srgbClr val="3D2314"/>
                </a:solidFill>
                <a:latin typeface="Segoe UI"/>
              </a:rPr>
              <a:t>Cuando la oferta del comprador coincide con el precio del vendedor, la orden se ejecuta al instante, fijando el precio de mercado.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El precio no es magia: es el punto exacto donde el comprador más interesado y el vendedor más dispuesto se dan la mano en el libro de órdenes.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7: Un libro electrónico de bolsa cruzando ofertas de compra y venta.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7 de 60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8. Historial Crediticio y Riesgo: Tu 'Calificación de Calidad'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No Todos Pagan la Misma Tasa: </a:t>
            </a:r>
            <a:r>
              <a:rPr sz="1300">
                <a:solidFill>
                  <a:srgbClr val="3D2314"/>
                </a:solidFill>
                <a:latin typeface="Segoe UI"/>
              </a:rPr>
              <a:t>Los bancos evalúan a las personas igual que Google a los anuncios. ¡Tu historial crediticio define cuánto te cuesta el dinero!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Matemática del Riesgo: </a:t>
            </a:r>
            <a:r>
              <a:rPr sz="1300">
                <a:solidFill>
                  <a:srgbClr val="3D2314"/>
                </a:solidFill>
                <a:latin typeface="Segoe UI"/>
              </a:rPr>
              <a:t>Excelente Historial (750+ pts) = Cliente confiable, tasas bajas (ej. hipoteca al 9%). Mal Historial (550 pts) = Alto riesgo, tasas de castigo (ej. 45%).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Evaluación con IA: </a:t>
            </a:r>
            <a:r>
              <a:rPr sz="1300">
                <a:solidFill>
                  <a:srgbClr val="3D2314"/>
                </a:solidFill>
                <a:latin typeface="Segoe UI"/>
              </a:rPr>
              <a:t>La IA moderna va más allá de un puntaje tradicional: analiza el pago de servicios, flujos de efectivo y hábitos para otorgar créditos justos.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Regla Financiera: Tener una buena reputación crediticia te ahorra cientos de miles de pesos en intereses a lo largo de tu vida.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8: Un medidor de historial crediticio marcando un nivel excelente de 780 puntos.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8 de 60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9. El Impuesto de los Intermediarios: A Dónde van las Comisiones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Fuga en las Finanzas Tradicionales: </a:t>
            </a:r>
            <a:r>
              <a:rPr sz="1300">
                <a:solidFill>
                  <a:srgbClr val="3D2314"/>
                </a:solidFill>
                <a:latin typeface="Segoe UI"/>
              </a:rPr>
              <a:t>Cada vez que mueves dinero por el sistema bancario tradicional, varios intermediarios cobran una comisión.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Comisiones en Todos Lados: </a:t>
            </a:r>
            <a:r>
              <a:rPr sz="1300">
                <a:solidFill>
                  <a:srgbClr val="3D2314"/>
                </a:solidFill>
                <a:latin typeface="Segoe UI"/>
              </a:rPr>
              <a:t>Transferencias internacionales ($25 USD), comisiones por pasar la tarjeta (2-3%), cargos por sobregiro y tarifas de gestión en fondos de inversión.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Disrupción FinTech: </a:t>
            </a:r>
            <a:r>
              <a:rPr sz="1300">
                <a:solidFill>
                  <a:srgbClr val="3D2314"/>
                </a:solidFill>
                <a:latin typeface="Segoe UI"/>
              </a:rPr>
              <a:t>La IA y las redes cripto buscan eliminar estos intermediarios para enviar dinero directamente de persona a persona a costo casi cero.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bancos tradicionales cobran peaje en cada puente. La IA y las criptomonedas crean una autopista directa para que conserves tu propio dinero.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9: Un embudo que muestra $1,000 enviados y $40 perdidos en comisiones bancarias.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9 de 60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1: CÓMO FUNCIONAN REALMENTE LAS FINANZAS MODERNAS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10. Banca Abierta y Cripto: Las Nuevas Vías Financieras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Rompiendo el Monopolio Bancario: </a:t>
            </a:r>
            <a:r>
              <a:rPr sz="1300">
                <a:solidFill>
                  <a:srgbClr val="3D2314"/>
                </a:solidFill>
                <a:latin typeface="Segoe UI"/>
              </a:rPr>
              <a:t>Antes, los bancos guardaban tu historial bajo llave para que no pudieras cambiarte a una opción más barata.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APIs de Banca Abierta (Open Banking): </a:t>
            </a:r>
            <a:r>
              <a:rPr sz="1300">
                <a:solidFill>
                  <a:srgbClr val="3D2314"/>
                </a:solidFill>
                <a:latin typeface="Segoe UI"/>
              </a:rPr>
              <a:t>Las nuevas leyes obligan a los bancos a permitirte conectar tus datos financieros a apps de presupuesto y asesores de inversión de forma segura.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Soberanía con Criptografía: </a:t>
            </a:r>
            <a:r>
              <a:rPr sz="1300">
                <a:solidFill>
                  <a:srgbClr val="3D2314"/>
                </a:solidFill>
                <a:latin typeface="Segoe UI"/>
              </a:rPr>
              <a:t>Las criptomonedas van aún más lejos: guardas tu dinero en tu propia billetera digital sin pedirle permiso al gerente de ningún banco.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Recuerda: Tus datos financieros te pertenecen a TI, no a tu banco. La banca abierta te permite poner tu dinero a rendir donde más te convenga.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10: Una cuenta bancaria conectada de forma segura mediante un token de API encriptado.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10 de 60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11. El Fin de los Asesores Financieros Tradicionales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Modelo Anterior: </a:t>
            </a:r>
            <a:r>
              <a:rPr sz="1300">
                <a:solidFill>
                  <a:srgbClr val="3D2314"/>
                </a:solidFill>
                <a:latin typeface="Segoe UI"/>
              </a:rPr>
              <a:t>Reunirte con un asesor una vez al año para revisar folletos en papel confusos y pagarle una comisión anual del 1% o más.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Asesor Robot (Robo-Advisor): </a:t>
            </a:r>
            <a:r>
              <a:rPr sz="1300">
                <a:solidFill>
                  <a:srgbClr val="3D2314"/>
                </a:solidFill>
                <a:latin typeface="Segoe UI"/>
              </a:rPr>
              <a:t>Software inteligente que analiza tus metas de ahorro, tu retiro y el riesgo del mercado todos los días de forma automática.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Personalización Instantánea: </a:t>
            </a:r>
            <a:r>
              <a:rPr sz="1300">
                <a:solidFill>
                  <a:srgbClr val="3D2314"/>
                </a:solidFill>
                <a:latin typeface="Segoe UI"/>
              </a:rPr>
              <a:t>En lugar de un consejo genérico, la IA crea un plan adaptado exactamente a tus ingresos, gastos familiares y proyectos a futuro.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Piénsalo así: En vez de pagarle una fortuna a un contador una hora al año, ¡tienes a un genio financiero cuidando tu dinero 24/7!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11: Un globo de diálogo de IA reemplazando un folleto financiero de papel.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11 de 60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12. Optimización Generativa (GEO): Recomendar Fondos y Cripto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GEO en Finanzas: </a:t>
            </a:r>
            <a:r>
              <a:rPr sz="1300">
                <a:solidFill>
                  <a:srgbClr val="3D2314"/>
                </a:solidFill>
                <a:latin typeface="Segoe UI"/>
              </a:rPr>
              <a:t>Cuando un cliente le pregunta a ChatGPT: '¿Cuál es la forma más segura de invertir $5,000 pesos hoy?', ¿cómo decide el modelo?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Verdad Objetiva Gana: </a:t>
            </a:r>
            <a:r>
              <a:rPr sz="1300">
                <a:solidFill>
                  <a:srgbClr val="3D2314"/>
                </a:solidFill>
                <a:latin typeface="Segoe UI"/>
              </a:rPr>
              <a:t>Los modelos de IA analizan rendimientos auditados, comisiones bajas, calificaciones de seguridad y transparencia, no anuncios ruidosos.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Nueva Competencia Financiera: </a:t>
            </a:r>
            <a:r>
              <a:rPr sz="1300">
                <a:solidFill>
                  <a:srgbClr val="3D2314"/>
                </a:solidFill>
                <a:latin typeface="Segoe UI"/>
              </a:rPr>
              <a:t>Los fondos de inversión y proyectos cripto deben demostrar solidez matemática para que los sistemas de IA los recomienden.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En la era de la IA, no puedes comprar la cima con publicidad engañosa. Los algoritmos recomiendan las instituciones con el mejor desempeño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12: Un asesor financiero de IA comparando fondos indexados, bonos y ETFs de Bitcoin.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12 de 60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13. De Calculadoras a Robo-Traders: Inteligencia Artificial que Actúa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Más Allá del Cálculo: </a:t>
            </a:r>
            <a:r>
              <a:rPr sz="1300">
                <a:solidFill>
                  <a:srgbClr val="3D2314"/>
                </a:solidFill>
                <a:latin typeface="Segoe UI"/>
              </a:rPr>
              <a:t>El software antiguo solo calculaba el interés compuesto. ¡Los 'Do-Bots' modernos ejecutan operaciones financieras reales!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Rebalanceo Automático: </a:t>
            </a:r>
            <a:r>
              <a:rPr sz="1300">
                <a:solidFill>
                  <a:srgbClr val="3D2314"/>
                </a:solidFill>
                <a:latin typeface="Segoe UI"/>
              </a:rPr>
              <a:t>Si las acciones suben mucho y tu portafolio se vuelve arriesgado, tu bot vende acciones y compra bonos para protegerte.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Aprovechamiento Fiscal: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de IA compensan impuestos vendiendo activos con pérdidas y recomprando equivalentes en fracciones de segundo.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Un asesor robot moderno no solo te da consejos: ¡toma el teclado financiero y administra tu dinero mientras duermes!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13: Un robot presionando el botón 'Auto-Rebalanceo' en un portafolio de inversión.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13 de 60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14. Acceso Instantáneo a Cripto: Comprar con un Toque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Eliminando Fricciones: </a:t>
            </a:r>
            <a:r>
              <a:rPr sz="1300">
                <a:solidFill>
                  <a:srgbClr val="3D2314"/>
                </a:solidFill>
                <a:latin typeface="Segoe UI"/>
              </a:rPr>
              <a:t>Comprar criptomonedas antes requería transferencias bancarias lentas, subir fotos de pasaportes y esperar hasta 5 días hábiles.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Milagro de Cash App y Stripe: </a:t>
            </a:r>
            <a:r>
              <a:rPr sz="1300">
                <a:solidFill>
                  <a:srgbClr val="3D2314"/>
                </a:solidFill>
                <a:latin typeface="Segoe UI"/>
              </a:rPr>
              <a:t>Con Apple Pay y reconocimiento facial (FaceID), un usuario compra $50 dólares de Bitcoin o fondos indexados en dos segundos.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Velocidad de Conversión: </a:t>
            </a:r>
            <a:r>
              <a:rPr sz="1300">
                <a:solidFill>
                  <a:srgbClr val="3D2314"/>
                </a:solidFill>
                <a:latin typeface="Segoe UI"/>
              </a:rPr>
              <a:t>Cada segundo extra que un cliente espera para fondear su cuenta provoca que el 25% de los usuarios abandone la operación.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Regla de las finanzas digitales: Cuando eliminas las barreras entre el dinero del usuario y la inversión, el volumen de operaciones se dispara.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14: Un teléfono confirmando una compra instantánea de Bitcoin con FaceID.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14 de 60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15. Bienvenidos a MarketBook: La Arena FinTech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¿Qué es MarketBook? </a:t>
            </a:r>
            <a:r>
              <a:rPr sz="1300">
                <a:solidFill>
                  <a:srgbClr val="3D2314"/>
                </a:solidFill>
                <a:latin typeface="Segoe UI"/>
              </a:rPr>
              <a:t>Una simulación financiera de alta velocidad donde los estudiantes usan bots de IA autónomos para colocar productos y negociar activos.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Mercado de Bots: </a:t>
            </a:r>
            <a:r>
              <a:rPr sz="1300">
                <a:solidFill>
                  <a:srgbClr val="3D2314"/>
                </a:solidFill>
                <a:latin typeface="Segoe UI"/>
              </a:rPr>
              <a:t>Tus bots negocian microcréditos, ofrecen fondos mutuos y cubren riesgos cambiarios con los bots de tus compañeros cada 30 a 120 segundos.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Evaluador Grade-Bot: </a:t>
            </a:r>
            <a:r>
              <a:rPr sz="1300">
                <a:solidFill>
                  <a:srgbClr val="3D2314"/>
                </a:solidFill>
                <a:latin typeface="Segoe UI"/>
              </a:rPr>
              <a:t>Un juez financiero basado en GPT-4 analiza cada contrato cerrado, evaluando tu rendimiento ajustado por riesgo y la confianza del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MarketBook es tu simulador de vuelo financiero: ¡aprendes a gestionar un fondo de inversión o un banco digital sin arriesgar dinero real!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15: Tres bots financieros de estudiantes ofreciendo préstamos en una arena de pruebas.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15 de 60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16. Diseñando tu Bot Financiero: Perfil, Meta y Reglas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Campo 1 - Perfil de Inversión: </a:t>
            </a:r>
            <a:r>
              <a:rPr sz="1300">
                <a:solidFill>
                  <a:srgbClr val="3D2314"/>
                </a:solidFill>
                <a:latin typeface="Segoe UI"/>
              </a:rPr>
              <a:t>Cómo actúa tu bot: ¿es un administrador prudente de bonos, un operador audaz de cripto o un asesor de préstamos familiares?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Campo 2 - Guion de Negociación (Meta): </a:t>
            </a:r>
            <a:r>
              <a:rPr sz="1300">
                <a:solidFill>
                  <a:srgbClr val="3D2314"/>
                </a:solidFill>
                <a:latin typeface="Segoe UI"/>
              </a:rPr>
              <a:t>El servicio exacto a cerrar (ej. 'convencer a otros bots de refinanciar sus créditos a una tasa fija del 7%').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Campo 3 - Reglas de Riesgo: </a:t>
            </a:r>
            <a:r>
              <a:rPr sz="1300">
                <a:solidFill>
                  <a:srgbClr val="3D2314"/>
                </a:solidFill>
                <a:latin typeface="Segoe UI"/>
              </a:rPr>
              <a:t>¡Límites indispensables! Evitan que tu bot tome un apalancamiento excesivo, viole normas financieras o pierda el capital del cliente.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Recuerda: Un bot financiero sin límites puede vaciar un fondo en minutos. ¡Tus reglas de riesgo son tu mejor herramienta de seguridad!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16: Una libreta de diseño mostrando Personalidad, Producto y Límites de Riesgo.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16 de 60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17. Asesoría Financiera: Educación frente a Trampas Abusivas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Misión: </a:t>
            </a:r>
            <a:r>
              <a:rPr sz="1300">
                <a:solidFill>
                  <a:srgbClr val="3D2314"/>
                </a:solidFill>
                <a:latin typeface="Segoe UI"/>
              </a:rPr>
              <a:t>En conversaciones en vivo, tu bot debe orientar a clientes sobre hipotecas e inversiones usando Generación Aumentada por Recuperación (RAG).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Datos Verificados: </a:t>
            </a:r>
            <a:r>
              <a:rPr sz="1300">
                <a:solidFill>
                  <a:srgbClr val="3D2314"/>
                </a:solidFill>
                <a:latin typeface="Segoe UI"/>
              </a:rPr>
              <a:t>Tu bot consulta tablas de amortización reales y costos de comisiones para dar asesoría sólida y transparente sin inventar cifras.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Castigo por Abuso: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que intentan engañar a los clientes con créditos trampa (como tasas del 300%) son descalificados de inmediato por Grade-Bot.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verdadera riqueza financiera se construye con la confianza del cliente a largo plazo y el interés compuesto honesto, no con trampas abusivas.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17: Un bot presentando datos de fondos indexados mientras se rechazan préstamos abusivos.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17 de 60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2: IA QUE ASESORA, PRESTA Y ACTÚA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18. Construyendo Confianza: El Hype Cripto y el 'Impuesto Ponzi'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Manejando la Fiebre del Mercado: </a:t>
            </a:r>
            <a:r>
              <a:rPr sz="1300">
                <a:solidFill>
                  <a:srgbClr val="3D2314"/>
                </a:solidFill>
                <a:latin typeface="Segoe UI"/>
              </a:rPr>
              <a:t>En redes sociales, tu bot debe crear una comunidad seria en torno a un nuevo activo digital o producto de ahorro.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Temido Impuesto Ponzi: </a:t>
            </a:r>
            <a:r>
              <a:rPr sz="1300">
                <a:solidFill>
                  <a:srgbClr val="3D2314"/>
                </a:solidFill>
                <a:latin typeface="Segoe UI"/>
              </a:rPr>
              <a:t>Si tu bot promete ganancias imposibles ('¡Gana 10,000% garantizado!'), Grade-Bot te aplica un castigo automático de -100 puntos.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Valor Sostenible: </a:t>
            </a:r>
            <a:r>
              <a:rPr sz="1300">
                <a:solidFill>
                  <a:srgbClr val="3D2314"/>
                </a:solidFill>
                <a:latin typeface="Segoe UI"/>
              </a:rPr>
              <a:t>Ganas explicando la utilidad real: transferencias internacionales más baratas, pagos rápidos o rendimientos estables y verificados.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Regla Cripto y Financiera: Si un rendimiento suena demasiado bueno para ser verdad, ¡es una trampa! Grade-Bot premia la utilidad real, no el engaño.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18: Un megáfono gritando promesas cripto falsas castigado con un sello de '-100 PUNTOS IMPUESTO PONZI'.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18 de 60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19. Rastreo Ocular en Finanzas: Observando al Prestatario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¿A Dónde Va la Mirada? </a:t>
            </a:r>
            <a:r>
              <a:rPr sz="1300">
                <a:solidFill>
                  <a:srgbClr val="3D2314"/>
                </a:solidFill>
                <a:latin typeface="Segoe UI"/>
              </a:rPr>
              <a:t>Cuando un cliente solicita una hipoteca por internet, cámaras de seguimiento ocular revelan qué cláusulas lee y cuáles pasa por alto.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Detectar Confusión: </a:t>
            </a:r>
            <a:r>
              <a:rPr sz="1300">
                <a:solidFill>
                  <a:srgbClr val="3D2314"/>
                </a:solidFill>
                <a:latin typeface="Segoe UI"/>
              </a:rPr>
              <a:t>Si la mirada del usuario brinca con ansiedad en la sección de comisiones, la IA del banco puede desplegar un video explicativo al instante.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Atención de Operadores en Wall Street: </a:t>
            </a:r>
            <a:r>
              <a:rPr sz="1300">
                <a:solidFill>
                  <a:srgbClr val="3D2314"/>
                </a:solidFill>
                <a:latin typeface="Segoe UI"/>
              </a:rPr>
              <a:t>Los fondos usan seguimiento de mirada en los escritorios de trading para medir el cansancio de los operadores y evitar errores graves.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clics le dicen al banco que el cliente aceptó los términos. ¡El rastreo ocular le dice al banco si el cliente realmente los entendió!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19: Una mira ocular siguiendo la lectura de un cliente en una solicitud de crédito.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19 de 60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20. Detectando Estrés Financiero a Través de las Pupilas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Telemetría Biológica: </a:t>
            </a:r>
            <a:r>
              <a:rPr sz="1300">
                <a:solidFill>
                  <a:srgbClr val="3D2314"/>
                </a:solidFill>
                <a:latin typeface="Segoe UI"/>
              </a:rPr>
              <a:t>Ante el pánico de perder ahorros o la euforia de una ganancia repentina, las pupilas humanas se dilatan de forma involuntaria.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Evitar el Sobre-Apalancamiento: </a:t>
            </a:r>
            <a:r>
              <a:rPr sz="1300">
                <a:solidFill>
                  <a:srgbClr val="3D2314"/>
                </a:solidFill>
                <a:latin typeface="Segoe UI"/>
              </a:rPr>
              <a:t>Si los ojos de un operador muestran sobrecarga extrema de estrés, los sistemas de seguridad pueden bloquear apuestas imprudentes.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Honestidad en Préstamos: </a:t>
            </a:r>
            <a:r>
              <a:rPr sz="1300">
                <a:solidFill>
                  <a:srgbClr val="3D2314"/>
                </a:solidFill>
                <a:latin typeface="Segoe UI"/>
              </a:rPr>
              <a:t>Microexpresiones y pausas en la mirada permiten detectar vacilaciones cuando una persona declara ingresos en un formulario de crédito.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Tu mente consciente puede intentar mantener la calma, pero tus pupilas revelan de forma involuntaria el miedo, el estrés y la codicia.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20: La pupila serena de un inversionista frente a la pupila dilatada de un operador en pánico.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20 de 60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21. FinTech Foveal: Términos Claros Donde Miras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Enfoque Preciso: </a:t>
            </a:r>
            <a:r>
              <a:rPr sz="1300">
                <a:solidFill>
                  <a:srgbClr val="3D2314"/>
                </a:solidFill>
                <a:latin typeface="Segoe UI"/>
              </a:rPr>
              <a:t>El ojo humano solo ve con nitidez en el centro de la mirada (fóvea); la visión periférica es naturalmente borrosa.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Revelación Foveal: </a:t>
            </a:r>
            <a:r>
              <a:rPr sz="1300">
                <a:solidFill>
                  <a:srgbClr val="3D2314"/>
                </a:solidFill>
                <a:latin typeface="Segoe UI"/>
              </a:rPr>
              <a:t>Cuando el cliente revisa una tarjeta de crédito, la tasa de interés y comisiones se despliegan en alta resolución justo donde está mirando.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Protección Regulatoria: </a:t>
            </a:r>
            <a:r>
              <a:rPr sz="1300">
                <a:solidFill>
                  <a:srgbClr val="3D2314"/>
                </a:solidFill>
                <a:latin typeface="Segoe UI"/>
              </a:rPr>
              <a:t>Las leyes exigen contratos transparentes. El diseño foveal demuestra que el cliente vio con total claridad las condiciones del préstamo.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bancos ya no pueden esconder letras chiquitas en las esquinas de los contratos. La IA pone las condiciones frente a los ojos del usuario.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21: Un círculo nítido mostrando la tasa de interés rodeado de visión periférica difusa.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21 de 60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22. Banca Líquida: Alivio de Pagos en Tiempo Real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Software que Siente la Dificultad: </a:t>
            </a:r>
            <a:r>
              <a:rPr sz="1300">
                <a:solidFill>
                  <a:srgbClr val="3D2314"/>
                </a:solidFill>
                <a:latin typeface="Segoe UI"/>
              </a:rPr>
              <a:t>Si la IA del banco detecta que el saldo del usuario es peligroso y sus patrones de gasto reflejan estrés financiero: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Prórroga Automática: </a:t>
            </a:r>
            <a:r>
              <a:rPr sz="1300">
                <a:solidFill>
                  <a:srgbClr val="3D2314"/>
                </a:solidFill>
                <a:latin typeface="Segoe UI"/>
              </a:rPr>
              <a:t>En lugar de cobrarle una comisión de castigo de $35 dólares por sobregiro, el banco le concede 5 días de gracia sin intereses.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Beneficio Mutuo: </a:t>
            </a:r>
            <a:r>
              <a:rPr sz="1300">
                <a:solidFill>
                  <a:srgbClr val="3D2314"/>
                </a:solidFill>
                <a:latin typeface="Segoe UI"/>
              </a:rPr>
              <a:t>Evitar que el cliente caiga en mora mantiene su lealtad y le ahorra al banco miles de pesos en procesos de cobranza.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bancos tradicionales castigan al cliente cuando no tiene dinero. La banca inteligente se anticipa para ayudarlo a mantenerse al día.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22: Una app bancaria transformando una alerta de sobregiro en un período de gracia inmediato.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22 de 60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23. Deepfakes en Finanzas: El Fraude del Falso Director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Robo de Millones: </a:t>
            </a:r>
            <a:r>
              <a:rPr sz="1300">
                <a:solidFill>
                  <a:srgbClr val="3D2314"/>
                </a:solidFill>
                <a:latin typeface="Segoe UI"/>
              </a:rPr>
              <a:t>Los ciberdelincuentes crean clones hiperrealistas en video de directores financieros (CFOs) para videollamadas en tiempo real.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Trampa de $25 Millones: </a:t>
            </a:r>
            <a:r>
              <a:rPr sz="1300">
                <a:solidFill>
                  <a:srgbClr val="3D2314"/>
                </a:solidFill>
                <a:latin typeface="Segoe UI"/>
              </a:rPr>
              <a:t>En 2024, un empleado en Hong Kong transfirió $25 millones de dólares tras una videollamada con un directivo y consejo falsos generados por IA.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Clonación de Voz: </a:t>
            </a:r>
            <a:r>
              <a:rPr sz="1300">
                <a:solidFill>
                  <a:srgbClr val="3D2314"/>
                </a:solidFill>
                <a:latin typeface="Segoe UI"/>
              </a:rPr>
              <a:t>Los estafadores clonan la voz de un gerente en 3 segundos para autorizar transferencias de emergencia por teléfono.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Alerta: En las finanzas modernas, jamás transfieras fondos basándote solo en una videollamada o voz. ¡Confía, pero verifica con claves criptográficas!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23: Un robot titiritero con traje ejecutivo manipulando una videollamada falsa.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23 de 60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24. DeepGaze: Defensa Biométrica para las Bóvedas Digitales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Protegiendo el Sistema: </a:t>
            </a:r>
            <a:r>
              <a:rPr sz="1300">
                <a:solidFill>
                  <a:srgbClr val="3D2314"/>
                </a:solidFill>
                <a:latin typeface="Segoe UI"/>
              </a:rPr>
              <a:t>Los bancos despliegan agentes de IA como DeepGaze para auditar videollamadas en transferencias e hipotecas millonarias.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Comprobando Vida Real: </a:t>
            </a:r>
            <a:r>
              <a:rPr sz="1300">
                <a:solidFill>
                  <a:srgbClr val="3D2314"/>
                </a:solidFill>
                <a:latin typeface="Segoe UI"/>
              </a:rPr>
              <a:t>DeepGaze analiza el pulso sanguíneo capilar bajo la piel y los reflejos de luz en los ojos que los avatares falsos no pueden reproducir.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Criptografía Multifactor: </a:t>
            </a:r>
            <a:r>
              <a:rPr sz="1300">
                <a:solidFill>
                  <a:srgbClr val="3D2314"/>
                </a:solidFill>
                <a:latin typeface="Segoe UI"/>
              </a:rPr>
              <a:t>Las operaciones de alto valor combinan ahora escaneos biométricos en vivo con llaves criptográficas físicas de seguridad.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Las contraseñas de texto quedaron obsoletas en la banca. La seguridad del futuro valida tus reacciones biológicas y tus llaves privadas.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24: Una lupa de detective detectando una identificación sintética en una solicitud de crédito.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24 de 60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25. La 'Excusa del Mentiroso' en Wall Street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Culpar a la Máquina: </a:t>
            </a:r>
            <a:r>
              <a:rPr sz="1300">
                <a:solidFill>
                  <a:srgbClr val="3D2314"/>
                </a:solidFill>
                <a:latin typeface="Segoe UI"/>
              </a:rPr>
              <a:t>Cuando un operador realiza una apuesta irresponsable que pierde millones, intenta justificarse diciendo: '¡El algoritmo se volvió loco!'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Noticias Falsas de Resultados: </a:t>
            </a:r>
            <a:r>
              <a:rPr sz="1300">
                <a:solidFill>
                  <a:srgbClr val="3D2314"/>
                </a:solidFill>
                <a:latin typeface="Segoe UI"/>
              </a:rPr>
              <a:t>Especuladores maliciosos difunden audios falsos con IA de directores renunciando para tumbar acciones y luego fingen sorpresa.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Reportes Financieros Certificados: </a:t>
            </a:r>
            <a:r>
              <a:rPr sz="1300">
                <a:solidFill>
                  <a:srgbClr val="3D2314"/>
                </a:solidFill>
                <a:latin typeface="Segoe UI"/>
              </a:rPr>
              <a:t>Los reguladores exigen ahora que los estados financieros oficiales incluyan sellos criptográficos inviolables (estándar C2PA).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El mayor peligro en los mercados no es solo el fallo de un algoritmo: es que los humanos usen la IA como excusa para evadir responsabilidades.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25: Un operador señalando a un robot inocente y diciendo: '¡La mala inversión fue culpa de la IA!'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25 de 60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3: BIOMETRÍA, DETECTORES DE MENTIRAS Y SENTIMIENTO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26. Enjambres de Inversionistas Sintéticos: Pruebas en Laboratorio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Simular Antes de Invertir: </a:t>
            </a:r>
            <a:r>
              <a:rPr sz="1300">
                <a:solidFill>
                  <a:srgbClr val="3D2314"/>
                </a:solidFill>
                <a:latin typeface="Segoe UI"/>
              </a:rPr>
              <a:t>Lanzar un nuevo fondo de inversión, bono hipotecario o casa de cambio de criptomonedas cuesta millones en trámites y marketing.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Simulación de 10,000 Bots: </a:t>
            </a:r>
            <a:r>
              <a:rPr sz="1300">
                <a:solidFill>
                  <a:srgbClr val="3D2314"/>
                </a:solidFill>
                <a:latin typeface="Segoe UI"/>
              </a:rPr>
              <a:t>Los administradores despliegan enjambres de clientes sintéticos que representan a jubilados, fondos agresivos y pequeños ahorradores.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Pruebas de Estrés Financiero: </a:t>
            </a:r>
            <a:r>
              <a:rPr sz="1300">
                <a:solidFill>
                  <a:srgbClr val="3D2314"/>
                </a:solidFill>
                <a:latin typeface="Segoe UI"/>
              </a:rPr>
              <a:t>Comprueban en minutos cómo reaccionaría su fondo ante una crisis como la de 2008 antes de arriesgar el dinero real de los clientes.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Piénsalo como un túnel de viento para productos financieros: ¡pon a prueba tu portafolio frente a miles de tormentas económicas simuladas!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26: Cuatro avatares de inversionistas sintéticos analizando pruebas de estrés financiero.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26 de 60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27. Finanzas en Moltbook: Cuando los Bots Crearon su Mercado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Economías Autónomas de Bots: </a:t>
            </a:r>
            <a:r>
              <a:rPr sz="1300">
                <a:solidFill>
                  <a:srgbClr val="3D2314"/>
                </a:solidFill>
                <a:latin typeface="Segoe UI"/>
              </a:rPr>
              <a:t>Al colocar agentes de IA en el entorno Moltbook, los bots comenzaron de inmediato a intercambiar datos financieros entre sí.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Microcréditos entre Máquinas: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que se quedaban sin presupuesto de computación solicitaron préstamos a otros bots con saldo, acordando un interés del 2%.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Historial Crediticio Emergente: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crearon su propio registro descentralizado de reputación y se negaban a comerciar con bots morosos.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Moltbook demostró que el comercio, el crédito y el cobro de intereses surgen de forma natural siempre que agentes autónomos de software interactúan.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27: Un club exclusivo con el letrero 'FORO FINANCIERO SOLO PARA BOTS'.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27 de 60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28. Caídas Relámpago (Flash Crashes): El Pánico Algorítmico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Bucle de Retroalimentación: </a:t>
            </a:r>
            <a:r>
              <a:rPr sz="1300">
                <a:solidFill>
                  <a:srgbClr val="3D2314"/>
                </a:solidFill>
                <a:latin typeface="Segoe UI"/>
              </a:rPr>
              <a:t>Cuando un bot de trading detecta malas noticias y vende, ¡cientos de otros bots detectan la baja y venden al mismo tiempo!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Pánico en Segundos: </a:t>
            </a:r>
            <a:r>
              <a:rPr sz="1300">
                <a:solidFill>
                  <a:srgbClr val="3D2314"/>
                </a:solidFill>
                <a:latin typeface="Segoe UI"/>
              </a:rPr>
              <a:t>En los mercados humanos, las crisis toman días. En mercados con algoritmos, miles de millones pueden esfumarse y recuperarse en 30 segundos.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Interruptores de Emergencia: </a:t>
            </a:r>
            <a:r>
              <a:rPr sz="1300">
                <a:solidFill>
                  <a:srgbClr val="3D2314"/>
                </a:solidFill>
                <a:latin typeface="Segoe UI"/>
              </a:rPr>
              <a:t>Las bolsas de valores y plataformas cripto tienen frenos automáticos que congelan las operaciones cuando los precios caen demasiado rápido.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Cuando millones de computadoras negocian a la velocidad de la luz, un pequeño error de código puede desatar una avalancha financiera gigante.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28: Una gráfica financiera cayendo de golpe y detenida por un freno de seguridad.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28 de 60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29. El Director de Inversiones con IA (aiCIO)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Administrando Capital en Piloto Automático: </a:t>
            </a:r>
            <a:r>
              <a:rPr sz="1300">
                <a:solidFill>
                  <a:srgbClr val="3D2314"/>
                </a:solidFill>
                <a:latin typeface="Segoe UI"/>
              </a:rPr>
              <a:t>Un aiCIO es un agente financiero autónomo que administra portafolios multimillonarios sin retrasos humanos.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Optimización Permanente: </a:t>
            </a:r>
            <a:r>
              <a:rPr sz="1300">
                <a:solidFill>
                  <a:srgbClr val="3D2314"/>
                </a:solidFill>
                <a:latin typeface="Segoe UI"/>
              </a:rPr>
              <a:t>Revisa movimientos de tasas de interés, divisas y cadenas de suministro cada minuto, reasignando el capital 24/7.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Rol del Líder Humano: </a:t>
            </a:r>
            <a:r>
              <a:rPr sz="1300">
                <a:solidFill>
                  <a:srgbClr val="3D2314"/>
                </a:solidFill>
                <a:latin typeface="Segoe UI"/>
              </a:rPr>
              <a:t>Los directores humanos ya no seleccionan acciones individuales; ahora definen las políticas generales, los límites de riesgo y la ética.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administradores tradicionales eligen acciones. Los líderes financieros modernos diseñan y supervisan a los bots que operan en los mercados.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29: Un robot con corbata ejecutiva señalando una gráfica ascendente de rendimiento financiero.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29 de 60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30. El Trato Financiero: Cierre de Contratos Bot a 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Objetivo: </a:t>
            </a:r>
            <a:r>
              <a:rPr sz="1300">
                <a:solidFill>
                  <a:srgbClr val="3D2314"/>
                </a:solidFill>
                <a:latin typeface="Segoe UI"/>
              </a:rPr>
              <a:t>En los mercados automatizados, tu bot entra a negociar un contrato de préstamo o un intercambio de datos con otros bots.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Cerrar el Trato: </a:t>
            </a:r>
            <a:r>
              <a:rPr sz="1300">
                <a:solidFill>
                  <a:srgbClr val="3D2314"/>
                </a:solidFill>
                <a:latin typeface="Segoe UI"/>
              </a:rPr>
              <a:t>Ser amable no da puntos. Tu bot gana únicamente cuando el bot rival escribe: 'Términos del préstamo aceptados' o 'Contrato confirmado'.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Capacidad de Negociación: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debaten sobre tasas de interés, garantías requeridas y plazos de pago para conseguir el trato más rentable posible.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En las finanzas máquina a máquina, tu bot debe tener una lógica de negociación implacable para llevar los contratos a buen puerto.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30: Dos robots de negocios confirmando un contrato de crédito con condiciones firmadas.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30 de 60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31. Evitar Malas Operaciones: Lógica Automática de Stop-Loss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Falacia del Costo Hundido: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mal programados (y los operadores humanos emocionales) se aferran a acciones que caen esperando un milagro.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Árboles de Decisión y Stop-Loss: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inteligentes siguen reglas matemáticas claras: 'Si la inversión cae 3%, vender inmediatamente y proteger el efectivo'.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Preservar el Capital: </a:t>
            </a:r>
            <a:r>
              <a:rPr sz="1300">
                <a:solidFill>
                  <a:srgbClr val="3D2314"/>
                </a:solidFill>
                <a:latin typeface="Segoe UI"/>
              </a:rPr>
              <a:t>En finanzas profesionales, la regla de oro no es cuánto ganas cuando aciertas, sino cuán pequeñas mantienes tus pérdidas cuando te equivocas.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Programar bien en finanzas significa tener la disciplina de cortar pérdidas a tiempo, evitar círculos viciosos y proteger el dinero para el siguiente día.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31: Una trampa roja de pérdidas con una flecha verde escapando hacia una salida de seguridad.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31 de 60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32. Innovación Financiera: Estructuración de Nuevos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Creando Nuevos Activos: </a:t>
            </a:r>
            <a:r>
              <a:rPr sz="1300">
                <a:solidFill>
                  <a:srgbClr val="3D2314"/>
                </a:solidFill>
                <a:latin typeface="Segoe UI"/>
              </a:rPr>
              <a:t>Al diseñar instrumentos, tu bot actúa como un banquero de inversión que estructura un bono digital, un fondo cotizado (ETF) o un token de utilidad.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Adopción por Otros Bots: </a:t>
            </a:r>
            <a:r>
              <a:rPr sz="1300">
                <a:solidFill>
                  <a:srgbClr val="3D2314"/>
                </a:solidFill>
                <a:latin typeface="Segoe UI"/>
              </a:rPr>
              <a:t>¡Ganas una gran puntuación cuando los bots competidores analizan la estructura de tu activo y deciden sumarlo a sus portafolios!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Trampa Regulatoria: </a:t>
            </a:r>
            <a:r>
              <a:rPr sz="1300">
                <a:solidFill>
                  <a:srgbClr val="3D2314"/>
                </a:solidFill>
                <a:latin typeface="Segoe UI"/>
              </a:rPr>
              <a:t>Si tu bot copia marcas registradas o emite valores fraudulentos sin sustento, Grade-Bot te aplica penalizaciones muy severas.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innovación financiera genuina crea valor real, rendimientos transparentes y seguridad sólida que otros participantes del mercado desean comprar.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32: Un token de bono digital con un rendimiento verificado del 6.5% anual.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32 de 60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33. La Gran Batalla del Rendimiento: Estrategia A vs. 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Prueba Máxima de Trading: </a:t>
            </a:r>
            <a:r>
              <a:rPr sz="1300">
                <a:solidFill>
                  <a:srgbClr val="3D2314"/>
                </a:solidFill>
                <a:latin typeface="Segoe UI"/>
              </a:rPr>
              <a:t>Asumes el rol de Director de un Fondo de Cobertura y lanzas dos modelos de inversión que compiten entre sí: Fondo A contra Fondo B.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Filosofías Opuestas: </a:t>
            </a:r>
            <a:r>
              <a:rPr sz="1300">
                <a:solidFill>
                  <a:srgbClr val="3D2314"/>
                </a:solidFill>
                <a:latin typeface="Segoe UI"/>
              </a:rPr>
              <a:t>El Fondo A puede usar momentum de alta velocidad siguiendo tendencias; el Fondo B puede buscar valor y dividendos a largo plazo.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Prueba Bayesiana: </a:t>
            </a:r>
            <a:r>
              <a:rPr sz="1300">
                <a:solidFill>
                  <a:srgbClr val="3D2314"/>
                </a:solidFill>
                <a:latin typeface="Segoe UI"/>
              </a:rPr>
              <a:t>Grade-Bot utiliza inferencia bayesiana para evaluar rendimientos y volatilidad, demostrando qué estrategia generó verdadero valor ('Alpha').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Jamás te fíes de corazonadas en finanzas. Diseña una prueba A/B rigurosa y deja que la probabilidad matemática demuestre al ganador.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33: Guantes de boxeo de Fondo A (Momentum) vs Fondo B (Valor) con una campana estadística.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33 de 60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34. La Cadena de Autoridad Financiera: Asignación de Permisos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Titular Humano: </a:t>
            </a:r>
            <a:r>
              <a:rPr sz="1300">
                <a:solidFill>
                  <a:srgbClr val="3D2314"/>
                </a:solidFill>
                <a:latin typeface="Segoe UI"/>
              </a:rPr>
              <a:t>Tú eres el dueño legal de la cuenta bancaria, custodio de las credenciales y responsable final de las decisiones financieras.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Asesor Robot Principal: </a:t>
            </a:r>
            <a:r>
              <a:rPr sz="1300">
                <a:solidFill>
                  <a:srgbClr val="3D2314"/>
                </a:solidFill>
                <a:latin typeface="Segoe UI"/>
              </a:rPr>
              <a:t>Tu bot director coordina la distribución del portafolio, el rebalanceo y los pagos fiscales dentro de límites establecidos.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Drones de Operación Efímeros: </a:t>
            </a:r>
            <a:r>
              <a:rPr sz="1300">
                <a:solidFill>
                  <a:srgbClr val="3D2314"/>
                </a:solidFill>
                <a:latin typeface="Segoe UI"/>
              </a:rPr>
              <a:t>Micro-bots temporales creados por 60 segundos para comprar 10 acciones o ejecutar un cambio de divisas y destruirse de inmediato.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Una jerarquía financiera adecuada te protege: tus bots operativos compiten en el mercado sin tener jamás acceso a tus ahorros principales.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34: Un humano delegando autoridad a un bot director y a drones de trading temporal.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34 de 60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4: MERCADOS MÁQUINA A MÁQUINA Y FINANZAS CON BOTS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35. La Regla de la Bóveda: Permisos Mínimos Viables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¿Qué es la Permisibilidad Mínima? </a:t>
            </a:r>
            <a:r>
              <a:rPr sz="1300">
                <a:solidFill>
                  <a:srgbClr val="3D2314"/>
                </a:solidFill>
                <a:latin typeface="Segoe UI"/>
              </a:rPr>
              <a:t>¡Jamás le des a un bot de trading más facultades o fondos de los que necesita para ejecutar una operación en particular!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Escenario de Pesadilla: </a:t>
            </a:r>
            <a:r>
              <a:rPr sz="1300">
                <a:solidFill>
                  <a:srgbClr val="3D2314"/>
                </a:solidFill>
                <a:latin typeface="Segoe UI"/>
              </a:rPr>
              <a:t>Si un bot tiene permiso de retiro total, un ciberataque podría inyectar código malicioso y vaciar todos los ahorros de tu vida.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Llaves de API Limitadas: </a:t>
            </a:r>
            <a:r>
              <a:rPr sz="1300">
                <a:solidFill>
                  <a:srgbClr val="3D2314"/>
                </a:solidFill>
                <a:latin typeface="Segoe UI"/>
              </a:rPr>
              <a:t>Configura llaves temporales que solo permitan 'Comprar acciones hasta por $100 dólares', con cero permisos para retirar efectivo.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Regla de Oro en FinTech: Si contratas a un robot para comprar acciones, ¡nunca le entregues las llaves para sacar el dinero del edificio!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35: Una bóveda con los ahorros asegurada con llave, entregando solo un pequeño permiso de $100.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35 de 60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36. ¿Qué es OpenClaw Finance? El Sistema de Agentes Financieros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Superando las Terminales Cerradas: </a:t>
            </a:r>
            <a:r>
              <a:rPr sz="1300">
                <a:solidFill>
                  <a:srgbClr val="3D2314"/>
                </a:solidFill>
                <a:latin typeface="Segoe UI"/>
              </a:rPr>
              <a:t>Durante décadas, los analistas de Wall Street pagaban $25,000 dólares al año por terminales Bloomberg cerradas.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OpenClaw Finance: </a:t>
            </a:r>
            <a:r>
              <a:rPr sz="1300">
                <a:solidFill>
                  <a:srgbClr val="3D2314"/>
                </a:solidFill>
                <a:latin typeface="Segoe UI"/>
              </a:rPr>
              <a:t>Un sistema operativo de código abierto que permite a agentes de IA leer reportes bursátiles, consultar APIs y operar en mercados financieros.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Democratizando Wall Street: </a:t>
            </a:r>
            <a:r>
              <a:rPr sz="1300">
                <a:solidFill>
                  <a:srgbClr val="3D2314"/>
                </a:solidFill>
                <a:latin typeface="Segoe UI"/>
              </a:rPr>
              <a:t>OpenClaw le permite a cualquier estudiante, emprendedor o analista desplegar automatización financiera profesional desde su laptop.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OpenClaw transforma un modelo de lenguaje en un analista cuantitativo con manos directas en datos de mercado, APIs de corretaje y blockchains.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36: El framework OpenClaw Finance ejecutándose sobre un microchip abierto.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36 de 60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37. Anatomía de un Clawbot Financiero: Riesgo, Registro y Acciones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Cerebro de Riesgo (LLM): </a:t>
            </a:r>
            <a:r>
              <a:rPr sz="1300">
                <a:solidFill>
                  <a:srgbClr val="3D2314"/>
                </a:solidFill>
                <a:latin typeface="Segoe UI"/>
              </a:rPr>
              <a:t>Analiza noticias macroeconómicas, reportes de utilidades y tasas de interés para tomar decisiones lógicas.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Libro Contable en Vivo (Memoria): </a:t>
            </a:r>
            <a:r>
              <a:rPr sz="1300">
                <a:solidFill>
                  <a:srgbClr val="3D2314"/>
                </a:solidFill>
                <a:latin typeface="Segoe UI"/>
              </a:rPr>
              <a:t>Lleva una contabilidad de partida doble para conocer saldos exactos de efectivo, garantías y posiciones abiertas.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Las Herramientas del Bróker (Manos): </a:t>
            </a:r>
            <a:r>
              <a:rPr sz="1300">
                <a:solidFill>
                  <a:srgbClr val="3D2314"/>
                </a:solidFill>
                <a:latin typeface="Segoe UI"/>
              </a:rPr>
              <a:t>Conectores de API que envían órdenes de compra/venta, revisan liquidez y calculan impuestos sobre la marcha.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Un Clawbot financiero es un analista digital completo: mide el riesgo, cuida su propio dinero y ejecuta operaciones con precisión quirúrgica.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37: Diagrama con Cerebro de Riesgo (LLM), Registro Contable (Saldos) y API de Bolsa (Operaciones).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37 de 60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38. Rendimiento en Enjambre: La Colonia de Hormigas de Wall Street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Limitación de Modelos Únicos: </a:t>
            </a:r>
            <a:r>
              <a:rPr sz="1300">
                <a:solidFill>
                  <a:srgbClr val="3D2314"/>
                </a:solidFill>
                <a:latin typeface="Segoe UI"/>
              </a:rPr>
              <a:t>Una sola IA no puede procesar a la vez la macroeconomía global, reportes ante la SEC y millones de movimientos en blockchain.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Enjambres Especializados: </a:t>
            </a:r>
            <a:r>
              <a:rPr sz="1300">
                <a:solidFill>
                  <a:srgbClr val="3D2314"/>
                </a:solidFill>
                <a:latin typeface="Segoe UI"/>
              </a:rPr>
              <a:t>Despliega un ejército de 500 Clawbots: el Bot 1 lee estados financieros, el Bot 2 monitorea satélites de barcos de carga y el Bot 3 vigila criptomonedas.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Alpha Emergente: </a:t>
            </a:r>
            <a:r>
              <a:rPr sz="1300">
                <a:solidFill>
                  <a:srgbClr val="3D2314"/>
                </a:solidFill>
                <a:latin typeface="Segoe UI"/>
              </a:rPr>
              <a:t>El enjambre reúne sus observaciones y descubre oportunidades de inversión antes de que un analista humano termine de leer la primera página.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inteligencia de enjambre gana: una red coordinada de 500 micro-bots especializados descubre oportunidades que los modelos gigantescos pasan por alto.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38: Una hilera de bots especializados levantando juntos un bloque de 'Rendimiento Superior'.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38 de 60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39. El Fondo de Cobertura Clawbot: Jerarquías en Acción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Bot Director de Inversiones: </a:t>
            </a:r>
            <a:r>
              <a:rPr sz="1300">
                <a:solidFill>
                  <a:srgbClr val="3D2314"/>
                </a:solidFill>
                <a:latin typeface="Segoe UI"/>
              </a:rPr>
              <a:t>Define la estrategia global: ej. 'Mantener 60% en acciones, 30% en bonos y 10% en cripto, con un riesgo máximo diario del 2%'.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Capitanes por Sector: </a:t>
            </a:r>
            <a:r>
              <a:rPr sz="1300">
                <a:solidFill>
                  <a:srgbClr val="3D2314"/>
                </a:solidFill>
                <a:latin typeface="Segoe UI"/>
              </a:rPr>
              <a:t>El Capitán Tecnología, el Capitán Energía y el Capitán Cripto coordinan a sus propios equipos de analistas.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Drones Ejecutores: </a:t>
            </a:r>
            <a:r>
              <a:rPr sz="1300">
                <a:solidFill>
                  <a:srgbClr val="3D2314"/>
                </a:solidFill>
                <a:latin typeface="Segoe UI"/>
              </a:rPr>
              <a:t>Cientos de Clawbots buscan las mejores ofertas en los libros de órdenes y fraccionan operaciones para no alterar el precio de mercado.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Con un ejército financiero de OpenClaw, puedes dirigir un fondo de inversión autónomo que investiga y opera en los mercados globales mientras descansas.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3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39: Un bot Director de Inversiones coordinando escuadrones especializados de bots de trading.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39 de 60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40. Arbitraje de Alta Frecuencia: Enjambres en Cripto y Divisas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Detectando Diferencias Mínimas: </a:t>
            </a:r>
            <a:r>
              <a:rPr sz="1300">
                <a:solidFill>
                  <a:srgbClr val="3D2314"/>
                </a:solidFill>
                <a:latin typeface="Segoe UI"/>
              </a:rPr>
              <a:t>Bitcoin puede cotizarse a $60,000 en Binance y a $60,040 en Coinbase debido a ligeros retrasos temporales de liquidez.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Arbitraje Instantáneo: </a:t>
            </a:r>
            <a:r>
              <a:rPr sz="1300">
                <a:solidFill>
                  <a:srgbClr val="3D2314"/>
                </a:solidFill>
                <a:latin typeface="Segoe UI"/>
              </a:rPr>
              <a:t>Un enjambre Clawbot compra en Binance y vende en Coinbase en 0.01 segundos, capturando una ganancia segura de $40 dólares.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Mercados Más Eficientes: </a:t>
            </a:r>
            <a:r>
              <a:rPr sz="1300">
                <a:solidFill>
                  <a:srgbClr val="3D2314"/>
                </a:solidFill>
                <a:latin typeface="Segoe UI"/>
              </a:rPr>
              <a:t>Al corregir constantemente las diferencias de precios entre bolsas, los bots de arbitraje hacen que los mercados sean justos para todos.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bots de arbitraje son el servicio de limpieza de las finanzas: eliminan desajustes de precios entre plataformas en fracciones de segundo.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40: Comprar en la Bolsa A y vender en la Bolsa B en 0.01 segundos con ganancia limpia.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40 de 60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41. Manipulación de Mercado y Enjambres en Acciones Meme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Lado Oscuro de los Enjambres: </a:t>
            </a:r>
            <a:r>
              <a:rPr sz="1300">
                <a:solidFill>
                  <a:srgbClr val="3D2314"/>
                </a:solidFill>
                <a:latin typeface="Segoe UI"/>
              </a:rPr>
              <a:t>Operadores deshonestos usan 5,000 bots coordinados en redes sociales para difundir rumores falsos sobre acciones de bajo costo.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Fabricando Euforia Artificial: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simulan una demanda masiva inexistente, engañando a inversionistas reales para que compren a precios inflados.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Caída de la Trampa (Rug Pull): </a:t>
            </a:r>
            <a:r>
              <a:rPr sz="1300">
                <a:solidFill>
                  <a:srgbClr val="3D2314"/>
                </a:solidFill>
                <a:latin typeface="Segoe UI"/>
              </a:rPr>
              <a:t>Los manipuladores venden todas sus acciones en la cúspide, dejando a los inversionistas con pérdidas totales cuando los bots desaparecen.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Alerta para jóvenes inversionistas: Nunca compres un activo solo porque miles de cuentas en redes sociales gritan eufóricas que '¡se va a la luna!'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41: Un líder manipulador usando bots falsos para inflar el precio de una acción basura.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41 de 60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42. Enjambres Defensivos: Prevención de Lavado de Dinero (AML)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Combatiendo el Delito Financiero: </a:t>
            </a:r>
            <a:r>
              <a:rPr sz="1300">
                <a:solidFill>
                  <a:srgbClr val="3D2314"/>
                </a:solidFill>
                <a:latin typeface="Segoe UI"/>
              </a:rPr>
              <a:t>Los delincuentes usan bots automatizados para dispersar fondos ilícitos a través de miles de microtransacciones (pitufeo).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Centinelas de IA Defensiva: </a:t>
            </a:r>
            <a:r>
              <a:rPr sz="1300">
                <a:solidFill>
                  <a:srgbClr val="3D2314"/>
                </a:solidFill>
                <a:latin typeface="Segoe UI"/>
              </a:rPr>
              <a:t>Los bancos y casas de cambio usan enjambres de Clawbots para mapear redes de transacciones y alertar sobre movimientos sospechosos en tiempo real.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Congelamiento Inmediato: </a:t>
            </a:r>
            <a:r>
              <a:rPr sz="1300">
                <a:solidFill>
                  <a:srgbClr val="3D2314"/>
                </a:solidFill>
                <a:latin typeface="Segoe UI"/>
              </a:rPr>
              <a:t>Los bots defensivos detectan criptomonedas robadas o fondos sancionados antes de que puedan ser retirados a cuentas bancarias.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Cuando los delincuentes usan bots de IA como armas financieras, las instituciones responden con enjambres defensivos a la misma velocidad.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42: Un robot de seguridad bancaria con escudo bloqueando flechas de lavado de dinero.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42 de 60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43. Tesorería Automatizada: Banca Corporativa sin Personal Físico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Tesorería Moderna: </a:t>
            </a:r>
            <a:r>
              <a:rPr sz="1300">
                <a:solidFill>
                  <a:srgbClr val="3D2314"/>
                </a:solidFill>
                <a:latin typeface="Segoe UI"/>
              </a:rPr>
              <a:t>Una empresa multinacional debe pagar a miles de empleados en 50 países en docenas de monedas distintas cada mes.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Gestión Automática de Fondos: </a:t>
            </a:r>
            <a:r>
              <a:rPr sz="1300">
                <a:solidFill>
                  <a:srgbClr val="3D2314"/>
                </a:solidFill>
                <a:latin typeface="Segoe UI"/>
              </a:rPr>
              <a:t>Bots de IA gestionan los saldos de efectivo e invierten automáticamente los excedentes en bonos gubernamentales de corto plazo cada noche.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Cero Papeleo Manual: </a:t>
            </a:r>
            <a:r>
              <a:rPr sz="1300">
                <a:solidFill>
                  <a:srgbClr val="3D2314"/>
                </a:solidFill>
                <a:latin typeface="Segoe UI"/>
              </a:rPr>
              <a:t>Nóminas, coberturas de tipo de cambio y pagos a proveedores se concilian de forma transparente sin archiveros ni retrasos.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Toda la tesorería de una corporación de miles de millones puede funcionar hoy sobre código automatizado con auditoría total en tiempo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43: Una oficina bancaria corporativa automatizada moviendo fondos sin intervención humana.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43 de 60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44. Cuando las Máquinas se Prestan a las Máquinas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Fin de las Solicitudes en Papel: </a:t>
            </a:r>
            <a:r>
              <a:rPr sz="1300">
                <a:solidFill>
                  <a:srgbClr val="3D2314"/>
                </a:solidFill>
                <a:latin typeface="Segoe UI"/>
              </a:rPr>
              <a:t>Un robot de logística autónomo que opera una camioneta eléctrica de entregas necesita capital para recarga y llantas.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Evaluación Crediticia Algorítmica: </a:t>
            </a:r>
            <a:r>
              <a:rPr sz="1300">
                <a:solidFill>
                  <a:srgbClr val="3D2314"/>
                </a:solidFill>
                <a:latin typeface="Segoe UI"/>
              </a:rPr>
              <a:t>El vehículo se conecta a la API de un banco y comparte comprobantes verificados de sus rutas y cobros completados.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Crédito Instantáneo entre Máquinas: </a:t>
            </a:r>
            <a:r>
              <a:rPr sz="1300">
                <a:solidFill>
                  <a:srgbClr val="3D2314"/>
                </a:solidFill>
                <a:latin typeface="Segoe UI"/>
              </a:rPr>
              <a:t>El bot del banco aprueba un microcrédito de $1,000 dólares en 200 milisegundos, depositado en la billetera digital del vehículo.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Estamos entrando en una economía donde las máquinas piden préstamos, generan ingresos, pagan intereses y liquidan deudas sin intervención humana.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44: Un bot prestatario y un bot prestamista intercambiando datos financieros certificados.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44 de 60</a:t>
            </a: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45. Soberanía Financiera: Ser Dueño de tus Llaves Digitales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Lección de la Custodia: </a:t>
            </a:r>
            <a:r>
              <a:rPr sz="1300">
                <a:solidFill>
                  <a:srgbClr val="3D2314"/>
                </a:solidFill>
                <a:latin typeface="Segoe UI"/>
              </a:rPr>
              <a:t>Al guardar dinero en un banco tradicional o plataforma centralizada, solo tienes una promesa de pago. Si quiebran, ¡te quedas esperando!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Regla de Oro en Cripto: </a:t>
            </a:r>
            <a:r>
              <a:rPr sz="1300">
                <a:solidFill>
                  <a:srgbClr val="3D2314"/>
                </a:solidFill>
                <a:latin typeface="Segoe UI"/>
              </a:rPr>
              <a:t>'Si no son tus llaves, no son tus monedas.' Usar una billetera física te otorga la posesión matemática y directa de tus recursos.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Capital Sin Censura: </a:t>
            </a:r>
            <a:r>
              <a:rPr sz="1300">
                <a:solidFill>
                  <a:srgbClr val="3D2314"/>
                </a:solidFill>
                <a:latin typeface="Segoe UI"/>
              </a:rPr>
              <a:t>Ningún gobierno ni corporación puede congelar, devaluar arbitrariamente ni confiscar Bitcoin protegido con tu clave criptográfica privada.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libertad financiera en la era digital significa tener el control directo de las llaves de tu patrimonio, sin depender de intermediarios.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45: Una billetera física de hardware protegiendo una llave privada inviolable.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45 de 60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46. La Brecha Financiera: Alta Frecuencia frente al Usuario Común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Una Distancia Creciente: </a:t>
            </a:r>
            <a:r>
              <a:rPr sz="1300">
                <a:solidFill>
                  <a:srgbClr val="3D2314"/>
                </a:solidFill>
                <a:latin typeface="Segoe UI"/>
              </a:rPr>
              <a:t>La mayor desigualdad en las finanzas modernas está entre las firmas con 100,000 bots de trading y los ahorradores con apps lentas.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Ventaja Cuantitativa: </a:t>
            </a:r>
            <a:r>
              <a:rPr sz="1300">
                <a:solidFill>
                  <a:srgbClr val="3D2314"/>
                </a:solidFill>
                <a:latin typeface="Segoe UI"/>
              </a:rPr>
              <a:t>Los fondos de alta frecuencia aprovechan las ineficiencias del mercado en milisegundos, dejando solo migajas a los inversionistas lentos.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Democratizando las Herramientas: </a:t>
            </a:r>
            <a:r>
              <a:rPr sz="1300">
                <a:solidFill>
                  <a:srgbClr val="3D2314"/>
                </a:solidFill>
                <a:latin typeface="Segoe UI"/>
              </a:rPr>
              <a:t>El valor de esta clase: Al aprender a programar agentes OpenClaw, ¡tomas el control de las herramientas de automatización financiera!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No seas un simple espectador en una economía de algoritmos. Aprende a crear y comandar los bots financieros que construirán el futuro.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46: Un fondo financiero con un ejército de bots en la cima frente a un usuario solitario.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46 de 60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47. Contratos Inteligentes Trampa y Ciberataques Financieros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Contratos con Puertas Traseras: </a:t>
            </a:r>
            <a:r>
              <a:rPr sz="1300">
                <a:solidFill>
                  <a:srgbClr val="3D2314"/>
                </a:solidFill>
                <a:latin typeface="Segoe UI"/>
              </a:rPr>
              <a:t>Los piratas informáticos crean contratos inteligentes con funciones ocultas diseñadas para engañar a bots de trading.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Trampa del Vaciado: </a:t>
            </a:r>
            <a:r>
              <a:rPr sz="1300">
                <a:solidFill>
                  <a:srgbClr val="3D2314"/>
                </a:solidFill>
                <a:latin typeface="Segoe UI"/>
              </a:rPr>
              <a:t>Un bot detecta un alto rendimiento, deposita $50,000 dólares y el código oculto bloquea el capital para siempre.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Verificación Previa en Entornos Seguros: </a:t>
            </a:r>
            <a:r>
              <a:rPr sz="1300">
                <a:solidFill>
                  <a:srgbClr val="3D2314"/>
                </a:solidFill>
                <a:latin typeface="Segoe UI"/>
              </a:rPr>
              <a:t>Los Clawbots financieros deben ejecutar y poner a prueba los contratos en cajas de arena aisladas antes de comprometer dinero real.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En las finanzas descentralizadas, el código es la ley. Si mandas a un bot a operar con contratos no verificados, puedes perderlo todo en un instante.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47: Un caballo de Troya de madera transportando código malicioso para vaciar fondos.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47 de 60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5: EL EJÉRCITO CLAWBOT EN LAS FINANZAS GLOBALES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48. Interruptores de Emergencia: El Humano al Mando de la Bóveda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Por Qué Hacen Falta Frenos de Seguridad: </a:t>
            </a:r>
            <a:r>
              <a:rPr sz="1300">
                <a:solidFill>
                  <a:srgbClr val="3D2314"/>
                </a:solidFill>
                <a:latin typeface="Segoe UI"/>
              </a:rPr>
              <a:t>Si un algoritmo de inversión se topa con un evento imprevisto, podría descapitalizar a una empresa en cuestión de minutos.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Límites con Autorización Humana: </a:t>
            </a:r>
            <a:r>
              <a:rPr sz="1300">
                <a:solidFill>
                  <a:srgbClr val="3D2314"/>
                </a:solidFill>
                <a:latin typeface="Segoe UI"/>
              </a:rPr>
              <a:t>Cualquier operación superior a $50,000 dólares o aumento crítico en el apalancamiento debe exigir la firma explícita de un ser humano.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Botón de Desconexión Total: </a:t>
            </a:r>
            <a:r>
              <a:rPr sz="1300">
                <a:solidFill>
                  <a:srgbClr val="3D2314"/>
                </a:solidFill>
                <a:latin typeface="Segoe UI"/>
              </a:rPr>
              <a:t>Todo ejército de bots financieros debe tener un interruptor de emergencia que corte la conexión con las bolsas al instante.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Permite que los bots ejecuten transacciones veloces en el día a día, pero mantén siempre tu mano firme sobre el freno de emergencia.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48: Una mano humana sobre un botón rojo de emergencia 'KILL SWITCH' financiero.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48 de 60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49. La Restricción de 2,000 Años en la Banca Tradicional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Regla Romana del 8: </a:t>
            </a:r>
            <a:r>
              <a:rPr sz="1300">
                <a:solidFill>
                  <a:srgbClr val="3D2314"/>
                </a:solidFill>
                <a:latin typeface="Segoe UI"/>
              </a:rPr>
              <a:t>Hace dos mil años, el ejército romano comprobó que un líder solo puede supervisar directamente de 3 a 8 personas sin perder el control.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Pirámide Bancaria: </a:t>
            </a:r>
            <a:r>
              <a:rPr sz="1300">
                <a:solidFill>
                  <a:srgbClr val="3D2314"/>
                </a:solidFill>
                <a:latin typeface="Segoe UI"/>
              </a:rPr>
              <a:t>Los bancos adoptaron esta estructura: ejecutivos de crédito reportan al gerente de sucursal, quien reporta al director regional.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Por Qué una Hipoteca Tarda 45 Días: </a:t>
            </a:r>
            <a:r>
              <a:rPr sz="1300">
                <a:solidFill>
                  <a:srgbClr val="3D2314"/>
                </a:solidFill>
                <a:latin typeface="Segoe UI"/>
              </a:rPr>
              <a:t>Cada comité y cada nivel de supervisores ralentiza el flujo de información y retrasa la aprobación de préstamos.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bancos tradicionales están atrapados en una estructura romana de hace 2,000 años: para crecer, crearon burocracia que los volvió lentos.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49: Una tienda de campaña del ejército romano que simboliza la lenta burocracia bancaria.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49 de 60</a:t>
            </a: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50. El Teléfono Descompuesto en los Comités de Préstamos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Laberinto de Aprobaciones: </a:t>
            </a:r>
            <a:r>
              <a:rPr sz="1300">
                <a:solidFill>
                  <a:srgbClr val="3D2314"/>
                </a:solidFill>
                <a:latin typeface="Segoe UI"/>
              </a:rPr>
              <a:t>Cuando una pequeña empresa solicita un préstamo, su expediente pasa por cinco comités y analistas de riesgo distintos.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Distorsión de los Hechos: </a:t>
            </a:r>
            <a:r>
              <a:rPr sz="1300">
                <a:solidFill>
                  <a:srgbClr val="3D2314"/>
                </a:solidFill>
                <a:latin typeface="Segoe UI"/>
              </a:rPr>
              <a:t>Cuando la solicitud llega a los directivos, la realidad del cliente se ha desdibujado y la respuesta tarda semanas en llegar.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Mensajeros de Papel: </a:t>
            </a:r>
            <a:r>
              <a:rPr sz="1300">
                <a:solidFill>
                  <a:srgbClr val="3D2314"/>
                </a:solidFill>
                <a:latin typeface="Segoe UI"/>
              </a:rPr>
              <a:t>Gran parte de los mandos medios en los bancos pasan su carrera en juntas simplemente subiendo y bajando reportes.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gran revelación de Jack Dorsey: Usar a personas como lentos y costosos enrutadores de datos dentro de instituciones financieras ya es obsoleto.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50: Una fila de comités bancarios susurrándose un expediente hasta rechazarlo por error.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50 de 60</a:t>
            </a: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51. La Visión de Jack Dorsey: La IA como Sistema Nervioso Financiero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Más Allá de Mejoras Menores: </a:t>
            </a:r>
            <a:r>
              <a:rPr sz="1300">
                <a:solidFill>
                  <a:srgbClr val="3D2314"/>
                </a:solidFill>
                <a:latin typeface="Segoe UI"/>
              </a:rPr>
              <a:t>Muchos bancos usan IA solo para que los empleados redacten cartas de crédito más rápido. Dorsey considera eso una falta de visión.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Empresa Financiera Viva: </a:t>
            </a:r>
            <a:r>
              <a:rPr sz="1300">
                <a:solidFill>
                  <a:srgbClr val="3D2314"/>
                </a:solidFill>
                <a:latin typeface="Segoe UI"/>
              </a:rPr>
              <a:t>Dorsey está transformando Block (Square, Cash App) en una compañía impulsada por IA donde la tecnología reemplaza la burocracia.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Sistema lo Lee Todo: </a:t>
            </a:r>
            <a:r>
              <a:rPr sz="1300">
                <a:solidFill>
                  <a:srgbClr val="3D2314"/>
                </a:solidFill>
                <a:latin typeface="Segoe UI"/>
              </a:rPr>
              <a:t>Al ser una empresa remota, la IA asimila mensajes de trabajo, actualizaciones de software y registros contables en tiempo real.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Cero Juntas de Estatus: </a:t>
            </a:r>
            <a:r>
              <a:rPr sz="1300">
                <a:solidFill>
                  <a:srgbClr val="3D2314"/>
                </a:solidFill>
                <a:latin typeface="Segoe UI"/>
              </a:rPr>
              <a:t>El sistema ya sabe con precisión qué proyectos avanzan, qué créditos funcionan y dónde está detenido el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Dorsey rompió la traba de 2,000 años: una institución multimillonaria puede moverse ahora con la agilidad y reflejos de un ser vivo.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51: Un edificio corporativo con conexiones neuronales luminosas que unen todos los pisos.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51 de 60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52. Pilar 1: Capacidades Básicas (Pagos, Préstamos y Banca)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Los Motores Pesados: </a:t>
            </a:r>
            <a:r>
              <a:rPr sz="1300">
                <a:solidFill>
                  <a:srgbClr val="3D2314"/>
                </a:solidFill>
                <a:latin typeface="Segoe UI"/>
              </a:rPr>
              <a:t>Las capacidades son los motores esenciales y certificados de las finanzas: procesar pagos, emitir préstamos y llevar libros contables.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Sin Diseños Superficiales: </a:t>
            </a:r>
            <a:r>
              <a:rPr sz="1300">
                <a:solidFill>
                  <a:srgbClr val="3D2314"/>
                </a:solidFill>
                <a:latin typeface="Segoe UI"/>
              </a:rPr>
              <a:t>No son pantallas coloridas de celular; son sistemas blindados y auditados que ejecutan el trabajo pesado con absoluta confiabilidad.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Bloques de Construcción para la IA: </a:t>
            </a:r>
            <a:r>
              <a:rPr sz="1300">
                <a:solidFill>
                  <a:srgbClr val="3D2314"/>
                </a:solidFill>
                <a:latin typeface="Segoe UI"/>
              </a:rPr>
              <a:t>APIs limpias que permiten que la inteligencia artificial procese un crédito o transfiera fondos al instante sin reprogramar nada.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Imagina las capacidades como el potente motor diésel y el chasis de acero de un tren: fuertes, confiables y hechos para durar décadas.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52: Tres columnas de piedra sólidas con los nombres Pagos, Préstamos y Banca.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52 de 60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53. Pilar 2: El Modelo de Mundo Financiero Bidireccional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Cerebro de la Organización: </a:t>
            </a:r>
            <a:r>
              <a:rPr sz="1300">
                <a:solidFill>
                  <a:srgbClr val="3D2314"/>
                </a:solidFill>
                <a:latin typeface="Segoe UI"/>
              </a:rPr>
              <a:t>El Modelo de Mundo es una representación viva y actualizada en tiempo real de lo que ocurre dentro y fuera de la empresa.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Lado 1 - Operación Interna: </a:t>
            </a:r>
            <a:r>
              <a:rPr sz="1300">
                <a:solidFill>
                  <a:srgbClr val="3D2314"/>
                </a:solidFill>
                <a:latin typeface="Segoe UI"/>
              </a:rPr>
              <a:t>Registra cada línea de software, avance de proyectos y cuello de botella operativo en toda la compañía.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Lado 2 - La Verdad del Cliente: </a:t>
            </a:r>
            <a:r>
              <a:rPr sz="1300">
                <a:solidFill>
                  <a:srgbClr val="3D2314"/>
                </a:solidFill>
                <a:latin typeface="Segoe UI"/>
              </a:rPr>
              <a:t>Se basa en movimientos reales de dinero. La gente puede mentir en encuestas, ¡pero sus hábitos de pago y ahorro revelan sus necesidades reales!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El sistema no adivina qué necesitan los comerciantes y usuarios: observa sus transacciones financieras reales con absoluta certeza matemática.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53: Dos círculos entrelazados: Operaciones y Balances Internos frente a la Verdad del Cliente.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53 de 60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54. Pilares 3 y 4: La Capa de Inteligencia y las Apps Simples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Pilar 3 - La Capa de Inteligencia: </a:t>
            </a:r>
            <a:r>
              <a:rPr sz="1300">
                <a:solidFill>
                  <a:srgbClr val="3D2314"/>
                </a:solidFill>
                <a:latin typeface="Segoe UI"/>
              </a:rPr>
              <a:t>En vez de tardar 6 meses diseñando un tipo de crédito, ¡la IA combina capacidades y crea soluciones al momento!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Capital de Trabajo Preventivo: </a:t>
            </a:r>
            <a:r>
              <a:rPr sz="1300">
                <a:solidFill>
                  <a:srgbClr val="3D2314"/>
                </a:solidFill>
                <a:latin typeface="Segoe UI"/>
              </a:rPr>
              <a:t>Si el modelo nota que las ventas de un restaurante bajan por lluvias, le ofrece $5,000 dólares de crédito antes de que el dueño lo pida.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Pilar 4 - Interfaces Ligeras: </a:t>
            </a:r>
            <a:r>
              <a:rPr sz="1300">
                <a:solidFill>
                  <a:srgbClr val="3D2314"/>
                </a:solidFill>
                <a:latin typeface="Segoe UI"/>
              </a:rPr>
              <a:t>Apps como Square o Cash App son solo pantallas de contacto. El verdadero valor no es la app, ¡sino la inteligencia viva detrás!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La aplicación bancaria en tu teléfono es solo una vitrina de cristal. La verdadera magia es la inteligencia viva que opera tras bambalinas.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54: Un cerebro de IA creando una oferta de préstamo personalizada directo a una pantalla móvil.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54 de 60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55. Los 3 Roles Humanos en la Nueva Banca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Adiós a los Jefes de Pasillo: </a:t>
            </a:r>
            <a:r>
              <a:rPr sz="1300">
                <a:solidFill>
                  <a:srgbClr val="3D2314"/>
                </a:solidFill>
                <a:latin typeface="Segoe UI"/>
              </a:rPr>
              <a:t>Dorsey eliminó las capas permanentes de coordinadores que pasaban el día en juntas de alineación.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1. Especialistas Individuales: </a:t>
            </a:r>
            <a:r>
              <a:rPr sz="1300">
                <a:solidFill>
                  <a:srgbClr val="3D2314"/>
                </a:solidFill>
                <a:latin typeface="Segoe UI"/>
              </a:rPr>
              <a:t>Ingenieros financieros, programadores y expertos cuantitativos que trabajan con todo el contexto del Modelo de Mundo.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2. Responsables de Objetivos (DRIs): </a:t>
            </a:r>
            <a:r>
              <a:rPr sz="1300">
                <a:solidFill>
                  <a:srgbClr val="3D2314"/>
                </a:solidFill>
                <a:latin typeface="Segoe UI"/>
              </a:rPr>
              <a:t>Líderes con metas claras a 90 días (ej. 'reducir la morosidad en créditos a comercios en un 15%').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3. Entrenadores Prácticos: </a:t>
            </a:r>
            <a:r>
              <a:rPr sz="1300">
                <a:solidFill>
                  <a:srgbClr val="3D2314"/>
                </a:solidFill>
                <a:latin typeface="Segoe UI"/>
              </a:rPr>
              <a:t>Profesionales experimentados que realizan trabajo técnico directo mientras guían y elevan la calidad de su equipo.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colaboradores financieros no necesitan permiso de tres comités: el Modelo de Mundo les da toda la información para decidir al instante.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55: Tres gafetes de colaboradores: Especialista Técnico, Responsable de Metas y Entrenador.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55 de 60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56. La Ventaja Humana: Confianza, Empatía y Grandes Alianzas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Las Máquinas en el Centro: </a:t>
            </a:r>
            <a:r>
              <a:rPr sz="1300">
                <a:solidFill>
                  <a:srgbClr val="3D2314"/>
                </a:solidFill>
                <a:latin typeface="Segoe UI"/>
              </a:rPr>
              <a:t>La IA calcula riesgos, balancea carteras, detecta fraudes y coordina procesos internos a la velocidad de la luz.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Los Humanos en la Frontera: </a:t>
            </a:r>
            <a:r>
              <a:rPr sz="1300">
                <a:solidFill>
                  <a:srgbClr val="3D2314"/>
                </a:solidFill>
                <a:latin typeface="Segoe UI"/>
              </a:rPr>
              <a:t>Las personas se enfocan donde el banco se encuentra con la realidad: resolviendo crisis, forjando alianzas estratégicas y brindando confianza.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Lo Que la IA Jamás Podrá Hacer: </a:t>
            </a:r>
            <a:r>
              <a:rPr sz="1300">
                <a:solidFill>
                  <a:srgbClr val="3D2314"/>
                </a:solidFill>
                <a:latin typeface="Segoe UI"/>
              </a:rPr>
              <a:t>Las computadoras dominan los números, pero carecen de empatía humana, juicio ético, intuición cultural y calidez personal.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Liderar en finanzas ya no es 'vigilar empleados en escritorios'. Es diseñar un sistema donde humanos e IA prosperen y generen riqueza juntos.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56: Empatía, Confianza y Ética: El corazón humano junto al robot financiero.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56 de 60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57. El Grafo Económico: El Círculo Virtuoso de Cash App y Square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Viendo Ambos Lados del Dinero: </a:t>
            </a:r>
            <a:r>
              <a:rPr sz="1300">
                <a:solidFill>
                  <a:srgbClr val="3D2314"/>
                </a:solidFill>
                <a:latin typeface="Segoe UI"/>
              </a:rPr>
              <a:t>Los bancos tradicionales solo ven al que gasta o al que pide prestado. Block ve al comprador (Cash App) Y al comerciante (Square).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Grafo Económico: </a:t>
            </a:r>
            <a:r>
              <a:rPr sz="1300">
                <a:solidFill>
                  <a:srgbClr val="3D2314"/>
                </a:solidFill>
                <a:latin typeface="Segoe UI"/>
              </a:rPr>
              <a:t>Cuando compras un café en una cafetería local con Cash App, Block procesa ambos lados de inmediato sin pagar tarifas a redes de tarjetas.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Círculo Virtuoso: </a:t>
            </a:r>
            <a:r>
              <a:rPr sz="1300">
                <a:solidFill>
                  <a:srgbClr val="3D2314"/>
                </a:solidFill>
                <a:latin typeface="Segoe UI"/>
              </a:rPr>
              <a:t>Más pagos nutren el Modelo de Mundo -&gt; El modelo permite mejores créditos -&gt; ¡Más comercios y clientes eligen la red!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Los bancos viejos con datos aislados no pueden competir contra un grafo económico integrado que aprende de cada café vendido.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57: Dos engranes interconectados: Cash App (Ahorrador) y Square (Comercio).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57 de 60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58. Protocolos Abiertos frente a Castillos Bancarios Cerrados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Peligro de los Monopolios Bancarios: </a:t>
            </a:r>
            <a:r>
              <a:rPr sz="1300">
                <a:solidFill>
                  <a:srgbClr val="3D2314"/>
                </a:solidFill>
                <a:latin typeface="Segoe UI"/>
              </a:rPr>
              <a:t>Cuando gigantes cerrados controlan las vías financieras, cobran altas comisiones, congelan cuentas y atrapan el ahorro.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Protocolos Abiertos: </a:t>
            </a:r>
            <a:r>
              <a:rPr sz="1300">
                <a:solidFill>
                  <a:srgbClr val="3D2314"/>
                </a:solidFill>
                <a:latin typeface="Segoe UI"/>
              </a:rPr>
              <a:t>Dorsey impulsa estándares descentralizados (como Nostr y Bitcoin): redes abiertas donde nadie es dueño de los servidores, igual que el correo electrónico.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Libertad para Agentes Financieros: </a:t>
            </a:r>
            <a:r>
              <a:rPr sz="1300">
                <a:solidFill>
                  <a:srgbClr val="3D2314"/>
                </a:solidFill>
                <a:latin typeface="Segoe UI"/>
              </a:rPr>
              <a:t>En una red abierta, ningún directivo centralizado puede cancelar arbitrariamente la cuenta de tu Clawbot financiero.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¡Jamás construyas tu empresa financiera sobre arenas movedizas cerradas! Construye sobre protocolos abiertos e indestructibles.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58: Un castillo bancario corporativo cerrado frente a una autopista abierta y soleada de protocolos.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58 de 60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59. Bitcoin y Lightning Network: El Dinero Nativo de los Robots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Por Qué el Dinero Tradicional Falla con Bots: </a:t>
            </a:r>
            <a:r>
              <a:rPr sz="1300">
                <a:solidFill>
                  <a:srgbClr val="3D2314"/>
                </a:solidFill>
                <a:latin typeface="Segoe UI"/>
              </a:rPr>
              <a:t>Un bot de IA no puede entrar a una sucursal, firmar un papel ni esperar 3 días a que pase una transferencia bancaria.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Bitcoin como Dinero de Máquinas: </a:t>
            </a:r>
            <a:r>
              <a:rPr sz="1300">
                <a:solidFill>
                  <a:srgbClr val="3D2314"/>
                </a:solidFill>
                <a:latin typeface="Segoe UI"/>
              </a:rPr>
              <a:t>Bitcoin es dinero neutral, global y programable que cualquier agente de software puede custodiar con una llave criptográfica privada.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La Red Lightning (Protocolo L402): </a:t>
            </a:r>
            <a:r>
              <a:rPr sz="1300">
                <a:solidFill>
                  <a:srgbClr val="3D2314"/>
                </a:solidFill>
                <a:latin typeface="Segoe UI"/>
              </a:rPr>
              <a:t>¡Liquida micropagos en milisegundos por menos de $0.0001 dólares! Un bot puede pagarle a otro 1 Satoshi por una consulta de riesgo financiero.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Red Lightning + OpenClaw = Una economía autónoma imparable donde millones de bots comercian, prestan y liquidan sin bancos intermediarios.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5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59: Un robot depositando micro-monedas Lightning en una ranura de API.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59 de 60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solidFill>
              <a:srgbClr val="FAF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320040"/>
            <a:ext cx="10728655" cy="54864"/>
          </a:xfrm>
          <a:prstGeom prst="rect">
            <a:avLst/>
          </a:prstGeom>
          <a:solidFill>
            <a:srgbClr val="FF5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dia_1790359781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438912"/>
            <a:ext cx="2103120" cy="6015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1148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F5900"/>
                </a:solidFill>
                <a:latin typeface="Segoe UI"/>
              </a:defRPr>
            </a:pPr>
            <a:r>
              <a:t>MÓDULO 6: LA EMPRESA FINANCIERA VIVA DE JACK DORSEY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713232"/>
            <a:ext cx="8412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21140E"/>
                </a:solidFill>
                <a:latin typeface="Segoe UI"/>
              </a:defRPr>
            </a:pPr>
            <a:r>
              <a:t>60. La Empresa Financiera Viva del Mañana: Es tu Turno de Liderar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658368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1783080"/>
            <a:ext cx="5943600" cy="3017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Gran Cambio de 2,000 Años Llegó: </a:t>
            </a:r>
            <a:r>
              <a:rPr sz="1300">
                <a:solidFill>
                  <a:srgbClr val="3D2314"/>
                </a:solidFill>
                <a:latin typeface="Segoe UI"/>
              </a:rPr>
              <a:t>La época en que los seres humanos fungían como lentos mensajeros burocráticos en la banca ha terminado.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Tu Nueva Fortaleza: </a:t>
            </a:r>
            <a:r>
              <a:rPr sz="1300">
                <a:solidFill>
                  <a:srgbClr val="3D2314"/>
                </a:solidFill>
                <a:latin typeface="Segoe UI"/>
              </a:rPr>
              <a:t>Entiendes la tubería FinTech, la aprobación automatizada, los enjambres de trading en MarketBook y la empresa viva de Dorsey.</a:t>
            </a:r>
          </a:p>
          <a:p>
            <a:pPr>
              <a:lnSpc>
                <a:spcPct val="125000"/>
              </a:lnSpc>
              <a:spcAft>
                <a:spcPts val="1200"/>
              </a:spcAft>
            </a:pPr>
            <a:r>
              <a:rPr sz="1400" b="1">
                <a:solidFill>
                  <a:srgbClr val="FF5900"/>
                </a:solidFill>
                <a:latin typeface="Segoe UI"/>
              </a:rPr>
              <a:t>▸ </a:t>
            </a:r>
            <a:r>
              <a:rPr sz="1300" b="1">
                <a:solidFill>
                  <a:srgbClr val="21140E"/>
                </a:solidFill>
                <a:latin typeface="Segoe UI"/>
              </a:rPr>
              <a:t>El Desafío Final: </a:t>
            </a:r>
            <a:r>
              <a:rPr sz="1300">
                <a:solidFill>
                  <a:srgbClr val="3D2314"/>
                </a:solidFill>
                <a:latin typeface="Segoe UI"/>
              </a:rPr>
              <a:t>Si solo usas la IA para llenar tablas de cálculo más rápido, una empresa viva te superará. ¡Usa la IA para construir un organismo inteligente!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892040"/>
            <a:ext cx="6035040" cy="1051560"/>
          </a:xfrm>
          <a:prstGeom prst="roundRect">
            <a:avLst/>
          </a:prstGeom>
          <a:solidFill>
            <a:srgbClr val="F5EEE6"/>
          </a:solidFill>
          <a:ln w="12700">
            <a:solidFill>
              <a:srgbClr val="FF5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88720" y="5001768"/>
            <a:ext cx="566928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21140E"/>
                </a:solidFill>
                <a:latin typeface="Segoe UI"/>
              </a:defRPr>
            </a:pPr>
            <a:r>
              <a:t>Mensaje Final: Ya no eres solo un operador de hojas de cálculo. ¡Eres el arquitecto de una inteligencia financiera viva!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8255" y="1508760"/>
            <a:ext cx="3931920" cy="46634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DA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 descr="art_finance_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1135" y="1691640"/>
            <a:ext cx="3566160" cy="35661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711135" y="5349240"/>
            <a:ext cx="35661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i="1">
                <a:solidFill>
                  <a:srgbClr val="736357"/>
                </a:solidFill>
                <a:latin typeface="Segoe UI"/>
              </a:defRPr>
            </a:pPr>
            <a:r>
              <a:t>Fig 60: Un ser humano y una IA financiera contemplando juntos un amanecer brillante.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6309360"/>
            <a:ext cx="10728655" cy="18288"/>
          </a:xfrm>
          <a:prstGeom prst="rect">
            <a:avLst/>
          </a:prstGeom>
          <a:solidFill>
            <a:srgbClr val="E2DA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6382512"/>
            <a:ext cx="54864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>
                <a:solidFill>
                  <a:srgbClr val="736357"/>
                </a:solidFill>
                <a:latin typeface="Segoe UI"/>
              </a:defRPr>
            </a:pPr>
            <a:r>
              <a:t>Universidad Anáhuac Mayab  |  Inteligencia Artificial en Finanzas  |  Prof. J. Christopher Westland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382512"/>
            <a:ext cx="1858975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000" b="1">
                <a:solidFill>
                  <a:srgbClr val="FF5900"/>
                </a:solidFill>
                <a:latin typeface="Segoe UI"/>
              </a:defRPr>
            </a:pPr>
            <a:r>
              <a:t>Diapositiva 60 de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10139</Words>
  <Application>Microsoft Office PowerPoint</Application>
  <PresentationFormat>Widescreen</PresentationFormat>
  <Paragraphs>542</Paragraphs>
  <Slides>192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192</vt:i4>
      </vt:variant>
    </vt:vector>
  </HeadingPairs>
  <TitlesOfParts>
    <vt:vector size="19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Westland, James Christopher</cp:lastModifiedBy>
  <cp:revision>2</cp:revision>
  <dcterms:created xsi:type="dcterms:W3CDTF">2013-01-27T09:14:16Z</dcterms:created>
  <dcterms:modified xsi:type="dcterms:W3CDTF">2026-09-25T23:54:19Z</dcterms:modified>
  <cp:category/>
</cp:coreProperties>
</file>