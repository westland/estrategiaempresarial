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 Presenta la tesis central del módulo ejecutivo de 5 horas. Enfatice a los estudiantes que las criptomonedas y los mercados de predicción no deben analizarse solo como activos especulativos o código de software. Representan rieles institucionales alternativos que compiten de forma directa con los tribunales soberanos y el monopolio de la banca central. Vincule todo el análisis con la fórmula de Westland: Innovación = Invención + Comercialización.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 Detalla el cronograma de 300 minutos de contacto. Explique la alternancia pedagógica entre teoría estratégica formal, casos de estudio internacionales y talleres aplicados en equipo. Subraye que esta dinámica une la solidez académica con la toma de decisiones ejecutivas en entornos institucionales reales.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 Ancla la Cátedra 1 en el Capítulo 1 de Global Innovation Management. Contraste la coacción legal soberana (juzgados, policía, controles de cambio) con los protocolos descentralizados (matemática determinista, criptografía de consenso). Pregunte: ¿Por qué existen las instituciones? Para reducir costos de transacción y garantizar confianza. Web3 sustituye la confianza judicial por confianza comunitaria y algorítmica.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4: Aplica el modelo de los Dos Mercados del Capítulo 9 de Westland. Explique que la viabilidad empresarial a largo plazo exige ganar en el Mercado 1 (utilidad para el cliente). Cuando un proyecto vive solo del Mercado 2 (hype y liquidez especulativa), colapsa en cuanto se agotan los subsidios de rendimiento.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5: Compara los tres escenarios geográficos clave del curso usando Sistemas Nacionales de Innovación (GIM Cap. 13). Demuestre que la adopción tecnológica nunca es culturalmente neutra: en EE.UU. se regula como activo financiero, en China como amenaza a la soberanía del Estado, y en Latinoamérica como dinero cotidiano de supervivencia.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6: Desglosa los pagos internacionales con la Cadena de Consumo de Westland (Caps. 2 y 5). Subraye que los ingenieros cripto fracasan al optimizar la velocidad del bloque si descuidan la rampa final de retiro en moneda local. Una cadena siempre se quiebra por su eslabón más débil.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7: Aplica el Mapa de Características de la Demanda (GIM Fig 2.5) al dinero. Explique por qué Bitcoin no logró ser medio de cambio cotidiano (su volatilidad rompe la unidad de cuenta) mientras las stablecoins triunfaron: cumplen los básicos de reserva de valor e incorporan energizadores clave de movilidad patrimonial.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8: Analiza las competencias de la oferta (GIM Fig 2.6). Los programadores Web3 asumen a menudo que tener la mejor matemática garantiza el éxito comercial. Recuérdeles que las licencias locales, las rampas de dinero físico y la distribución minorista no son centrales para la criptografía, pero son vitales para la comercialización.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9: Desglosa el modelo de negocio del Exchange Descentralizado (DEX) (GIM Cap. 3). Contraste el Creador de Mercado Automatizado (Uniswap) con las plataformas centralizadas tradicionales (Binance). Muestre cómo la desintermediación transfiere la función de mercado a un contrato inteligente público.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10: Trata la topología de redes y la escala del valor (GIM Cap. 12). Subraye la gran paradoja de Web3: los efectos de red generan liquidez rápido, pero al ser código abierto, los costos de salida son nulos. Explique cómo operó el ataque vampiro de SushiSwap contra Uniswap.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11: Aplica el marco de McGahan y Westland sobre Trayectorias de Cambio (GIM Fig 3.4 y 3.5). Desafíe al grupo: ¿Cripto es un cambio 'Radical' o 'Intermediario' para la banca? Demuestre que es Intermediario: los balances bancarios conservan su poder, pero los procesos de pago deben modernizarse.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12: Introduce la teoría de Opciones Reales ante incertidumbre knightiana (GIM Cap. 6). Cuando el entorno legal y técnico no se puede proyectar con fórmulas estáticas de DCF, las empresas deben adquirir opciones estratégicas de posicionamiento, exploración y trampolín.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13: Estudia maniobras competitivas mediante Arbitraje Regulatorio (GIM Cap. 6). Contraste el modelo de guerrilla offshore de Binance o Polymarket frente al modelo frontal de Coinbase o Kalshi. Analice qué ocurre cuando se cruza el umbral de tolerancia del Estado.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14: Actúa como puente didáctico entre la Cátedra 1 y el Caso de Estudio 1. Lance la pregunta detonadora: ¿Por qué las stablecoins ligadas al dólar explotaron en uso en América Latina mientras casi no se usan para compras locales dentro de Estados Unidos?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15: Presenta el contexto del Caso de Estudio 1. Destaque el choque entre tres modelos opuestos: la red física de agencias de Western Union, los rieles instantáneos de Capa 2 de Strike y las mesas informales de cambio P2P de Tether.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16: Analiza el Anexo 1 del Caso. Pida a los estudiantes comparar paso a paso costos y demoras entre la banca tradicional y las stablecoins. Pregunte: ¿Cuáles son las barreras que todavía frenan que el 100% de los usuarios use stablecoins?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17: Evalúa el Anexo 2 del Caso. Destaque el R^2 superior a 0.88 entre inflación y volumen transaccionado. Esto ilustra la Preferencia Revelada de Westland: los ciudadanos protegen su dinero real al margen de discursos políticos o normativas restrictivas.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18: Modera el debate del Caso 1. Divida al grupo en dos bandos: directores de fintechs desafiantes vs estrategas de bancos tradicionales. Obligue a los defensores del banco a justificar sus comisiones sin recurrir al argumento de la protección estatal.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19: Inicia la Fase 1 del Taller 1 (15 min), basado en el Capítulo 1 de GIM (págs. 20-23). Los estudiantes forman equipos de 3 a 4 integrantes para invertir supuestos bancarios históricos y definir 2 productos viables nacidos de esa inversión.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20: Coordina la Fase 2 del Taller 1 (15 min) utilizando la Caja Morfológica de Zwicky (GIM Cap. 3, págs. 71-73). Cada equipo debe configurar un paquete de producto y justificar sus costos unitarios antes de salir al receso.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21: Abre la Cátedra 2. Una el ensayo de 1945 de Friedrich Hayek ('El uso del conocimiento en la sociedad') con la Teoría de la Información de Claude Shannon (GIM Cap. 9). Explique cómo los mercados de predicción usan los precios para borrar asimetrías de información.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22: Detalla la matemática de los contratos binarios. Subraye que en las finanzas, opinar sin arriesgar capital no tiene valor. El arbitraje absorbe información confidencial y análisis privados, plasmándolos directamente en la cotización.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23: Compara las escalas Likert tradicionales (1932, GIM pág. 260) con los mercados de predicción basados en preferencia revelada. Cite a Nate Silver ('The Signal and the Noise'). Muestre por qué la estrategia moderna no puede guiarse por encuestas telefónicas.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24: Aborda las Casetas de Cobro Legales y los Derechos de Propiedad (GIM Cap. 7). ¿Por qué los gobiernos persiguen a los mercados de predicción? Analice captura regulatoria, recaudación fiscal de loterías estatales y temor a perder el control de la narrativa pública.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25: Plantea el duelo competitivo central de la industria de pronósticos (GIM Fig 3.7). Compare la estrategia institucional de Kalshi frente al modelo abierto Web3 de Polymarket. Esta rivalidad es el eje del Caso 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26: Analiza el Problema del Oráculo desde la óptica técnica y filosófica. Si un contrato pregunta '¿Ganará el candidato X?', ¿cómo sabe el código la respuesta? Explique el juego de incentivos de UMA: votar alineado con el consenso objetivo protege tu fianza.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27: Presenta la ecuación de Entropía de Shannon (GIM Cap. 9). Recalque que cuando un suceso es 99% seguro, el mercado no aporta información nueva. El mayor valor comercial se crea cuando la duda es del 50/50 y los operadores financian el descubrimiento del dato.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28: Aplica la topología de redes libres de escala (GIM Cap. 12) a los mercados de predicción. Desmonte la creencia de que estos mercados son una votación popular igualitaria. El 95% de la precisión la forja un grupo selecto de firmas cuantitativas con algoritmos avanzados.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29: Analiza las diferencias transculturales en la contratación de eventos. Examine cómo la percepción cultural del azar, el control del Estado y la inflación determinan las categorías de contratos más demandadas en cada continente.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30: Conecta los mercados de eventos con la Teoría de la Innovación Disruptiva de Clayton Christensen (GIM Cap. 8). Siga el salto histórico: de apuestas informales de cultura pop a referencias mundiales electorales y contratos de riesgo para corporaciones.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31: Aplica el Cono de Valor de Westland (Fig 9.17). ¿Cómo sobrevive una plataforma cuyos ingresos dependen en un 80% de un trimestre electoral cada cuatro años? Analice la diversificación hacia contratos de deportes, finanzas y riesgos de negocio.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32: Consolida todo el marco teórico en los 4 Pilares de Decisión Estratégica. Prepare al auditorio para el Caso de Estudio 2 evaluando cómo Kalshi y Polymarket encarnan estas tensiones de forma antagónica.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33: Expone el Caso 2: Polymarket vs Wall Street y los Reguladores. Destaque la paradoja de 2024: el pronóstico más certero sobre las elecciones de EE.UU. se construyó en una plataforma offshore que tenía prohibido aceptar usuarios de ese mismo país.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34: Repasa el Anexo 1 del Caso. Pregunte a los alumnos si una persona muy rica puede manipular un mercado de predicción. Muestre cómo los arbitrajistas financieros toman con gusto la postura contraria de apuestas infladas para obtener ganancias fáciles.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35: Revisa el Anexo 2 con la gráfica de radar multiaxial. Compare la fortaleza regulatoria de Kalshi frente a la máquina de liquidez de Polymarket. Pregunte: ¿Cuál de los dos modelos creará mayor valor de negocio en los próximos 10 años?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36: Conduce el debate del Caso 2. Rete al grupo con el dilema del 'ataque vampiro': si los contratos de Polymarket son de código abierto en Polygon, ¿por qué ningún clon ha podido arrebatarle el liderazgo de mercado?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37: Arranca la Fase 1 del Taller 2 (20 min) aplicando Campos de Fuerza de Kurt Lewin (GIM Cap. 6, págs. 153-154). Recuerde a los alumnos: los novatos empujan las fuerzas positivas; los estrategas profesionales debilitan las fuerzas negativas.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38: Dirige la Fase 2 del Taller 2 (20 min). Cada equipo dibuja su Cono de Valor a 5 años y expone su propuesta de entrada para Mercado Libre, defendiendo su tasa de descuento frente a contingencias regulatorias.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39: Expone la rúbrica formal de evaluación. Repase los 4 ejes: Rigor Metodológico (30%), Lógica Económica (25%), Profundidad Institucional Transcultural (25%) y Factibilidad Práctica de Ejecución (20%).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40: Concluye la cátedra magistral. Conecte con la reflexión final de Westland: la ventaja competitiva en el entorno digital no se obtiene solo en el código, sino en la intersección armónica entre Código Criptográfico, Ley Soberana y Adopción Humana Real.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04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VISIÓN DEL CURSO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Estrategia Digital Transcultural: Web3 y Mercados de Predicción</a:t>
            </a:r>
          </a:p>
          <a:p>
            <a:pPr>
              <a:defRPr sz="1180">
                <a:solidFill>
                  <a:srgbClr val="5A504B"/>
                </a:solidFill>
                <a:latin typeface="Segoe UI"/>
              </a:defRPr>
            </a:pPr>
            <a:r>
              <a:t>Arquitecturas descentralizadas, riesgo transaccional y emergencia de mercados globales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Tesis Estratégica Central</a:t>
            </a:r>
          </a:p>
          <a:p>
            <a:pPr>
              <a:defRPr sz="1019">
                <a:solidFill>
                  <a:srgbClr val="3C322D"/>
                </a:solidFill>
                <a:latin typeface="Segoe UI"/>
              </a:defRPr>
            </a:pPr>
            <a:r>
              <a:t>Las innovaciones Web3 (criptomonedas, DeFi, mercados de predicción) no son mero software; son sustitutos institucionales que navegan marcos regulatorios, políticas monetarias y esquemas de confianza divergentes.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Fundamento Teórico Riguroso</a:t>
            </a:r>
          </a:p>
          <a:p>
            <a:pPr>
              <a:defRPr sz="1019">
                <a:solidFill>
                  <a:srgbClr val="3C322D"/>
                </a:solidFill>
                <a:latin typeface="Segoe UI"/>
              </a:defRPr>
            </a:pPr>
            <a:r>
              <a:t>Basado en Global Innovation Management de J. Christopher Westland (Palgrave Macmillan). La innovación se define formalmente como Innovación = Invención + Comercialización. El código nuevo sin adopción es estéril.</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Alineación Curricular</a:t>
            </a:r>
          </a:p>
          <a:p>
            <a:pPr>
              <a:defRPr sz="1019">
                <a:solidFill>
                  <a:srgbClr val="3C322D"/>
                </a:solidFill>
                <a:latin typeface="Segoe UI"/>
              </a:defRPr>
            </a:pPr>
            <a:r>
              <a:t>Conecta Comercio Electrónico Internacional (Riesgo y Fraude), Gestión de la Innovación Global (Ventaja Estratégica en Multinacionales) y Negociaciones Digitales y Alianzas Comerciales Transculturales.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1_strategic_anchor.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27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CRONOGRAMA MAESTRO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Cronograma Maestro Ejecutivo de 5 Horas y Arquitectura Pedagógica</a:t>
            </a:r>
          </a:p>
          <a:p>
            <a:pPr>
              <a:defRPr sz="1180">
                <a:solidFill>
                  <a:srgbClr val="5A504B"/>
                </a:solidFill>
                <a:latin typeface="Segoe UI"/>
              </a:defRPr>
            </a:pPr>
            <a:r>
              <a:t>Estructurado en dos sesiones dinámicas o en un taller intensivo de día completo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Sesión 1: Fundamentos y Rieles de Stablecoins</a:t>
            </a:r>
          </a:p>
          <a:p>
            <a:pPr>
              <a:defRPr sz="1019">
                <a:solidFill>
                  <a:srgbClr val="3C322D"/>
                </a:solidFill>
                <a:latin typeface="Segoe UI"/>
              </a:defRPr>
            </a:pPr>
            <a:r>
              <a:t>Parte I: Cátedra de Estrategia en Mercados Descentralizados (60 min) -&gt; Parte II: Caso 1 sobre Rieles de Stablecoins (60 min) -&gt; Parte III: Taller 1 de Inversión de Supuestos y Caja Morfológica (30 min).</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Sesión 2: Economía de la Información y Verdad</a:t>
            </a:r>
          </a:p>
          <a:p>
            <a:pPr>
              <a:defRPr sz="1019">
                <a:solidFill>
                  <a:srgbClr val="3C322D"/>
                </a:solidFill>
                <a:latin typeface="Segoe UI"/>
              </a:defRPr>
            </a:pPr>
            <a:r>
              <a:t>Parte IV: Cátedra de Mercados de Predicción y Arbitraje (45 min) -&gt; Parte V: Caso 2 sobre Polymarket vs Wall Street (50 min) -&gt; Parte VI: Taller 2 de Campos de Fuerza y Cono de Valor (40 min).</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Aprendizaje Activo y Rigor Analítico</a:t>
            </a:r>
          </a:p>
          <a:p>
            <a:pPr>
              <a:defRPr sz="1019">
                <a:solidFill>
                  <a:srgbClr val="3C322D"/>
                </a:solidFill>
                <a:latin typeface="Segoe UI"/>
              </a:defRPr>
            </a:pPr>
            <a:r>
              <a:t>Combina cátedra magistral de alto nivel con ejercicios prácticos en equipo y análisis de casos estilo Harvard, evaluando los entregables con la rúbrica formal de 4 ejes de Westland.</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2_master_schedul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84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RIELES DESCENTRALIZADOS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Rieles Descentralizados, Liquidez Global y Fronteras Institucionales</a:t>
            </a:r>
          </a:p>
          <a:p>
            <a:pPr>
              <a:defRPr sz="1180">
                <a:solidFill>
                  <a:srgbClr val="5A504B"/>
                </a:solidFill>
                <a:latin typeface="Segoe UI"/>
              </a:defRPr>
            </a:pPr>
            <a:r>
              <a:t>Por qué los activos Web3 sustituyen instituciones y no son simples aplicaciones (GIM Cap. 1)</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Más Allá del Software</a:t>
            </a:r>
          </a:p>
          <a:p>
            <a:pPr>
              <a:defRPr sz="1019">
                <a:solidFill>
                  <a:srgbClr val="3C322D"/>
                </a:solidFill>
                <a:latin typeface="Segoe UI"/>
              </a:defRPr>
            </a:pPr>
            <a:r>
              <a:t>Las blockchains no solo almacenan registros; ejecutan derechos de propiedad, cumplimiento contractual y liquidez soberana al margen de la banca comercial tradicional.</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El Reto de la Comercialización</a:t>
            </a:r>
          </a:p>
          <a:p>
            <a:pPr>
              <a:defRPr sz="1019">
                <a:solidFill>
                  <a:srgbClr val="3C322D"/>
                </a:solidFill>
                <a:latin typeface="Segoe UI"/>
              </a:defRPr>
            </a:pPr>
            <a:r>
              <a:t>Los avances criptográficos constituyen invención. La comercialización exige vencer la fricción de registro, los bloqueos regulatorios y la desconfianza institucional.</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Fricción en Fronteras Institucionales</a:t>
            </a:r>
          </a:p>
          <a:p>
            <a:pPr>
              <a:defRPr sz="1019">
                <a:solidFill>
                  <a:srgbClr val="3C322D"/>
                </a:solidFill>
                <a:latin typeface="Segoe UI"/>
              </a:defRPr>
            </a:pPr>
            <a:r>
              <a:t>Cuando el código descentralizado sin fronteras choca contra leyes nacionales territoriales, las firmas deben elegir entre crecer con límites legales o recurrir al arbitraje offshore.</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3_institutional_substitution.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19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ECONOMÍA WEB3</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4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El Problema de los Dos Mercados en Web3 (GIM Cap. 9)</a:t>
            </a:r>
          </a:p>
          <a:p>
            <a:pPr>
              <a:defRPr sz="1180">
                <a:solidFill>
                  <a:srgbClr val="5A504B"/>
                </a:solidFill>
                <a:latin typeface="Segoe UI"/>
              </a:defRPr>
            </a:pPr>
            <a:r>
              <a:t>Diagnóstico de la divergencia fatal entre Especulación de Tokens y Utilidad Real del Usuario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Mercado 1: Utilidad Comercial Real</a:t>
            </a:r>
          </a:p>
          <a:p>
            <a:pPr>
              <a:defRPr sz="1019">
                <a:solidFill>
                  <a:srgbClr val="3C322D"/>
                </a:solidFill>
                <a:latin typeface="Segoe UI"/>
              </a:defRPr>
            </a:pPr>
            <a:r>
              <a:t>Demanda económica genuina que resuelve dolores reales: remesas transfronterizas baratas, resguardo contra la inflación con stablecoins USD y cobros a proveedores sin censura.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Mercado 2: Especulación de Capital y Tokens</a:t>
            </a:r>
          </a:p>
          <a:p>
            <a:pPr>
              <a:defRPr sz="1019">
                <a:solidFill>
                  <a:srgbClr val="3C322D"/>
                </a:solidFill>
                <a:latin typeface="Segoe UI"/>
              </a:defRPr>
            </a:pPr>
            <a:r>
              <a:t>Financiamiento de fondos de capital de riesgo (VC), incentivos de minería de liquidez, cotización en exchanges y valoraciones infladas de tokens de gobernanza.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La Trampa de la Fragilidad Web3</a:t>
            </a:r>
          </a:p>
          <a:p>
            <a:pPr>
              <a:defRPr sz="1019">
                <a:solidFill>
                  <a:srgbClr val="3C322D"/>
                </a:solidFill>
                <a:latin typeface="Segoe UI"/>
              </a:defRPr>
            </a:pPr>
            <a:r>
              <a:t>Las startups Web3 suelen alcanzar valoraciones de $500M en el Mercado 2 sin generar ni $10k anuales de utilidad comercial real en el Mercado 1, creando burbujas hiperextendidas.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4_two_markets_problem.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7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CONTEXTO TRANSCULTURAL</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5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Contextos Institucionales Transculturales: EE.UU. vs. China vs. LATAM</a:t>
            </a:r>
          </a:p>
          <a:p>
            <a:pPr>
              <a:defRPr sz="1180">
                <a:solidFill>
                  <a:srgbClr val="5A504B"/>
                </a:solidFill>
                <a:latin typeface="Segoe UI"/>
              </a:defRPr>
            </a:pPr>
            <a:r>
              <a:t>Cómo los sistemas nacionales de innovación y regímenes normativos dictan la adopción (GIM Cap. 13)</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Estados Unidos: Litigio y Fiscalización</a:t>
            </a:r>
          </a:p>
          <a:p>
            <a:pPr>
              <a:defRPr sz="1019">
                <a:solidFill>
                  <a:srgbClr val="3C322D"/>
                </a:solidFill>
                <a:latin typeface="Segoe UI"/>
              </a:defRPr>
            </a:pPr>
            <a:r>
              <a:t>Entorno judicial (Common Law); medidas punitivas de la SEC y la CFTC; fuerte foco en proteger inversores acreditados, normas antilavado (BSA/AML) y recaudación tributaria.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China: Control Digital Soberano del Estado</a:t>
            </a:r>
          </a:p>
          <a:p>
            <a:pPr>
              <a:defRPr sz="1019">
                <a:solidFill>
                  <a:srgbClr val="3C322D"/>
                </a:solidFill>
                <a:latin typeface="Segoe UI"/>
              </a:defRPr>
            </a:pPr>
            <a:r>
              <a:t>Capitalismo de Estado centralizado; prohibición absoluta de minería y trading privado; CBDC estatal (e-CNY) diseñada para vigilancia financiera total y control de capitales.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Latinoamérica: Volatilidad Macroeconómica</a:t>
            </a:r>
          </a:p>
          <a:p>
            <a:pPr>
              <a:defRPr sz="1019">
                <a:solidFill>
                  <a:srgbClr val="3C322D"/>
                </a:solidFill>
                <a:latin typeface="Segoe UI"/>
              </a:defRPr>
            </a:pPr>
            <a:r>
              <a:t>Inflación crónica de tres dígitos (Argentina, Venezuela), cepos cambiarios e ineficiencia bancaria; genera demanda orgánica popular de stablecoins ancladas al dólar.</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5_institutional_divergenc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27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CADENAS DE CONSUMO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6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Cadenas de Consumo del Cliente en Pagos Transfronterizos (GIM Caps. 2 y 5)</a:t>
            </a:r>
          </a:p>
          <a:p>
            <a:pPr>
              <a:defRPr sz="1180">
                <a:solidFill>
                  <a:srgbClr val="5A504B"/>
                </a:solidFill>
                <a:latin typeface="Segoe UI"/>
              </a:defRPr>
            </a:pPr>
            <a:r>
              <a:t>Mapeo de fricciones: Por qué una cadena de pagos es tan fuerte como su eslabón más débil</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La Cadena de Pagos en 6 Pasos</a:t>
            </a:r>
          </a:p>
          <a:p>
            <a:pPr>
              <a:defRPr sz="1019">
                <a:solidFill>
                  <a:srgbClr val="3C322D"/>
                </a:solidFill>
                <a:latin typeface="Segoe UI"/>
              </a:defRPr>
            </a:pPr>
            <a:r>
              <a:t>El recorrido completo: 1. Identificación/Registro -&gt; 2. Rampa de Entrada Fiat -&gt; 3. Envío On-Chain -&gt; 4. Fondo de Liquidez -&gt; 5. Rampa de Salida Fiat -&gt; 6. Cobro en Comercio.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El Principio del Eslabón Más Débil</a:t>
            </a:r>
          </a:p>
          <a:p>
            <a:pPr>
              <a:defRPr sz="1019">
                <a:solidFill>
                  <a:srgbClr val="3C322D"/>
                </a:solidFill>
                <a:latin typeface="Segoe UI"/>
              </a:defRPr>
            </a:pPr>
            <a:r>
              <a:t>Aunque la blockchain transfiera valor en 2 segundos por $0.01, si el banco local tarda 3 días o cobra 8% en la salida a efectivo, la adopción del cliente se derrumba a cero.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Cadenas SWIFT vs. Stablecoins</a:t>
            </a:r>
          </a:p>
          <a:p>
            <a:pPr>
              <a:defRPr sz="1019">
                <a:solidFill>
                  <a:srgbClr val="3C322D"/>
                </a:solidFill>
                <a:latin typeface="Segoe UI"/>
              </a:defRPr>
            </a:pPr>
            <a:r>
              <a:t>La banca corresponsal SWIFT envía fondos a través de 3 a 5 bancos intermediarios en 72 horas; las stablecoins aceleran el centro pero acumulan fricción en las rampas bancarias locales.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6_consumption_chain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84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MAPA DE CARACTERÍSTICAS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7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El Mapa de Demanda del Dinero (GIM Fig 2.5)</a:t>
            </a:r>
          </a:p>
          <a:p>
            <a:pPr>
              <a:defRPr sz="1180">
                <a:solidFill>
                  <a:srgbClr val="5A504B"/>
                </a:solidFill>
                <a:latin typeface="Segoe UI"/>
              </a:defRPr>
            </a:pPr>
            <a:r>
              <a:t>Clasificación de atributos monetarios: Básicos, Diferenciadores, Energizadores y Desalentadores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Características Básicas (Mínimos Obligatorios)</a:t>
            </a:r>
          </a:p>
          <a:p>
            <a:pPr>
              <a:defRPr sz="1019">
                <a:solidFill>
                  <a:srgbClr val="3C322D"/>
                </a:solidFill>
                <a:latin typeface="Segoe UI"/>
              </a:defRPr>
            </a:pPr>
            <a:r>
              <a:t>Reserva de valor, unidad de cuenta y medio de cambio aceptado. Carecer de cualquiera de estos factores higiénicos descalifica al activo como dinero funcional.</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Diferenciadores y Energizadores</a:t>
            </a:r>
          </a:p>
          <a:p>
            <a:pPr>
              <a:defRPr sz="1019">
                <a:solidFill>
                  <a:srgbClr val="3C322D"/>
                </a:solidFill>
                <a:latin typeface="Segoe UI"/>
              </a:defRPr>
            </a:pPr>
            <a:r>
              <a:t>Diferenciadores: Liquidación T+0 instantánea, servicio 24/7/365 y contratos programables. Energizadores: Evasión de controles de cambio, custodia resistente a censura y rendimiento DeFi.</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Desalentadores y Causantes de Furia</a:t>
            </a:r>
          </a:p>
          <a:p>
            <a:pPr>
              <a:defRPr sz="1019">
                <a:solidFill>
                  <a:srgbClr val="3C322D"/>
                </a:solidFill>
                <a:latin typeface="Segoe UI"/>
              </a:defRPr>
            </a:pPr>
            <a:r>
              <a:t>Picos sorpresivos en comisiones de red (+$50 por gas), extravío irrecuperable de llaves privadas y hackeos a contratos inteligentes destruyen la confianza del usuario.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7_feature_map_money.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5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MAPA DE COMPETENCIAS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8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Capacidades de la Oferta: Centrales vs. No Centrales (GIM Fig 2.6)</a:t>
            </a:r>
          </a:p>
          <a:p>
            <a:pPr>
              <a:defRPr sz="1180">
                <a:solidFill>
                  <a:srgbClr val="5A504B"/>
                </a:solidFill>
                <a:latin typeface="Segoe UI"/>
              </a:defRPr>
            </a:pPr>
            <a:r>
              <a:t>Por qué los equipos puramente cripto fracasan sin alianzas locales de fintech y regulación</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Competencias Criptográficas Centrales</a:t>
            </a:r>
          </a:p>
          <a:p>
            <a:pPr>
              <a:defRPr sz="1019">
                <a:solidFill>
                  <a:srgbClr val="3C322D"/>
                </a:solidFill>
                <a:latin typeface="Segoe UI"/>
              </a:defRPr>
            </a:pPr>
            <a:r>
              <a:t>Pruebas de conocimiento cero, mecanismos de consenso tolerantes a fallas bizantinas, auditoría matemática de contratos, gestión de liquidez e integración de oráculos.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Operaciones No Centrales Imprescindibles</a:t>
            </a:r>
          </a:p>
          <a:p>
            <a:pPr>
              <a:defRPr sz="1019">
                <a:solidFill>
                  <a:srgbClr val="3C322D"/>
                </a:solidFill>
                <a:latin typeface="Segoe UI"/>
              </a:defRPr>
            </a:pPr>
            <a:r>
              <a:t>Integración con rieles bancarios locales (SPEI en México, PIX en Brasil, ACH en EE.UU.), verificación KYC/AML regional, redes de cobro en efectivo y diseño de apps móviles.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El Imperativo de las Alianzas Estratégicas</a:t>
            </a:r>
          </a:p>
          <a:p>
            <a:pPr>
              <a:defRPr sz="1019">
                <a:solidFill>
                  <a:srgbClr val="3C322D"/>
                </a:solidFill>
                <a:latin typeface="Segoe UI"/>
              </a:defRPr>
            </a:pPr>
            <a:r>
              <a:t>Los desarrolladores Web3 no pueden escalar de forma aislada; deben pactar acuerdos o integraciones de API con fintechs locales autorizadas para resolver la última milla.</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8_supply_capabilitie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6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ARQUETIPOS DE NEGOCIO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9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Arquetipo de Negocio: El Exchange Descentralizado (GIM Cap. 3)</a:t>
            </a:r>
          </a:p>
          <a:p>
            <a:pPr>
              <a:defRPr sz="1180">
                <a:solidFill>
                  <a:srgbClr val="5A504B"/>
                </a:solidFill>
                <a:latin typeface="Segoe UI"/>
              </a:defRPr>
            </a:pPr>
            <a:r>
              <a:t>Creadores de Mercado Automatizados (x • y = k) frente a Libros de Órdenes Centralizados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Eliminación de Cámaras de Compensación</a:t>
            </a:r>
          </a:p>
          <a:p>
            <a:pPr>
              <a:defRPr sz="1019">
                <a:solidFill>
                  <a:srgbClr val="3C322D"/>
                </a:solidFill>
                <a:latin typeface="Segoe UI"/>
              </a:defRPr>
            </a:pPr>
            <a:r>
              <a:t>Suprime intermediarios custodios, bancos liquidadores y operadores humanos de mercado. La liquidez la aportan usuarios de todo el planeta de forma colectiva y abierta.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La Ecuación Determinista del Producto Constante</a:t>
            </a:r>
          </a:p>
          <a:p>
            <a:pPr>
              <a:defRPr sz="1019">
                <a:solidFill>
                  <a:srgbClr val="3C322D"/>
                </a:solidFill>
                <a:latin typeface="Segoe UI"/>
              </a:defRPr>
            </a:pPr>
            <a:r>
              <a:t>Los libros de posturas se reemplazan por la fórmula determinista x * y = k. Los precios se mueven de forma continua sobre una curva hiperbólica según la proporción de activos.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Propuesta de Valor No Custodial</a:t>
            </a:r>
          </a:p>
          <a:p>
            <a:pPr>
              <a:defRPr sz="1019">
                <a:solidFill>
                  <a:srgbClr val="3C322D"/>
                </a:solidFill>
                <a:latin typeface="Segoe UI"/>
              </a:defRPr>
            </a:pPr>
            <a:r>
              <a:t>'Si no son tus llaves, no son tus monedas.' Los usuarios mantienen el control absoluto de sus fondos hasta el instante exacto en que la permuta se asienta en la blockchain.</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09_amm_business_model.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15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ECONOMÍA DE REDES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10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Efectos de Red en Web3: Metcalfe vs. Odlyzko (GIM Cap. 12)</a:t>
            </a:r>
          </a:p>
          <a:p>
            <a:pPr>
              <a:defRPr sz="1180">
                <a:solidFill>
                  <a:srgbClr val="5A504B"/>
                </a:solidFill>
                <a:latin typeface="Segoe UI"/>
              </a:defRPr>
            </a:pPr>
            <a:r>
              <a:t>La espada de doble filo de la liquidez de código abierto y los veloces ataques vampiro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Escalamiento del Valor de Red</a:t>
            </a:r>
          </a:p>
          <a:p>
            <a:pPr>
              <a:defRPr sz="1019">
                <a:solidFill>
                  <a:srgbClr val="3C322D"/>
                </a:solidFill>
                <a:latin typeface="Segoe UI"/>
              </a:defRPr>
            </a:pPr>
            <a:r>
              <a:t>La Ley de Metcalfe plantea crecimiento cuadrático (V ~ n^2); la corrección empírica de Odlyzko indica escala sub-cuadrática (V ~ n log n). La liquidez densa genera frentes dominantes.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Cero Costos de Cambio y Código Abierto</a:t>
            </a:r>
          </a:p>
          <a:p>
            <a:pPr>
              <a:defRPr sz="1019">
                <a:solidFill>
                  <a:srgbClr val="3C322D"/>
                </a:solidFill>
                <a:latin typeface="Segoe UI"/>
              </a:defRPr>
            </a:pPr>
            <a:r>
              <a:t>A diferencia de Web2 con silos cerrados de datos (Facebook, Apple), los contratos inteligentes, fondos de liquidez y registros Web3 son 100% públicos, auditables y replicables.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El Fenómeno del Ataque Vampiro</a:t>
            </a:r>
          </a:p>
          <a:p>
            <a:pPr>
              <a:defRPr sz="1019">
                <a:solidFill>
                  <a:srgbClr val="3C322D"/>
                </a:solidFill>
                <a:latin typeface="Segoe UI"/>
              </a:defRPr>
            </a:pPr>
            <a:r>
              <a:t>Un competidor copia el código de un líder (ej. SushiSwap clonando a Uniswap), lanza un token agresivo de incentivo y absorbe miles de millones de liquidez en pocas horas.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0_network_effects_vampir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7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TRAYECTORIAS DE CAMBIO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11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Trayectorias de Cambio Industrial: ¿Dónde está Cripto? (GIM Fig 3.4 y 3.5)</a:t>
            </a:r>
          </a:p>
          <a:p>
            <a:pPr>
              <a:defRPr sz="1180">
                <a:solidFill>
                  <a:srgbClr val="5A504B"/>
                </a:solidFill>
                <a:latin typeface="Segoe UI"/>
              </a:defRPr>
            </a:pPr>
            <a:r>
              <a:t>Evaluación de Cambio Radical, Intermediario, Creativo y Progresivo en la banca global</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Los 4 Cuadrantes de Cambio Industrial</a:t>
            </a:r>
          </a:p>
          <a:p>
            <a:pPr>
              <a:defRPr sz="1019">
                <a:solidFill>
                  <a:srgbClr val="3C322D"/>
                </a:solidFill>
                <a:latin typeface="Segoe UI"/>
              </a:defRPr>
            </a:pPr>
            <a:r>
              <a:t>Las industrias cambian según se amenacen sus activos centrales o sus actividades centrales: Radical (ambos), Intermediario (actividades), Creativo (activos) o Progresivo (ninguno).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La Banca Comercial Afronta Cambio Intermediario</a:t>
            </a:r>
          </a:p>
          <a:p>
            <a:pPr>
              <a:defRPr sz="1019">
                <a:solidFill>
                  <a:srgbClr val="3C322D"/>
                </a:solidFill>
                <a:latin typeface="Segoe UI"/>
              </a:defRPr>
            </a:pPr>
            <a:r>
              <a:t>Los bancos tradicionales conservan intactos sus activos clave (balances de capital, respaldo estatal y depósitos), pero sus actividades de liquidación están obsoletas.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Adaptación Estratégica del Incumbente</a:t>
            </a:r>
          </a:p>
          <a:p>
            <a:pPr>
              <a:defRPr sz="1019">
                <a:solidFill>
                  <a:srgbClr val="3C322D"/>
                </a:solidFill>
                <a:latin typeface="Segoe UI"/>
              </a:defRPr>
            </a:pPr>
            <a:r>
              <a:t>Los bancos no desaparecen: compran rieles cripto nativos, integran custodia de stablecoins autorizadas o cabildean ante los reguladores para encarecer el cumplimiento a nuevos rivales.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1_industry_change_trajectorie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192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OPCIONES REALES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12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Opciones Reales en la Entrada al Mercado Digital (GIM Cap. 6)</a:t>
            </a:r>
          </a:p>
          <a:p>
            <a:pPr>
              <a:defRPr sz="1180">
                <a:solidFill>
                  <a:srgbClr val="5A504B"/>
                </a:solidFill>
                <a:latin typeface="Segoe UI"/>
              </a:defRPr>
            </a:pPr>
            <a:r>
              <a:t>Opciones de Posicionamiento, Exploración y Trampolín bajo profunda incertidumbre regulatoria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1. Opciones de Posicionamiento</a:t>
            </a:r>
          </a:p>
          <a:p>
            <a:pPr>
              <a:defRPr sz="1019">
                <a:solidFill>
                  <a:srgbClr val="3C322D"/>
                </a:solidFill>
                <a:latin typeface="Segoe UI"/>
              </a:defRPr>
            </a:pPr>
            <a:r>
              <a:t>Constitución de fundaciones offshore (Caimán, Suiza), registro de patentes de consenso y presencia en consorcios para reservar el derecho a competir invirtiendo poco capital.</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2. Opciones de Exploración (Scouting)</a:t>
            </a:r>
          </a:p>
          <a:p>
            <a:pPr>
              <a:defRPr sz="1019">
                <a:solidFill>
                  <a:srgbClr val="3C322D"/>
                </a:solidFill>
                <a:latin typeface="Segoe UI"/>
              </a:defRPr>
            </a:pPr>
            <a:r>
              <a:t>Lanzamiento de pilotos de pagos en areneras regulatorias (ej. Colombia, Singapur, Abu Dabi) para medir la respuesta del supervisor y de los usuarios con riesgo controlado.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3. Opciones de Trampolín (Stepping-Stone)</a:t>
            </a:r>
          </a:p>
          <a:p>
            <a:pPr>
              <a:defRPr sz="1019">
                <a:solidFill>
                  <a:srgbClr val="3C322D"/>
                </a:solidFill>
                <a:latin typeface="Segoe UI"/>
              </a:defRPr>
            </a:pPr>
            <a:r>
              <a:t>Evolución de un servicio fintech custodial regulado hacia la descentralización progresiva de gobernanza y fondos a medida que se aclaran las leyes.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2_real_options_entry.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6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TÁCTICAS COMPETITIVAS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13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Arbitraje Regulatorio Transfronterizo como Estrategia (GIM Cap. 6)</a:t>
            </a:r>
          </a:p>
          <a:p>
            <a:pPr>
              <a:defRPr sz="1180">
                <a:solidFill>
                  <a:srgbClr val="5A504B"/>
                </a:solidFill>
                <a:latin typeface="Segoe UI"/>
              </a:defRPr>
            </a:pPr>
            <a:r>
              <a:t>Ataque Frontal vs Entrada de Guerrilla: Explotación de vacíos jurisdiccionales entre países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Ataque Frontal vs. Entrada de Guerrilla</a:t>
            </a:r>
          </a:p>
          <a:p>
            <a:pPr>
              <a:defRPr sz="1019">
                <a:solidFill>
                  <a:srgbClr val="3C322D"/>
                </a:solidFill>
                <a:latin typeface="Segoe UI"/>
              </a:defRPr>
            </a:pPr>
            <a:r>
              <a:t>El ataque frontal reta a los reguladores locales en cortes (lento, caro y con riesgo de cierre); la guerrilla aprovecha vacíos legales para construir escala de red primero.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Asimetría Jurisdiccional</a:t>
            </a:r>
          </a:p>
          <a:p>
            <a:pPr>
              <a:defRPr sz="1019">
                <a:solidFill>
                  <a:srgbClr val="3C322D"/>
                </a:solidFill>
                <a:latin typeface="Segoe UI"/>
              </a:defRPr>
            </a:pPr>
            <a:r>
              <a:t>Operar desde sedes offshore permite captar liquidez internacional quedando fuera del radar directo de supervisores estrictos de países con alto nivel de litigio.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El Choque Inevitable</a:t>
            </a:r>
          </a:p>
          <a:p>
            <a:pPr>
              <a:defRPr sz="1019">
                <a:solidFill>
                  <a:srgbClr val="3C322D"/>
                </a:solidFill>
                <a:latin typeface="Segoe UI"/>
              </a:defRPr>
            </a:pPr>
            <a:r>
              <a:t>Cuando una plataforma offshore adquiere tamaño sistémico, los gobiernos activan sanciones indirectas: bloqueo bancario, veto en tiendas de aplicaciones e incautación de dominios.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3_regulatory_arbitrag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27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PUENTE ESTRATÉGICO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14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Transición al Caso de Estudio 1: La Revolución de las Stablecoins</a:t>
            </a:r>
          </a:p>
          <a:p>
            <a:pPr>
              <a:defRPr sz="1180">
                <a:solidFill>
                  <a:srgbClr val="5A504B"/>
                </a:solidFill>
                <a:latin typeface="Segoe UI"/>
              </a:defRPr>
            </a:pPr>
            <a:r>
              <a:t>Cómo los dólares digitales pasaron de ser colateral de trading a monedas paralelas de uso diario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El Ajuste Producto-Mercado Accidental</a:t>
            </a:r>
          </a:p>
          <a:p>
            <a:pPr>
              <a:defRPr sz="1019">
                <a:solidFill>
                  <a:srgbClr val="3C322D"/>
                </a:solidFill>
                <a:latin typeface="Segoe UI"/>
              </a:defRPr>
            </a:pPr>
            <a:r>
              <a:t>Las stablecoins nacieron para que los traders aparcaran ganancias sin volver al dinero fiat; terminaron convirtiéndose en la mayor autopista de pagos del mundo.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La Escasez Global de Dólares</a:t>
            </a:r>
          </a:p>
          <a:p>
            <a:pPr>
              <a:defRPr sz="1019">
                <a:solidFill>
                  <a:srgbClr val="3C322D"/>
                </a:solidFill>
                <a:latin typeface="Segoe UI"/>
              </a:defRPr>
            </a:pPr>
            <a:r>
              <a:t>Las familias y pymes de mercados emergentes sufren falta crónica de divisas, devaluaciones y cepos cambiarios. Las stablecoins democratizan el acceso al dólar digital.</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La Gran Pregunta Estratégica</a:t>
            </a:r>
          </a:p>
          <a:p>
            <a:pPr>
              <a:defRPr sz="1019">
                <a:solidFill>
                  <a:srgbClr val="3C322D"/>
                </a:solidFill>
                <a:latin typeface="Segoe UI"/>
              </a:defRPr>
            </a:pPr>
            <a:r>
              <a:t>¿Cómo lograron Tether (USDT) y Strike amenazar el negocio multimillonario de remesas de Western Union en Latinoamérica? Entremos a revisar el caso.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4_stablecoin_evolution.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15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CASO DE ESTUDIO 1</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15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El Dólar Sin Fronteras: Tether (USDT), Strike y Remesas en LATAM</a:t>
            </a:r>
          </a:p>
          <a:p>
            <a:pPr>
              <a:defRPr sz="1180">
                <a:solidFill>
                  <a:srgbClr val="5A504B"/>
                </a:solidFill>
                <a:latin typeface="Segoe UI"/>
              </a:defRPr>
            </a:pPr>
            <a:r>
              <a:t>Disrupción del monopolio de 50 años de Western Union con Lightning Network y rieles de USDT</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El Monopolio Tradicional del Corredor</a:t>
            </a:r>
          </a:p>
          <a:p>
            <a:pPr>
              <a:defRPr sz="1019">
                <a:solidFill>
                  <a:srgbClr val="3C322D"/>
                </a:solidFill>
                <a:latin typeface="Segoe UI"/>
              </a:defRPr>
            </a:pPr>
            <a:r>
              <a:t>El flujo de remesas EE.UU.-LATAM estuvo dominado por agencias tradicionales que cobraban del 6% al 12%, tardaban de 24 a 72 horas y exigían cobro físico en zonas peligrosas.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Rieles Híbridos en Red Lightning</a:t>
            </a:r>
          </a:p>
          <a:p>
            <a:pPr>
              <a:defRPr sz="1019">
                <a:solidFill>
                  <a:srgbClr val="3C322D"/>
                </a:solidFill>
                <a:latin typeface="Segoe UI"/>
              </a:defRPr>
            </a:pPr>
            <a:r>
              <a:t>Strike usa la Capa 2 de Bitcoin como autopista de liquidación atómica inmediata, eliminando el riesgo de precio al convertir fiat a BTC y de vuelta a fiat en milisegundos.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La Explosión Orgánica de Stablecoins</a:t>
            </a:r>
          </a:p>
          <a:p>
            <a:pPr>
              <a:defRPr sz="1019">
                <a:solidFill>
                  <a:srgbClr val="3C322D"/>
                </a:solidFill>
                <a:latin typeface="Segoe UI"/>
              </a:defRPr>
            </a:pPr>
            <a:r>
              <a:t>En Argentina y Brasil, empresas y ciudadanos evitaron los bancos usando USDT/USDC para pagar importaciones de China y blindar ahorros frente a la inflación de tres dígitos.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5_case1_ecosystem.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15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ANEXOS DEL CASO 1</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16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Anexo 1: Análisis de la Cadena de Consumo de Remesas (SWIFT vs. Stablecoins)</a:t>
            </a:r>
          </a:p>
          <a:p>
            <a:pPr>
              <a:defRPr sz="1180">
                <a:solidFill>
                  <a:srgbClr val="5A504B"/>
                </a:solidFill>
                <a:latin typeface="Segoe UI"/>
              </a:defRPr>
            </a:pPr>
            <a:r>
              <a:t>Comparativa detallada de costos, tiempos de entrega, fricción operativa y pérdidas de clientes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Corredor Tradicional SWIFT</a:t>
            </a:r>
          </a:p>
          <a:p>
            <a:pPr>
              <a:defRPr sz="1019">
                <a:solidFill>
                  <a:srgbClr val="3C322D"/>
                </a:solidFill>
                <a:latin typeface="Segoe UI"/>
              </a:defRPr>
            </a:pPr>
            <a:r>
              <a:t>Banco Emisor -&gt; Corresponsal -&gt; Mesa FX -&gt; Banco Central Receptor -&gt; Sucursal Local. Tiempo: 48-72 hrs; Comisión Directa: 7.2%; Margen de Cambio FX: 2.5%.</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Corredor P2P con Stablecoins</a:t>
            </a:r>
          </a:p>
          <a:p>
            <a:pPr>
              <a:defRPr sz="1019">
                <a:solidFill>
                  <a:srgbClr val="3C322D"/>
                </a:solidFill>
                <a:latin typeface="Segoe UI"/>
              </a:defRPr>
            </a:pPr>
            <a:r>
              <a:t>Efectivo/Débito -&gt; Billetera Móvil -&gt; Red Tron/Polygon -&gt; Billetera Receptora -&gt; Comercio P2P Local. Tiempo: 90 seg; Costo Red: &lt;$1.00; Margen P2P: 0.5-1.0%.</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Puntos de Fricción en el Perímetro</a:t>
            </a:r>
          </a:p>
          <a:p>
            <a:pPr>
              <a:defRPr sz="1019">
                <a:solidFill>
                  <a:srgbClr val="3C322D"/>
                </a:solidFill>
                <a:latin typeface="Segoe UI"/>
              </a:defRPr>
            </a:pPr>
            <a:r>
              <a:t>La fricción se trasladó a los extremos: desbancarización, riesgos de estafa en intercambios P2P y falta de efectivo en ciudades secundarias del interior.</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6_exhibit1_remittance_chain.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15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ANEXOS DEL CASO 1</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17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Anexo 2: Inflación de la Moneda vs. Volumen de Stablecoins en Argentina</a:t>
            </a:r>
          </a:p>
          <a:p>
            <a:pPr>
              <a:defRPr sz="1180">
                <a:solidFill>
                  <a:srgbClr val="5A504B"/>
                </a:solidFill>
                <a:latin typeface="Segoe UI"/>
              </a:defRPr>
            </a:pPr>
            <a:r>
              <a:t>Evidencia empírica de preferencia económica revelada ante inestabilidad macro (2020–2024)</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Correlación Estadística Casi Perfecta</a:t>
            </a:r>
          </a:p>
          <a:p>
            <a:pPr>
              <a:defRPr sz="1019">
                <a:solidFill>
                  <a:srgbClr val="3C322D"/>
                </a:solidFill>
                <a:latin typeface="Segoe UI"/>
              </a:defRPr>
            </a:pPr>
            <a:r>
              <a:t>El volumen de transacciones de stablecoins P2P en Argentina muestra una correlación casi exacta (R^2 &gt; 0.88) con los índices oficiales y paralelos de inflación entre 2020 y 2024.</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Refugio de Valor sin Billetes Físicos</a:t>
            </a:r>
          </a:p>
          <a:p>
            <a:pPr>
              <a:defRPr sz="1019">
                <a:solidFill>
                  <a:srgbClr val="3C322D"/>
                </a:solidFill>
                <a:latin typeface="Segoe UI"/>
              </a:defRPr>
            </a:pPr>
            <a:r>
              <a:t>Con el dólar billete cotizando a una brecha del 100% y el peligro de asaltos en la calle, los dólares digitales se convirtieron en la reserva de valor más lógica y segura.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Liquidación Comercial entre Empresas</a:t>
            </a:r>
          </a:p>
          <a:p>
            <a:pPr>
              <a:defRPr sz="1019">
                <a:solidFill>
                  <a:srgbClr val="3C322D"/>
                </a:solidFill>
                <a:latin typeface="Segoe UI"/>
              </a:defRPr>
            </a:pPr>
            <a:r>
              <a:t>Importadores y exportadores argentinos recurrieron a stablecoins para pagar proveedores en China y EE.UU., sorteando la liquidación forzosa a tipos de cambio oficiales distorsionados.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7_exhibit2_argentina_data.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5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DISCUSIÓN DEL CASO 1</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18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Preguntas de Discusión Estratégica: Rieles Digitales Transfronterizos</a:t>
            </a:r>
          </a:p>
          <a:p>
            <a:pPr>
              <a:defRPr sz="1180">
                <a:solidFill>
                  <a:srgbClr val="5A504B"/>
                </a:solidFill>
                <a:latin typeface="Segoe UI"/>
              </a:defRPr>
            </a:pPr>
            <a:r>
              <a:t>Aplicación de las herramientas analíticas de Westland a la estrategia corporativa regional</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P1: Vulnerabilidades en la Cadena de Consumo</a:t>
            </a:r>
          </a:p>
          <a:p>
            <a:pPr>
              <a:defRPr sz="1019">
                <a:solidFill>
                  <a:srgbClr val="3C322D"/>
                </a:solidFill>
                <a:latin typeface="Segoe UI"/>
              </a:defRPr>
            </a:pPr>
            <a:r>
              <a:t>Trace la cadena minorista de Chicago a Buenos Aires. ¿En qué punto exacto ocurre el mayor abandono de usuarios y cómo puede resolverlo el diseño de producto? (GIM Caps. 2 y 5)</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P2: Mapa de Características de la Demanda</a:t>
            </a:r>
          </a:p>
          <a:p>
            <a:pPr>
              <a:defRPr sz="1019">
                <a:solidFill>
                  <a:srgbClr val="3C322D"/>
                </a:solidFill>
                <a:latin typeface="Segoe UI"/>
              </a:defRPr>
            </a:pPr>
            <a:r>
              <a:t>Para un comerciante argentino que acepta USDT, clasifique las funciones en Básicas, Diferenciadoras y Energizadoras. ¿Cuál es el mayor factor de furia? (GIM Fig 2.5)</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P3: Opciones Reales del Incumbente</a:t>
            </a:r>
          </a:p>
          <a:p>
            <a:pPr>
              <a:defRPr sz="1019">
                <a:solidFill>
                  <a:srgbClr val="3C322D"/>
                </a:solidFill>
                <a:latin typeface="Segoe UI"/>
              </a:defRPr>
            </a:pPr>
            <a:r>
              <a:t>Si fuera el Director de Estrategia de un gran banco latinoamericano, ¿cómo armaría una cartera de Opciones de Trampolín para entrar a Web3 sin violar la ley? (GIM Cap. 6)</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8_strategic_discussion.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84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TALLER DE ESTUDIANTES 1</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19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Taller 1: Inversión de Supuestos Bancarios Fundamentales (Fase 1)</a:t>
            </a:r>
          </a:p>
          <a:p>
            <a:pPr>
              <a:defRPr sz="1180">
                <a:solidFill>
                  <a:srgbClr val="5A504B"/>
                </a:solidFill>
                <a:latin typeface="Segoe UI"/>
              </a:defRPr>
            </a:pPr>
            <a:r>
              <a:t>Dinámica grupal colaborativa: Creación de conceptos financieros disruptivos (GIM Cap. 1)</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Supuesto 1: Soberanía del Dinero</a:t>
            </a:r>
          </a:p>
          <a:p>
            <a:pPr>
              <a:defRPr sz="1019">
                <a:solidFill>
                  <a:srgbClr val="3C322D"/>
                </a:solidFill>
                <a:latin typeface="Segoe UI"/>
              </a:defRPr>
            </a:pPr>
            <a:r>
              <a:t>'El dinero debe ser emitido y garantizado por un Estado soberano.' -&gt; Inversión: El dinero es emitido por consenso matemático y código de fuentes abiertas.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Supuesto 2: Intermediación Bancaria</a:t>
            </a:r>
          </a:p>
          <a:p>
            <a:pPr>
              <a:defRPr sz="1019">
                <a:solidFill>
                  <a:srgbClr val="3C322D"/>
                </a:solidFill>
                <a:latin typeface="Segoe UI"/>
              </a:defRPr>
            </a:pPr>
            <a:r>
              <a:t>'Las operaciones deben ser verificadas y compensadas por bancos de confianza.' -&gt; Inversión: Las operaciones liquidan entre pares en una red pública inmutable.</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Supuesto 3: Jurisdicción e Identidad</a:t>
            </a:r>
          </a:p>
          <a:p>
            <a:pPr>
              <a:defRPr sz="1019">
                <a:solidFill>
                  <a:srgbClr val="3C322D"/>
                </a:solidFill>
                <a:latin typeface="Segoe UI"/>
              </a:defRPr>
            </a:pPr>
            <a:r>
              <a:t>'Las cuentas bancarias deben estar atadas a un domicilio físico y documento oficial.' -&gt; Inversión: Las cuentas son claves criptográficas accesibles desde el navegador.</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19_assumption_reversal.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84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TALLER DE ESTUDIANTES 1</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20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Taller 1: Caja Morfológica para una App de Pagos en LATAM (Fase 2)</a:t>
            </a:r>
          </a:p>
          <a:p>
            <a:pPr>
              <a:defRPr sz="1180">
                <a:solidFill>
                  <a:srgbClr val="5A504B"/>
                </a:solidFill>
                <a:latin typeface="Segoe UI"/>
              </a:defRPr>
            </a:pPr>
            <a:r>
              <a:t>Innovación combinatoria de Zwicky: Diseño de una solución de pagos EE.UU.-LATAM (GIM Cap. 3)</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Los 5 Parámetros Estratégicos</a:t>
            </a:r>
          </a:p>
          <a:p>
            <a:pPr>
              <a:defRPr sz="1019">
                <a:solidFill>
                  <a:srgbClr val="3C322D"/>
                </a:solidFill>
                <a:latin typeface="Segoe UI"/>
              </a:defRPr>
            </a:pPr>
            <a:r>
              <a:t>1. Activo Base (BTC L2, USDC, USD Sintético, Token Fiat, Oro) x 2. Modelo de Custodia (Auto-Custodia, Login Social, Multi-Firma, Custodial, Enclave Seguro).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Matriz de Canales y Rampas</a:t>
            </a:r>
          </a:p>
          <a:p>
            <a:pPr>
              <a:defRPr sz="1019">
                <a:solidFill>
                  <a:srgbClr val="3C322D"/>
                </a:solidFill>
                <a:latin typeface="Segoe UI"/>
              </a:defRPr>
            </a:pPr>
            <a:r>
              <a:t>3. Canal de Distribución (WhatsApp, App Móvil, API POS, Web/SMS, OXXO) x 4. Rampa In/Out (Mesas P2P, SPEI/PIX, Tarjeta, Tienda, Cajero) x 5. Cumplimiento (ZK, KYC Escalonado, Banco, Geocerca, Arb).</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Entregable y Evaluación del Equipo</a:t>
            </a:r>
          </a:p>
          <a:p>
            <a:pPr>
              <a:defRPr sz="1019">
                <a:solidFill>
                  <a:srgbClr val="3C322D"/>
                </a:solidFill>
                <a:latin typeface="Segoe UI"/>
              </a:defRPr>
            </a:pPr>
            <a:r>
              <a:t>Unan una opción por fila para configurar un producto rentable; evalúen el costo operativo de infraestructura frente a la disposición del cliente a pagar (GIM pág. 73).</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20_morphological_box.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319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ECONOMÍA DE LA INFORMACIÓN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21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Mercados de Predicción como Motores de Información: Hayek y Shannon</a:t>
            </a:r>
          </a:p>
          <a:p>
            <a:pPr>
              <a:defRPr sz="1180">
                <a:solidFill>
                  <a:srgbClr val="5A504B"/>
                </a:solidFill>
                <a:latin typeface="Segoe UI"/>
              </a:defRPr>
            </a:pPr>
            <a:r>
              <a:t>Por qué los precios de mercado procesan el conocimiento social disperso mejor que los expertos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El Aporte Epistémico de Hayek</a:t>
            </a:r>
          </a:p>
          <a:p>
            <a:pPr>
              <a:defRPr sz="1019">
                <a:solidFill>
                  <a:srgbClr val="3C322D"/>
                </a:solidFill>
                <a:latin typeface="Segoe UI"/>
              </a:defRPr>
            </a:pPr>
            <a:r>
              <a:t>Ningún planificador central puede concentrar el conocimiento tácito y disperso de la sociedad. El sistema de precios actúa como un motor descentralizado que resume millones de señales.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La Base de Entropía de Shannon</a:t>
            </a:r>
          </a:p>
          <a:p>
            <a:pPr>
              <a:defRPr sz="1019">
                <a:solidFill>
                  <a:srgbClr val="3C322D"/>
                </a:solidFill>
                <a:latin typeface="Segoe UI"/>
              </a:defRPr>
            </a:pPr>
            <a:r>
              <a:t>Teoría de la Información de Claude Shannon (GIM Fig 9.13): La información se mide como reducción de incertidumbre. Los mercados colapsan la entropía a una probabilidad única.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La Sabiduría de las Masas de Surowiecki</a:t>
            </a:r>
          </a:p>
          <a:p>
            <a:pPr>
              <a:defRPr sz="1019">
                <a:solidFill>
                  <a:srgbClr val="3C322D"/>
                </a:solidFill>
                <a:latin typeface="Segoe UI"/>
              </a:defRPr>
            </a:pPr>
            <a:r>
              <a:t>Cuando los errores individuales son independientes y los participantes tienen visiones diversas, el cálculo colectivo del mercado supera sistemáticamente a los analistas de élite.</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21_prediction_engine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5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MECÁNICA DE MERCADOS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22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La Mecánica del Arbitraje de Información: Precios como Probabilidades</a:t>
            </a:r>
          </a:p>
          <a:p>
            <a:pPr>
              <a:defRPr sz="1180">
                <a:solidFill>
                  <a:srgbClr val="5A504B"/>
                </a:solidFill>
                <a:latin typeface="Segoe UI"/>
              </a:defRPr>
            </a:pPr>
            <a:r>
              <a:t>Cómo el dinero en juego obliga a que los precios coincidan con las probabilidades colectivas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Contratos de Eventos Binarios</a:t>
            </a:r>
          </a:p>
          <a:p>
            <a:pPr>
              <a:defRPr sz="1019">
                <a:solidFill>
                  <a:srgbClr val="3C322D"/>
                </a:solidFill>
                <a:latin typeface="Segoe UI"/>
              </a:defRPr>
            </a:pPr>
            <a:r>
              <a:t>Pagan $1.00 si el suceso ocurre y $0.00 si no ocurre. El precio de equilibrio del mercado refleja directamente la probabilidad calculada por los operadores: P(Hecho = Verdadero) = Precio en [0, 1].</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El Bucle de Arbitraje Informativo</a:t>
            </a:r>
          </a:p>
          <a:p>
            <a:pPr>
              <a:defRPr sz="1019">
                <a:solidFill>
                  <a:srgbClr val="3C322D"/>
                </a:solidFill>
                <a:latin typeface="Segoe UI"/>
              </a:defRPr>
            </a:pPr>
            <a:r>
              <a:t>Si un operador estima que la probabilidad real es del 70% pero el mercado cotiza al 55%, compra acciones para obtener ganancia, empujando la cotización hacia la verdad colectiva.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Contraste con los Sondeos</a:t>
            </a:r>
          </a:p>
          <a:p>
            <a:pPr>
              <a:defRPr sz="1019">
                <a:solidFill>
                  <a:srgbClr val="3C322D"/>
                </a:solidFill>
                <a:latin typeface="Segoe UI"/>
              </a:defRPr>
            </a:pPr>
            <a:r>
              <a:t>Las encuestas dependen de respuestas gratuitas y pose social; los mercados exigen capital no cubierto donde sostener opiniones erróneas acarrea pérdidas inmediatas.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22_information_arbitrag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5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METODOLOGÍA EMPÍRICA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23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El Declive de las Encuestas Tradicionales de Opinión (GIM Caps. 10 y 11)</a:t>
            </a:r>
          </a:p>
          <a:p>
            <a:pPr>
              <a:defRPr sz="1180">
                <a:solidFill>
                  <a:srgbClr val="5A504B"/>
                </a:solidFill>
                <a:latin typeface="Segoe UI"/>
              </a:defRPr>
            </a:pPr>
            <a:r>
              <a:t>Preferencias Declaradas vs. Preferencias Reveladas: Por qué los sondeos fallan en la estrategia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Colapso en las Tasas de Respuesta</a:t>
            </a:r>
          </a:p>
          <a:p>
            <a:pPr>
              <a:defRPr sz="1019">
                <a:solidFill>
                  <a:srgbClr val="3C322D"/>
                </a:solidFill>
                <a:latin typeface="Segoe UI"/>
              </a:defRPr>
            </a:pPr>
            <a:r>
              <a:t>La participación en sondeos telefónicos se desplomó del 36% (1997) a menos del 1% hoy, generando un sesgo de no respuesta masivo e imposible de corregir.</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Preferencia Declarada vs. Revelada</a:t>
            </a:r>
          </a:p>
          <a:p>
            <a:pPr>
              <a:defRPr sz="1019">
                <a:solidFill>
                  <a:srgbClr val="3C322D"/>
                </a:solidFill>
                <a:latin typeface="Segoe UI"/>
              </a:defRPr>
            </a:pPr>
            <a:r>
              <a:t>Las declaraciones expresan cómo los encuestados quieren ser vistos (sesgo de deseabilidad social); la preferencia revelada muestra cómo actúan al poner en juego su propio dinero.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La Advertencia de Nate Silver</a:t>
            </a:r>
          </a:p>
          <a:p>
            <a:pPr>
              <a:defRPr sz="1019">
                <a:solidFill>
                  <a:srgbClr val="3C322D"/>
                </a:solidFill>
                <a:latin typeface="Segoe UI"/>
              </a:defRPr>
            </a:pPr>
            <a:r>
              <a:t>Citado en GIM Cap. 4: El ruido se multiplica de forma exponencial frente a la señal en la era digital. Solo los mecanismos con incentivos financieros filtran el ruido con éxito.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23_stated_vs_revealed.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15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REGÍMENES LEGALES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24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Casetas de Cobro Legales y Derechos de Propiedad en el Conocimiento (GIM Cap. 7)</a:t>
            </a:r>
          </a:p>
          <a:p>
            <a:pPr>
              <a:defRPr sz="1180">
                <a:solidFill>
                  <a:srgbClr val="5A504B"/>
                </a:solidFill>
                <a:latin typeface="Segoe UI"/>
              </a:defRPr>
            </a:pPr>
            <a:r>
              <a:t>El concepto de Excluibilidad: Apuestas no autorizadas frente a Pronósticos de bien público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La Paradoja de la Excluibilidad</a:t>
            </a:r>
          </a:p>
          <a:p>
            <a:pPr>
              <a:defRPr sz="1019">
                <a:solidFill>
                  <a:srgbClr val="3C322D"/>
                </a:solidFill>
                <a:latin typeface="Segoe UI"/>
              </a:defRPr>
            </a:pPr>
            <a:r>
              <a:t>La información es por naturaleza un bien público no excluible. Al publicarse el precio de un contrato, terceros consumen el pronóstico gratis sin aportar liquidez.</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El Estigma Regulatorio Estatal</a:t>
            </a:r>
          </a:p>
          <a:p>
            <a:pPr>
              <a:defRPr sz="1019">
                <a:solidFill>
                  <a:srgbClr val="3C322D"/>
                </a:solidFill>
                <a:latin typeface="Segoe UI"/>
              </a:defRPr>
            </a:pPr>
            <a:r>
              <a:t>Los supervisores en EE.UU. (CFTC) catalogan estos mercados como apuestas clandestinas u opciones financieras ilícitas, aplicando sanciones para proteger monopolios y orden público.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La Defensa desde el Ecosistema Web3</a:t>
            </a:r>
          </a:p>
          <a:p>
            <a:pPr>
              <a:defRPr sz="1019">
                <a:solidFill>
                  <a:srgbClr val="3C322D"/>
                </a:solidFill>
                <a:latin typeface="Segoe UI"/>
              </a:defRPr>
            </a:pPr>
            <a:r>
              <a:t>Los protocolos descentralizados defienden que no son casinos, sino oráculos públicos de información abiertos, resistentes a la censura y útiles para coberturas de riesgo.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24_legal_tollbooth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27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MODELOS DE NEGOCIO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25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Modelos de Negocio en Mercados de Predicción: Kalshi vs. Polymarket (GIM Fig 3.7)</a:t>
            </a:r>
          </a:p>
          <a:p>
            <a:pPr>
              <a:defRPr sz="1180">
                <a:solidFill>
                  <a:srgbClr val="5A504B"/>
                </a:solidFill>
                <a:latin typeface="Segoe UI"/>
              </a:defRPr>
            </a:pPr>
            <a:r>
              <a:t>Comparativa entre Plataformas Reguladas Centralizadas y Protocolos Globales Web3</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Modelo Regulado Centralizado (Kalshi)</a:t>
            </a:r>
          </a:p>
          <a:p>
            <a:pPr>
              <a:defRPr sz="1019">
                <a:solidFill>
                  <a:srgbClr val="3C322D"/>
                </a:solidFill>
                <a:latin typeface="Segoe UI"/>
              </a:defRPr>
            </a:pPr>
            <a:r>
              <a:t>Licencia DCM de la CFTC en EE.UU.; millones de dólares gastados en litigios judiciales; estricto KYC bancario; cotización en USD; límites a minoristas y foco nacional.</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Protocolo Descentralizado Global (Polymarket)</a:t>
            </a:r>
          </a:p>
          <a:p>
            <a:pPr>
              <a:defRPr sz="1019">
                <a:solidFill>
                  <a:srgbClr val="3C322D"/>
                </a:solidFill>
                <a:latin typeface="Segoe UI"/>
              </a:defRPr>
            </a:pPr>
            <a:r>
              <a:t>Montado en la red Polygon; colateralizado en stablecoin USDC; contratos no custodiales; liquidez global; geocerca por IP a residentes de EE.UU. para evitar juicios.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La Disyuntiva de Liquidez vs. Cumplimiento</a:t>
            </a:r>
          </a:p>
          <a:p>
            <a:pPr>
              <a:defRPr sz="1019">
                <a:solidFill>
                  <a:srgbClr val="3C322D"/>
                </a:solidFill>
                <a:latin typeface="Segoe UI"/>
              </a:defRPr>
            </a:pPr>
            <a:r>
              <a:t>Kalshi sacrifica volumen mundial a cambio de blindaje legal y acceso a bancos; Polymarket capta liquidez colosal mientras opera bajo constante amenaza de clausura.</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25_kalshi_vs_polymarket.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96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ARQUITECTURA DE ORÁCULOS</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26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El Problema del Oráculo: Conectando la Realidad Física y Digital</a:t>
            </a:r>
          </a:p>
          <a:p>
            <a:pPr>
              <a:defRPr sz="1180">
                <a:solidFill>
                  <a:srgbClr val="5A504B"/>
                </a:solidFill>
                <a:latin typeface="Segoe UI"/>
              </a:defRPr>
            </a:pPr>
            <a:r>
              <a:t>Cómo los contratos inteligentes determinan la verdad real sin árbitros centralizados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La Ceguera de la Blockchain</a:t>
            </a:r>
          </a:p>
          <a:p>
            <a:pPr>
              <a:defRPr sz="1019">
                <a:solidFill>
                  <a:srgbClr val="3C322D"/>
                </a:solidFill>
                <a:latin typeface="Segoe UI"/>
              </a:defRPr>
            </a:pPr>
            <a:r>
              <a:t>Las cadenas de bloques son sistemas deterministas aislados que no pueden observar por sí mismas sucesos del mundo real (ej. quién ganó la presidencia o la cifra del PIB).</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La Estructura de un Oráculo</a:t>
            </a:r>
          </a:p>
          <a:p>
            <a:pPr>
              <a:defRPr sz="1019">
                <a:solidFill>
                  <a:srgbClr val="3C322D"/>
                </a:solidFill>
                <a:latin typeface="Segoe UI"/>
              </a:defRPr>
            </a:pPr>
            <a:r>
              <a:t>Los oráculos conectan datos externos con contratos: Evento del Mundo Real -&gt; Proveedores / Validadores -&gt; Resolución en Contrato -&gt; Liquidación del Capital.</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Vulnerabilidades y el Protocolo UMA</a:t>
            </a:r>
          </a:p>
          <a:p>
            <a:pPr>
              <a:defRPr sz="1019">
                <a:solidFill>
                  <a:srgbClr val="3C322D"/>
                </a:solidFill>
                <a:latin typeface="Segoe UI"/>
              </a:defRPr>
            </a:pPr>
            <a:r>
              <a:t>Riesgos de redacción ambigua, intentos de soborno a votantes y disputas. El oráculo optimista de UMA usa teoría de juegos con Puntos de Schelling para castigar el fraude.</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26_oracle_problem.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6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TEORÍA DE INFORMACIÓN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27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Entropía de Shannon y Valor de Mercado (GIM Cap. 9)</a:t>
            </a:r>
          </a:p>
          <a:p>
            <a:pPr>
              <a:defRPr sz="1180">
                <a:solidFill>
                  <a:srgbClr val="5A504B"/>
                </a:solidFill>
                <a:latin typeface="Segoe UI"/>
              </a:defRPr>
            </a:pPr>
            <a:r>
              <a:t>Fórmula matemática: Cuantificación de la producción de información y colapso de entropía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Fórmula de Información Mutua</a:t>
            </a:r>
          </a:p>
          <a:p>
            <a:pPr>
              <a:defRPr sz="1019">
                <a:solidFill>
                  <a:srgbClr val="3C322D"/>
                </a:solidFill>
                <a:latin typeface="Segoe UI"/>
              </a:defRPr>
            </a:pPr>
            <a:r>
              <a:t>I(A, B) = log_b [ P(B|A) / P(B) ]. Mide la cantidad exacta de bits en que se reduce la incertidumbre al observar la cotización del mercado.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Máxima Entropía en el 50%</a:t>
            </a:r>
          </a:p>
          <a:p>
            <a:pPr>
              <a:defRPr sz="1019">
                <a:solidFill>
                  <a:srgbClr val="3C322D"/>
                </a:solidFill>
                <a:latin typeface="Segoe UI"/>
              </a:defRPr>
            </a:pPr>
            <a:r>
              <a:t>La entropía H(X) = - sum p(x) log2 p(x) alcanza su pico teórico cuando la probabilidad previa es 50/50 (escenario de incertidumbre pura).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Creación de Valor Estratégico</a:t>
            </a:r>
          </a:p>
          <a:p>
            <a:pPr>
              <a:defRPr sz="1019">
                <a:solidFill>
                  <a:srgbClr val="3C322D"/>
                </a:solidFill>
                <a:latin typeface="Segoe UI"/>
              </a:defRPr>
            </a:pPr>
            <a:r>
              <a:t>Un mercado de predicción genera su mayor utilidad económica cuando las opciones están parejas; al confirmarse el resultado, la entropía baja a cero y se pagan los fondos.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27_shannon_entropy.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7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REDES LIBRES DE ESCALA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28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Dinámicas Libres de Escala y la Ley de Potencias del Trading (GIM Cap. 12)</a:t>
            </a:r>
          </a:p>
          <a:p>
            <a:pPr>
              <a:defRPr sz="1180">
                <a:solidFill>
                  <a:srgbClr val="5A504B"/>
                </a:solidFill>
                <a:latin typeface="Segoe UI"/>
              </a:defRPr>
            </a:pPr>
            <a:r>
              <a:t>Por qué el 95% del volumen y la información proviene de menos del 5% de participantes de élite</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Distribuciones de Pareto en Finanzas</a:t>
            </a:r>
          </a:p>
          <a:p>
            <a:pPr>
              <a:defRPr sz="1019">
                <a:solidFill>
                  <a:srgbClr val="3C322D"/>
                </a:solidFill>
                <a:latin typeface="Segoe UI"/>
              </a:defRPr>
            </a:pPr>
            <a:r>
              <a:t>Los mercados de predicción no siguen una campana de Gauss normal; son redes libres de escala con leyes de potencia extremas (P(k) ~ k^-gamma).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Las 'Ballenas' y Quants de Élite</a:t>
            </a:r>
          </a:p>
          <a:p>
            <a:pPr>
              <a:defRPr sz="1019">
                <a:solidFill>
                  <a:srgbClr val="3C322D"/>
                </a:solidFill>
                <a:latin typeface="Segoe UI"/>
              </a:defRPr>
            </a:pPr>
            <a:r>
              <a:t>Menos del 5% de las billeteras (fondos de cobertura cuantitativos, creadores algorítmicos y expertos de nicho) generan más del 95% del volumen y la precisión.</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Los Minoristas como Proveedores de Liquidez</a:t>
            </a:r>
          </a:p>
          <a:p>
            <a:pPr>
              <a:defRPr sz="1019">
                <a:solidFill>
                  <a:srgbClr val="3C322D"/>
                </a:solidFill>
                <a:latin typeface="Segoe UI"/>
              </a:defRPr>
            </a:pPr>
            <a:r>
              <a:t>Los apostadores casuales proveen el volumen contraparte necesario para que los arbitrajistas profesionales corrijan las cotizaciones y eliminen el ruido.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28_scale_free_power_law.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73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CONTEXTO TRANSCULTURAL</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29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Diferencias Transculturales en el Trading de Predicciones y Cobertura</a:t>
            </a:r>
          </a:p>
          <a:p>
            <a:pPr>
              <a:defRPr sz="1180">
                <a:solidFill>
                  <a:srgbClr val="5A504B"/>
                </a:solidFill>
                <a:latin typeface="Segoe UI"/>
              </a:defRPr>
            </a:pPr>
            <a:r>
              <a:t>Cómo el apetito de riesgo, las leyes de juego y la confianza institucional moldean los mercados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Estados Unidos y Europa</a:t>
            </a:r>
          </a:p>
          <a:p>
            <a:pPr>
              <a:defRPr sz="1019">
                <a:solidFill>
                  <a:srgbClr val="3C322D"/>
                </a:solidFill>
                <a:latin typeface="Segoe UI"/>
              </a:defRPr>
            </a:pPr>
            <a:r>
              <a:t>Operaciones concentradas en elecciones presidenciales, decisiones de la Reserva Federal y litigios judiciales; fuertemente vigiladas por la cautela regulatoria.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Latinoamérica</a:t>
            </a:r>
          </a:p>
          <a:p>
            <a:pPr>
              <a:defRPr sz="1019">
                <a:solidFill>
                  <a:srgbClr val="3C322D"/>
                </a:solidFill>
                <a:latin typeface="Segoe UI"/>
              </a:defRPr>
            </a:pPr>
            <a:r>
              <a:t>Alta participación en torneos de fútbol, cobertura frente a devaluaciones de monedas locales y elecciones polarizadas; apoyada en el auge de billeteras móviles.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Asia-Pacífico</a:t>
            </a:r>
          </a:p>
          <a:p>
            <a:pPr>
              <a:defRPr sz="1019">
                <a:solidFill>
                  <a:srgbClr val="3C322D"/>
                </a:solidFill>
                <a:latin typeface="Segoe UI"/>
              </a:defRPr>
            </a:pPr>
            <a:r>
              <a:t>Gran demanda en espectáculos, esports y cobertura de conflictos geopolíticos; utilizada con frecuencia para sortear prohibiciones nacionales a las apuestas de azar.</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29_cross_cultural_trading.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6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INNOVACIÓN DISRUPTIVA</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30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Innovación Disruptiva por Invasión desde la Gama Baja (GIM Cap. 8)</a:t>
            </a:r>
          </a:p>
          <a:p>
            <a:pPr>
              <a:defRPr sz="1180">
                <a:solidFill>
                  <a:srgbClr val="5A504B"/>
                </a:solidFill>
                <a:latin typeface="Segoe UI"/>
              </a:defRPr>
            </a:pPr>
            <a:r>
              <a:t>Aplicación de la Curva S de Christensen: De apuestas de cultura pop a inteligencia macroeconómica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La Clásica Invasión de Gama Baja</a:t>
            </a:r>
          </a:p>
          <a:p>
            <a:pPr>
              <a:defRPr sz="1019">
                <a:solidFill>
                  <a:srgbClr val="3C322D"/>
                </a:solidFill>
                <a:latin typeface="Segoe UI"/>
              </a:defRPr>
            </a:pPr>
            <a:r>
              <a:t>Teoría de Christensen (GIM Fig 8.6): Las innovaciones disruptivas nacen en nichos marginales que las empresas líderes descartan como pasatiempos poco rentables.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La Evolución de los Mercados de Pronóstico</a:t>
            </a:r>
          </a:p>
          <a:p>
            <a:pPr>
              <a:defRPr sz="1019">
                <a:solidFill>
                  <a:srgbClr val="3C322D"/>
                </a:solidFill>
                <a:latin typeface="Segoe UI"/>
              </a:defRPr>
            </a:pPr>
            <a:r>
              <a:t>Fase 1: Apuestas sobre realities de TV y farándula -&gt; Fase 2: Pronósticos electorales que superan a sondeos -&gt; Fase 3: Evaluación de riesgos geopolíticos corporativos.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El Descuido del Incumbente</a:t>
            </a:r>
          </a:p>
          <a:p>
            <a:pPr>
              <a:defRPr sz="1019">
                <a:solidFill>
                  <a:srgbClr val="3C322D"/>
                </a:solidFill>
                <a:latin typeface="Segoe UI"/>
              </a:defRPr>
            </a:pPr>
            <a:r>
              <a:t>Las consultoras tradicionales y los encuestadores ignoraron a estas plataformas hasta que su velocidad, costo y precisión hicieron que el cambio fuera irreversible.</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30_christensen_scurv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04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EL CONO DE VALOR</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31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El Cono de Valor de una Plataforma de Información (GIM Fig 9.17)</a:t>
            </a:r>
          </a:p>
          <a:p>
            <a:pPr>
              <a:defRPr sz="1180">
                <a:solidFill>
                  <a:srgbClr val="5A504B"/>
                </a:solidFill>
                <a:latin typeface="Segoe UI"/>
              </a:defRPr>
            </a:pPr>
            <a:r>
              <a:t>Gestión de la solvencia operativa cuando los ingresos fluctúan con los ciclos macro y políticos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Bandas Crecientes de Incertidumbre</a:t>
            </a:r>
          </a:p>
          <a:p>
            <a:pPr>
              <a:defRPr sz="1019">
                <a:solidFill>
                  <a:srgbClr val="3C322D"/>
                </a:solidFill>
                <a:latin typeface="Segoe UI"/>
              </a:defRPr>
            </a:pPr>
            <a:r>
              <a:t>El Cono de Valor Estratégico (GIM Fig 9.17) modela la dispersión de ingresos futuros de la plataforma frente a costos fijos operativos acotados.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El Ciclo Electoral de Abundancia y Escasez</a:t>
            </a:r>
          </a:p>
          <a:p>
            <a:pPr>
              <a:defRPr sz="1019">
                <a:solidFill>
                  <a:srgbClr val="3C322D"/>
                </a:solidFill>
                <a:latin typeface="Segoe UI"/>
              </a:defRPr>
            </a:pPr>
            <a:r>
              <a:t>El volumen de transacciones se multiplica por más de 10x durante elecciones presidenciales en EE.UU., para luego caer con fuerza en los años intermedios.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Disciplina en la Tasa de Descuento</a:t>
            </a:r>
          </a:p>
          <a:p>
            <a:pPr>
              <a:defRPr sz="1019">
                <a:solidFill>
                  <a:srgbClr val="3C322D"/>
                </a:solidFill>
                <a:latin typeface="Segoe UI"/>
              </a:defRPr>
            </a:pPr>
            <a:r>
              <a:t>Las firmas deben ajustar sus gastos fijos para aguantar los periodos sin elecciones, exigiendo tasas de rentabilidad elevadas (40% al 50%) ante la volatilidad cíclica.</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31_value_cone.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27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SÍNTESIS DEL MARCO</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32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Síntesis del Marco: Palancas Decisionales Clave en la Estrategia Web3</a:t>
            </a:r>
          </a:p>
          <a:p>
            <a:pPr>
              <a:defRPr sz="1180">
                <a:solidFill>
                  <a:srgbClr val="5A504B"/>
                </a:solidFill>
                <a:latin typeface="Segoe UI"/>
              </a:defRPr>
            </a:pPr>
            <a:r>
              <a:t>Unión de dolor del cliente, velocidad de consumo, blindaje regulatorio y fosos de liquidez</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Dolor del Cliente y Fricción de Consumo</a:t>
            </a:r>
          </a:p>
          <a:p>
            <a:pPr>
              <a:defRPr sz="1019">
                <a:solidFill>
                  <a:srgbClr val="3C322D"/>
                </a:solidFill>
                <a:latin typeface="Segoe UI"/>
              </a:defRPr>
            </a:pPr>
            <a:r>
              <a:t>La tecnología no crea valor por sí sola; comercializar exige eliminar trabas en cada eslabón de la cadena de consumo.</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Blindaje Regulatorio y Arbitraje</a:t>
            </a:r>
          </a:p>
          <a:p>
            <a:pPr>
              <a:defRPr sz="1019">
                <a:solidFill>
                  <a:srgbClr val="3C322D"/>
                </a:solidFill>
                <a:latin typeface="Segoe UI"/>
              </a:defRPr>
            </a:pPr>
            <a:r>
              <a:t>Las plataformas globales deben prever barreras defensivas de los gobiernos y diseñar opciones reales multi-jurisdiccionales escalonadas.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Fosos de Liquidez en Red</a:t>
            </a:r>
          </a:p>
          <a:p>
            <a:pPr>
              <a:defRPr sz="1019">
                <a:solidFill>
                  <a:srgbClr val="3C322D"/>
                </a:solidFill>
                <a:latin typeface="Segoe UI"/>
              </a:defRPr>
            </a:pPr>
            <a:r>
              <a:t>La liquidez es la mejor defensa; pero dado que el software abierto se puede clonar con facilidad, la ventaja sostenible exige marca reconocida y excelente diseño.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32_framework_synthesi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15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CASO DE ESTUDIO 2</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33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Caso 2: El Motor de la Verdad: Polymarket y el Muro Regulatorio</a:t>
            </a:r>
          </a:p>
          <a:p>
            <a:pPr>
              <a:defRPr sz="1180">
                <a:solidFill>
                  <a:srgbClr val="5A504B"/>
                </a:solidFill>
                <a:latin typeface="Segoe UI"/>
              </a:defRPr>
            </a:pPr>
            <a:r>
              <a:t>Cómo un protocolo montado en Polygon procesó miles de millones en las elecciones de 2024</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El Gran Hito de 2024</a:t>
            </a:r>
          </a:p>
          <a:p>
            <a:pPr>
              <a:defRPr sz="1019">
                <a:solidFill>
                  <a:srgbClr val="3C322D"/>
                </a:solidFill>
                <a:latin typeface="Segoe UI"/>
              </a:defRPr>
            </a:pPr>
            <a:r>
              <a:t>Los sondeos tradicionales sufrieron con tasas de respuesta menores al 1% y sesgos; Polymarket movió miles de millones, consolidándose como el oráculo político de referencia.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Epistemología Basada en Mercados</a:t>
            </a:r>
          </a:p>
          <a:p>
            <a:pPr>
              <a:defRPr sz="1019">
                <a:solidFill>
                  <a:srgbClr val="3C322D"/>
                </a:solidFill>
                <a:latin typeface="Segoe UI"/>
              </a:defRPr>
            </a:pPr>
            <a:r>
              <a:t>Creado por Shayne Coplan en Polygon usando USDC; operadores con dinero en juego corrigieron desajustes en segundos, superando a los canales de TV y expertos.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La Paradoja de la Regulación</a:t>
            </a:r>
          </a:p>
          <a:p>
            <a:pPr>
              <a:defRPr sz="1019">
                <a:solidFill>
                  <a:srgbClr val="3C322D"/>
                </a:solidFill>
                <a:latin typeface="Segoe UI"/>
              </a:defRPr>
            </a:pPr>
            <a:r>
              <a:t>Una sanción de la CFTC en 2022 obligó a Polymarket a bloquear por IP a residentes de EE.UU.; así, aunque medía la política de ese país con exactitud, sus ciudadanos no podían operar.</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33_case2_polymarket_arch.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15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ANEXOS DEL CASO 2</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34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Anexo 1: La Jerarquía de Agregación de Información</a:t>
            </a:r>
          </a:p>
          <a:p>
            <a:pPr>
              <a:defRPr sz="1180">
                <a:solidFill>
                  <a:srgbClr val="5A504B"/>
                </a:solidFill>
                <a:latin typeface="Segoe UI"/>
              </a:defRPr>
            </a:pPr>
            <a:r>
              <a:t>Comparativa entre Sondeos, Analistas de Medios y Mercados de Predicción</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Muestra y Escala</a:t>
            </a:r>
          </a:p>
          <a:p>
            <a:pPr>
              <a:defRPr sz="1019">
                <a:solidFill>
                  <a:srgbClr val="3C322D"/>
                </a:solidFill>
                <a:latin typeface="Segoe UI"/>
              </a:defRPr>
            </a:pPr>
            <a:r>
              <a:t>Sondeos de Opinión: ~1,000 consultados (ajustados con ponderaciones teóricas) vs. Mercados de Predicción: +50,000 participantes arriesgando capital en más de 150 naciones.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Velocidad de Actualización</a:t>
            </a:r>
          </a:p>
          <a:p>
            <a:pPr>
              <a:defRPr sz="1019">
                <a:solidFill>
                  <a:srgbClr val="3C322D"/>
                </a:solidFill>
                <a:latin typeface="Segoe UI"/>
              </a:defRPr>
            </a:pPr>
            <a:r>
              <a:t>Las encuestas tardan de 3 a 7 días en levantar y procesar datos; los mercados incorporan noticias de última hora en fracciones de segundo.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Alineación de Incentivos</a:t>
            </a:r>
          </a:p>
          <a:p>
            <a:pPr>
              <a:defRPr sz="1019">
                <a:solidFill>
                  <a:srgbClr val="3C322D"/>
                </a:solidFill>
                <a:latin typeface="Segoe UI"/>
              </a:defRPr>
            </a:pPr>
            <a:r>
              <a:t>Quien responde una encuesta no sufre daño económico por decir falsedades; en el mercado de predicción, equivocarse cuesta dinero real en cada postura.</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34_exhibit1_info_hierarchy.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15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ANEXOS DEL CASO 2</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35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Anexo 2: Arquitectura Regulatoria: Kalshi vs. Polymarket</a:t>
            </a:r>
          </a:p>
          <a:p>
            <a:pPr>
              <a:defRPr sz="1180">
                <a:solidFill>
                  <a:srgbClr val="5A504B"/>
                </a:solidFill>
                <a:latin typeface="Segoe UI"/>
              </a:defRPr>
            </a:pPr>
            <a:r>
              <a:t>Medición de costos legales, alcance de mercado, fricción monetaria y velocidad de producto</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Kalshi (Mercado Regulado en EE.UU.)</a:t>
            </a:r>
          </a:p>
          <a:p>
            <a:pPr>
              <a:defRPr sz="1019">
                <a:solidFill>
                  <a:srgbClr val="3C322D"/>
                </a:solidFill>
                <a:latin typeface="Segoe UI"/>
              </a:defRPr>
            </a:pPr>
            <a:r>
              <a:t>Altos costos legales y de auditoría; registro bancario solo vía ACH en EE.UU.; operaciones en USD; contratos aprobados uno a uno; sin riesgos de sanciones federales.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Polymarket (Descentralizado Offshore)</a:t>
            </a:r>
          </a:p>
          <a:p>
            <a:pPr>
              <a:defRPr sz="1019">
                <a:solidFill>
                  <a:srgbClr val="3C322D"/>
                </a:solidFill>
                <a:latin typeface="Segoe UI"/>
              </a:defRPr>
            </a:pPr>
            <a:r>
              <a:t>Costos de geocercas y abogados en el extranjero; acceso mundial vía billeteras Web3; saldo en stablecoins USDC; creación ágil de nuevos contratos por usuarios.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El Dilema de Estrategia</a:t>
            </a:r>
          </a:p>
          <a:p>
            <a:pPr>
              <a:defRPr sz="1019">
                <a:solidFill>
                  <a:srgbClr val="3C322D"/>
                </a:solidFill>
                <a:latin typeface="Segoe UI"/>
              </a:defRPr>
            </a:pPr>
            <a:r>
              <a:t>Kalshi apunta al inmenso mercado de derivados corporativos en EE.UU.; Polymarket acapara el interés especulativo minorista internacional a una velocidad de producto 10x mayor.</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35_exhibit2_radar_comparison.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5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DISCUSIÓN DEL CASO 2</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36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Preguntas de Discusión Estratégica: Motores de Verdad y Estrategia</a:t>
            </a:r>
          </a:p>
          <a:p>
            <a:pPr>
              <a:defRPr sz="1180">
                <a:solidFill>
                  <a:srgbClr val="5A504B"/>
                </a:solidFill>
                <a:latin typeface="Segoe UI"/>
              </a:defRPr>
            </a:pPr>
            <a:r>
              <a:t>Aplicación de disrupción de Christensen, economía de redes, teoría de Shannon y táctica</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P1: ¿Innovación Disruptiva o Apuestas?</a:t>
            </a:r>
          </a:p>
          <a:p>
            <a:pPr>
              <a:defRPr sz="1019">
                <a:solidFill>
                  <a:srgbClr val="3C322D"/>
                </a:solidFill>
                <a:latin typeface="Segoe UI"/>
              </a:defRPr>
            </a:pPr>
            <a:r>
              <a:t>Aplique los criterios de Christensen y Schumpeter (GIM Cap. 8). ¿Es Polymarket una disrupción para la consultoría e investigación de mercado, o un simple casino en línea?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P2: Red de Liquidez y Defensa ante Vampiros</a:t>
            </a:r>
          </a:p>
          <a:p>
            <a:pPr>
              <a:defRPr sz="1019">
                <a:solidFill>
                  <a:srgbClr val="3C322D"/>
                </a:solidFill>
                <a:latin typeface="Segoe UI"/>
              </a:defRPr>
            </a:pPr>
            <a:r>
              <a:t>¿Puede un rival copiar el código de Polymarket y robarse sus fondos abiertos? ¿Cómo blinda la plataforma su foso de liquidez? (GIM Cap. 12)</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P3: Posicionamiento Táctico</a:t>
            </a:r>
          </a:p>
          <a:p>
            <a:pPr>
              <a:defRPr sz="1019">
                <a:solidFill>
                  <a:srgbClr val="3C322D"/>
                </a:solidFill>
                <a:latin typeface="Segoe UI"/>
              </a:defRPr>
            </a:pPr>
            <a:r>
              <a:t>Kalshi vs. Polymarket: Jugar dentro de la ley estatal o jugar fuera a nivel global. ¿Cuál firma tiene una mejor posición de ventaja competitiva duradera a 10 años? (GIM Cap. 6)</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36_case2_discussion.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84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TALLER DE ESTUDIANTES 2</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37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Taller 2: Análisis de Campos de Fuerza para Entrada al Mercado (Fase 1)</a:t>
            </a:r>
          </a:p>
          <a:p>
            <a:pPr>
              <a:defRPr sz="1180">
                <a:solidFill>
                  <a:srgbClr val="5A504B"/>
                </a:solidFill>
                <a:latin typeface="Segoe UI"/>
              </a:defRPr>
            </a:pPr>
            <a:r>
              <a:t>Estrategia de Kurt Lewin: Mercado Libre integrando un mercado de predicción (GIM Cap. 6)</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Fuerzas Impulsoras (+)</a:t>
            </a:r>
          </a:p>
          <a:p>
            <a:pPr>
              <a:defRPr sz="1019">
                <a:solidFill>
                  <a:srgbClr val="3C322D"/>
                </a:solidFill>
                <a:latin typeface="Segoe UI"/>
              </a:defRPr>
            </a:pPr>
            <a:r>
              <a:t>Gran entusiasmo por el fútbol regional; base instalada de billeteras Mercado Pago (+100M usuarios); población sin banco buscando rendimiento; viralidad en redes y comisiones del 2%.</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Fuerzas Restrictivas (-)</a:t>
            </a:r>
          </a:p>
          <a:p>
            <a:pPr>
              <a:defRPr sz="1019">
                <a:solidFill>
                  <a:srgbClr val="3C322D"/>
                </a:solidFill>
                <a:latin typeface="Segoe UI"/>
              </a:defRPr>
            </a:pPr>
            <a:r>
              <a:t>Leyes severas contra el juego en varios países; peligro de perder licencias de pago; volatilidad cambiaria; confusión con probabilidades y riesgo de daño de marca.</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Objetivo Táctico</a:t>
            </a:r>
          </a:p>
          <a:p>
            <a:pPr>
              <a:defRPr sz="1019">
                <a:solidFill>
                  <a:srgbClr val="3C322D"/>
                </a:solidFill>
                <a:latin typeface="Segoe UI"/>
              </a:defRPr>
            </a:pPr>
            <a:r>
              <a:t>Diseñar maniobras estratégicas para debilitar y desarmar las fuerzas restrictivas, en vez de presionar ciegamente sobre las fuerzas impulsoras (GIM pág. 153).</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37_force_field_analysi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84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TALLER DE ESTUDIANTES 2</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38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Taller 2: Mapeo del Cono de Valor Estratégico y Pitch (Fase 2)</a:t>
            </a:r>
          </a:p>
          <a:p>
            <a:pPr>
              <a:defRPr sz="1180">
                <a:solidFill>
                  <a:srgbClr val="5A504B"/>
                </a:solidFill>
                <a:latin typeface="Segoe UI"/>
              </a:defRPr>
            </a:pPr>
            <a:r>
              <a:t>Proyección a 5 años, tasas de descuento del 40%–50% y presentación de entrada (GIM Cap. 9)</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Límites del Pronóstico a 5 Años</a:t>
            </a:r>
          </a:p>
          <a:p>
            <a:pPr>
              <a:defRPr sz="1019">
                <a:solidFill>
                  <a:srgbClr val="3C322D"/>
                </a:solidFill>
                <a:latin typeface="Segoe UI"/>
              </a:defRPr>
            </a:pPr>
            <a:r>
              <a:t>Fijar el Límite Superior (red viral cerrada, licencias claras, escala R^2 aprox 0.99) vs. Límite Inferior (sanciones judiciales, bloqueo bancario y fallas en contratos).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Selección de la Tasa de Descuento</a:t>
            </a:r>
          </a:p>
          <a:p>
            <a:pPr>
              <a:defRPr sz="1019">
                <a:solidFill>
                  <a:srgbClr val="3C322D"/>
                </a:solidFill>
                <a:latin typeface="Segoe UI"/>
              </a:defRPr>
            </a:pPr>
            <a:r>
              <a:t>Definir y fundamentar una tasa de rendimiento exigente (r = 40% al 50%, GIM pág. 231) acorde con la alta incertidumbre legal y tecnológica del proyecto.</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Pitch Ejecutivo del Equipo</a:t>
            </a:r>
          </a:p>
          <a:p>
            <a:pPr>
              <a:defRPr sz="1019">
                <a:solidFill>
                  <a:srgbClr val="3C322D"/>
                </a:solidFill>
                <a:latin typeface="Segoe UI"/>
              </a:defRPr>
            </a:pPr>
            <a:r>
              <a:t>Presentar la postura final recomendada para Mercado Libre: Lanzamiento Frontal, Opción de Posicionamiento, Piloto en Arenera (Sandbox) o Trampolín Escalonado (GIM Fig 6.7).</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38_strategic_pitch_options.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2615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RÚBRICA DE EVALUACIÓN</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39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Rúbrica Ejecutiva de Evaluación y Criterios del Profesor</a:t>
            </a:r>
          </a:p>
          <a:p>
            <a:pPr>
              <a:defRPr sz="1180">
                <a:solidFill>
                  <a:srgbClr val="5A504B"/>
                </a:solidFill>
                <a:latin typeface="Segoe UI"/>
              </a:defRPr>
            </a:pPr>
            <a:r>
              <a:t>Los 4 ejes fundamentales de evaluación establecidos en Global Innovation Management</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1. Rigor Metodológico (30%)</a:t>
            </a:r>
          </a:p>
          <a:p>
            <a:pPr>
              <a:defRPr sz="1019">
                <a:solidFill>
                  <a:srgbClr val="3C322D"/>
                </a:solidFill>
                <a:latin typeface="Segoe UI"/>
              </a:defRPr>
            </a:pPr>
            <a:r>
              <a:t>Aplicación precisa de las matrices de Westland (Mapas de Características, Cadenas de Consumo, Cajas Morfológicas de Zwicky y taxonomía de Opciones Reales).</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2. Lógica Económica y de Redes (25%)</a:t>
            </a:r>
          </a:p>
          <a:p>
            <a:pPr>
              <a:defRPr sz="1019">
                <a:solidFill>
                  <a:srgbClr val="3C322D"/>
                </a:solidFill>
                <a:latin typeface="Segoe UI"/>
              </a:defRPr>
            </a:pPr>
            <a:r>
              <a:t>Fundamentación en costos de transacción, modelos de red libre de escala, comparación Metcalfe vs. Odlyzko y reducción de entropía de Shannon.</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3. Profundidad Institucional (25%) y Factibilidad (20%)</a:t>
            </a:r>
          </a:p>
          <a:p>
            <a:pPr>
              <a:defRPr sz="1019">
                <a:solidFill>
                  <a:srgbClr val="3C322D"/>
                </a:solidFill>
                <a:latin typeface="Segoe UI"/>
              </a:defRPr>
            </a:pPr>
            <a:r>
              <a:t>Comprensión de las diferencias institucionales (EE.UU., China, LATAM) y propuesta de ejecución realista validada con la regla de los 'Primeros Tres Clientes'.</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39_assessment_rubric.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84048"/>
            <a:ext cx="1900000" cy="329184"/>
          </a:xfrm>
          <a:prstGeom prst="round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FFFFFF"/>
                </a:solidFill>
                <a:latin typeface="Segoe UI"/>
              </a:defRPr>
            </a:pPr>
            <a:r>
              <a:t>SÍNTESIS FINAL</a:t>
            </a:r>
          </a:p>
        </p:txBody>
      </p:sp>
      <p:sp>
        <p:nvSpPr>
          <p:cNvPr id="5" name="Rounded Rectangle 4"/>
          <p:cNvSpPr/>
          <p:nvPr/>
        </p:nvSpPr>
        <p:spPr>
          <a:xfrm>
            <a:off x="10607040" y="384048"/>
            <a:ext cx="868680" cy="329184"/>
          </a:xfrm>
          <a:prstGeom prst="roundRect">
            <a:avLst/>
          </a:prstGeom>
          <a:solidFill>
            <a:srgbClr val="FFEEE0"/>
          </a:solidFill>
          <a:ln w="127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C44100"/>
                </a:solidFill>
                <a:latin typeface="Segoe UI"/>
              </a:defRPr>
            </a:pPr>
            <a:r>
              <a:t>40 / 40</a:t>
            </a:r>
          </a:p>
        </p:txBody>
      </p:sp>
      <p:pic>
        <p:nvPicPr>
          <p:cNvPr id="6" name="Picture 5" descr="anahuac_mayab_highres.png"/>
          <p:cNvPicPr>
            <a:picLocks noChangeAspect="1"/>
          </p:cNvPicPr>
          <p:nvPr/>
        </p:nvPicPr>
        <p:blipFill>
          <a:blip r:embed="rId2"/>
          <a:stretch>
            <a:fillRect/>
          </a:stretch>
        </p:blipFill>
        <p:spPr>
          <a:xfrm>
            <a:off x="8200000" y="310000"/>
            <a:ext cx="2200000" cy="476000"/>
          </a:xfrm>
          <a:prstGeom prst="rect">
            <a:avLst/>
          </a:prstGeom>
        </p:spPr>
      </p:pic>
      <p:sp>
        <p:nvSpPr>
          <p:cNvPr id="7" name="TextBox 6"/>
          <p:cNvSpPr txBox="1"/>
          <p:nvPr/>
        </p:nvSpPr>
        <p:spPr>
          <a:xfrm>
            <a:off x="731520" y="777240"/>
            <a:ext cx="10789920" cy="1051560"/>
          </a:xfrm>
          <a:prstGeom prst="rect">
            <a:avLst/>
          </a:prstGeom>
          <a:noFill/>
        </p:spPr>
        <p:txBody>
          <a:bodyPr wrap="square">
            <a:spAutoFit/>
          </a:bodyPr>
          <a:lstStyle/>
          <a:p>
            <a:pPr>
              <a:defRPr b="1" sz="2300">
                <a:solidFill>
                  <a:srgbClr val="231F20"/>
                </a:solidFill>
                <a:latin typeface="Segoe UI"/>
              </a:defRPr>
            </a:pPr>
            <a:r>
              <a:t>Cierre Magistral: El Estratega Digital Transcultural</a:t>
            </a:r>
          </a:p>
          <a:p>
            <a:pPr>
              <a:defRPr sz="1180">
                <a:solidFill>
                  <a:srgbClr val="5A504B"/>
                </a:solidFill>
                <a:latin typeface="Segoe UI"/>
              </a:defRPr>
            </a:pPr>
            <a:r>
              <a:t>Síntesis de rieles descentralizados, motores de información y fronteras institucionales</a:t>
            </a:r>
          </a:p>
        </p:txBody>
      </p:sp>
      <p:sp>
        <p:nvSpPr>
          <p:cNvPr id="8" name="Rounded Rectangle 7"/>
          <p:cNvSpPr/>
          <p:nvPr/>
        </p:nvSpPr>
        <p:spPr>
          <a:xfrm>
            <a:off x="731520" y="1874519"/>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84247"/>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44519"/>
            <a:ext cx="5074920" cy="1240000"/>
          </a:xfrm>
          <a:prstGeom prst="rect">
            <a:avLst/>
          </a:prstGeom>
          <a:noFill/>
        </p:spPr>
        <p:txBody>
          <a:bodyPr wrap="square">
            <a:spAutoFit/>
          </a:bodyPr>
          <a:lstStyle/>
          <a:p>
            <a:pPr>
              <a:defRPr b="1" sz="1250">
                <a:solidFill>
                  <a:srgbClr val="231F20"/>
                </a:solidFill>
                <a:latin typeface="Segoe UI"/>
              </a:defRPr>
            </a:pPr>
            <a:r>
              <a:t>Innovación es Invención + Comercialización</a:t>
            </a:r>
          </a:p>
          <a:p>
            <a:pPr>
              <a:defRPr sz="1019">
                <a:solidFill>
                  <a:srgbClr val="3C322D"/>
                </a:solidFill>
                <a:latin typeface="Segoe UI"/>
              </a:defRPr>
            </a:pPr>
            <a:r>
              <a:t>El código es barato y fácil de copiar; la comercialización ante las trabas institucionales y regulatorias es donde se gana o pierde la ventaja competitiva.</a:t>
            </a:r>
          </a:p>
        </p:txBody>
      </p:sp>
      <p:sp>
        <p:nvSpPr>
          <p:cNvPr id="11" name="Rounded Rectangle 10"/>
          <p:cNvSpPr/>
          <p:nvPr/>
        </p:nvSpPr>
        <p:spPr>
          <a:xfrm>
            <a:off x="731520" y="3410711"/>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520439"/>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80711"/>
            <a:ext cx="5074920" cy="1240000"/>
          </a:xfrm>
          <a:prstGeom prst="rect">
            <a:avLst/>
          </a:prstGeom>
          <a:noFill/>
        </p:spPr>
        <p:txBody>
          <a:bodyPr wrap="square">
            <a:spAutoFit/>
          </a:bodyPr>
          <a:lstStyle/>
          <a:p>
            <a:pPr>
              <a:defRPr b="1" sz="1250">
                <a:solidFill>
                  <a:srgbClr val="231F20"/>
                </a:solidFill>
                <a:latin typeface="Segoe UI"/>
              </a:defRPr>
            </a:pPr>
            <a:r>
              <a:t>La Frontera de la Estructura de Mercados</a:t>
            </a:r>
          </a:p>
          <a:p>
            <a:pPr>
              <a:defRPr sz="1019">
                <a:solidFill>
                  <a:srgbClr val="3C322D"/>
                </a:solidFill>
                <a:latin typeface="Segoe UI"/>
              </a:defRPr>
            </a:pPr>
            <a:r>
              <a:t>Los rieles de pago descentralizados y los mercados de predicción representan el comercio del siglo XXI, reemplazando intermediarios lentos por protocolos auditables.</a:t>
            </a:r>
          </a:p>
        </p:txBody>
      </p:sp>
      <p:sp>
        <p:nvSpPr>
          <p:cNvPr id="14" name="Rounded Rectangle 13"/>
          <p:cNvSpPr/>
          <p:nvPr/>
        </p:nvSpPr>
        <p:spPr>
          <a:xfrm>
            <a:off x="731520" y="4946903"/>
            <a:ext cx="5394960" cy="1389888"/>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056631"/>
            <a:ext cx="73152" cy="1170432"/>
          </a:xfrm>
          <a:prstGeom prst="rect">
            <a:avLst/>
          </a:prstGeom>
          <a:solidFill>
            <a:srgbClr val="FF5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016903"/>
            <a:ext cx="5074920" cy="1240000"/>
          </a:xfrm>
          <a:prstGeom prst="rect">
            <a:avLst/>
          </a:prstGeom>
          <a:noFill/>
        </p:spPr>
        <p:txBody>
          <a:bodyPr wrap="square">
            <a:spAutoFit/>
          </a:bodyPr>
          <a:lstStyle/>
          <a:p>
            <a:pPr>
              <a:defRPr b="1" sz="1250">
                <a:solidFill>
                  <a:srgbClr val="231F20"/>
                </a:solidFill>
                <a:latin typeface="Segoe UI"/>
              </a:defRPr>
            </a:pPr>
            <a:r>
              <a:t>El Mandato del Estratega Moderno</a:t>
            </a:r>
          </a:p>
          <a:p>
            <a:pPr>
              <a:defRPr sz="1019">
                <a:solidFill>
                  <a:srgbClr val="3C322D"/>
                </a:solidFill>
                <a:latin typeface="Segoe UI"/>
              </a:defRPr>
            </a:pPr>
            <a:r>
              <a:t>Los líderes del futuro deben dominar tres terrenos a la vez: arquitectura de software criptográfico, jurisprudencia regulatoria soberana y empatía profunda con el usuario.</a:t>
            </a:r>
          </a:p>
        </p:txBody>
      </p:sp>
      <p:sp>
        <p:nvSpPr>
          <p:cNvPr id="17" name="Rounded Rectangle 16"/>
          <p:cNvSpPr/>
          <p:nvPr/>
        </p:nvSpPr>
        <p:spPr>
          <a:xfrm>
            <a:off x="6327648" y="1801367"/>
            <a:ext cx="5221224" cy="4608576"/>
          </a:xfrm>
          <a:prstGeom prst="roundRect">
            <a:avLst/>
          </a:prstGeom>
          <a:solidFill>
            <a:srgbClr val="FFFFFF"/>
          </a:solidFill>
          <a:ln w="12700">
            <a:solidFill>
              <a:srgbClr val="E2D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phic_40_capstone_strategist.png"/>
          <p:cNvPicPr>
            <a:picLocks noChangeAspect="1"/>
          </p:cNvPicPr>
          <p:nvPr/>
        </p:nvPicPr>
        <p:blipFill>
          <a:blip r:embed="rId3"/>
          <a:stretch>
            <a:fillRect/>
          </a:stretch>
        </p:blipFill>
        <p:spPr>
          <a:xfrm>
            <a:off x="6400800" y="1874519"/>
            <a:ext cx="5074920" cy="4462272"/>
          </a:xfrm>
          <a:prstGeom prst="rect">
            <a:avLst/>
          </a:prstGeom>
        </p:spPr>
      </p:pic>
      <p:sp>
        <p:nvSpPr>
          <p:cNvPr id="19" name="TextBox 18"/>
          <p:cNvSpPr txBox="1"/>
          <p:nvPr/>
        </p:nvSpPr>
        <p:spPr>
          <a:xfrm>
            <a:off x="731520" y="6420000"/>
            <a:ext cx="10728655" cy="300000"/>
          </a:xfrm>
          <a:prstGeom prst="rect">
            <a:avLst/>
          </a:prstGeom>
          <a:noFill/>
        </p:spPr>
        <p:txBody>
          <a:bodyPr wrap="none" anchor="ctr">
            <a:spAutoFit/>
          </a:bodyPr>
          <a:lstStyle/>
          <a:p>
            <a:pPr>
              <a:defRPr sz="950">
                <a:solidFill>
                  <a:srgbClr val="8C7E72"/>
                </a:solidFill>
                <a:latin typeface="Segoe UI"/>
              </a:defRPr>
            </a:pPr>
            <a:r>
              <a:t>Universidad Anáhuac Mayab  •  Prof. J. Christopher Westland  •  Estrategia Digital Transcultural: Web3 y Mercados de Predicción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