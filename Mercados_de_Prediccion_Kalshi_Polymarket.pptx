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business.uic.edu/profiles/westland-james-christopher/"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 y="658368"/>
            <a:ext cx="9997135" cy="5596128"/>
          </a:xfrm>
          <a:prstGeom prst="roundRect">
            <a:avLst>
              <a:gd name="adj" fmla="val 4000"/>
            </a:avLst>
          </a:prstGeom>
          <a:solidFill>
            <a:srgbClr val="3D2314"/>
          </a:solidFill>
          <a:ln w="317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595360" y="896112"/>
            <a:ext cx="2103120" cy="640080"/>
          </a:xfrm>
          <a:prstGeom prst="roundRect">
            <a:avLst>
              <a:gd name="adj" fmla="val 25000"/>
            </a:avLst>
          </a:prstGeom>
          <a:solidFill>
            <a:srgbClr val="FFFFFF"/>
          </a:solidFill>
          <a:ln w="1905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_anahuac.png"/>
          <p:cNvPicPr>
            <a:picLocks noChangeAspect="1"/>
          </p:cNvPicPr>
          <p:nvPr/>
        </p:nvPicPr>
        <p:blipFill>
          <a:blip r:embed="rId2"/>
          <a:stretch>
            <a:fillRect/>
          </a:stretch>
        </p:blipFill>
        <p:spPr>
          <a:xfrm>
            <a:off x="8686800" y="960120"/>
            <a:ext cx="1920240" cy="545366"/>
          </a:xfrm>
          <a:prstGeom prst="rect">
            <a:avLst/>
          </a:prstGeom>
        </p:spPr>
      </p:pic>
      <p:sp>
        <p:nvSpPr>
          <p:cNvPr id="7" name="Rounded Rectangle 6"/>
          <p:cNvSpPr/>
          <p:nvPr/>
        </p:nvSpPr>
        <p:spPr>
          <a:xfrm>
            <a:off x="1463040" y="932688"/>
            <a:ext cx="4389120" cy="347472"/>
          </a:xfrm>
          <a:prstGeom prst="round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lIns="0" tIns="0" rIns="0" bIns="0"/>
          <a:lstStyle/>
          <a:p>
            <a:pPr algn="ctr">
              <a:defRPr sz="1000" b="1">
                <a:solidFill>
                  <a:srgbClr val="FFFFFF"/>
                </a:solidFill>
              </a:defRPr>
            </a:pPr>
            <a:r>
              <a:t>CURSO DE FINANZAS Y TECNOLOGÍA (FINTECH)</a:t>
            </a:r>
          </a:p>
        </p:txBody>
      </p:sp>
      <p:sp>
        <p:nvSpPr>
          <p:cNvPr id="8" name="TextBox 7"/>
          <p:cNvSpPr txBox="1"/>
          <p:nvPr/>
        </p:nvSpPr>
        <p:spPr>
          <a:xfrm>
            <a:off x="1463040" y="1353312"/>
            <a:ext cx="9235440" cy="1810512"/>
          </a:xfrm>
          <a:prstGeom prst="rect">
            <a:avLst/>
          </a:prstGeom>
          <a:noFill/>
        </p:spPr>
        <p:txBody>
          <a:bodyPr wrap="square">
            <a:spAutoFit/>
          </a:bodyPr>
          <a:lstStyle/>
          <a:p>
            <a:pPr>
              <a:spcAft>
                <a:spcPts val="400"/>
              </a:spcAft>
              <a:defRPr sz="2800" b="1">
                <a:solidFill>
                  <a:srgbClr val="FFFFFF"/>
                </a:solidFill>
                <a:latin typeface="Segoe UI"/>
              </a:defRPr>
            </a:pPr>
            <a:r>
              <a:t>Mercados de Predicción y Finanzas de la Información</a:t>
            </a:r>
          </a:p>
          <a:p>
            <a:pPr>
              <a:spcAft>
                <a:spcPts val="600"/>
              </a:spcAft>
              <a:defRPr sz="1600">
                <a:solidFill>
                  <a:srgbClr val="FF5900"/>
                </a:solidFill>
                <a:latin typeface="Segoe UI"/>
              </a:defRPr>
            </a:pPr>
            <a:r>
              <a:t>Análisis Comparativo de Kalshi y Polymarket: Arquitectura, Regulación y Oráculos</a:t>
            </a:r>
          </a:p>
          <a:p>
            <a:pPr>
              <a:defRPr sz="1050">
                <a:solidFill>
                  <a:srgbClr val="F5EDE4"/>
                </a:solidFill>
                <a:latin typeface="Segoe UI"/>
              </a:defRPr>
            </a:pPr>
            <a:r>
              <a:t>Un examen exhaustivo de los exchanges de contratos de eventos centralizados y descentralizados: agregación de información hayekiana, matemáticas de opciones binarias, microestructura del libro de órdenes, la batalla judicial en Kalshi v. CFTC, liquidez en USDC sobre Polygon, oráculos optimistas UMA, resistencia a la manipulación y la frontera macroeconómica de los mercados de decisión.</a:t>
            </a:r>
          </a:p>
        </p:txBody>
      </p:sp>
      <p:sp>
        <p:nvSpPr>
          <p:cNvPr id="9" name="Rounded Rectangle 8"/>
          <p:cNvSpPr/>
          <p:nvPr/>
        </p:nvSpPr>
        <p:spPr>
          <a:xfrm>
            <a:off x="1417320" y="3310128"/>
            <a:ext cx="9357055" cy="2743200"/>
          </a:xfrm>
          <a:prstGeom prst="roundRect">
            <a:avLst>
              <a:gd name="adj" fmla="val 4000"/>
            </a:avLst>
          </a:prstGeom>
          <a:solidFill>
            <a:srgbClr val="2B180D"/>
          </a:solidFill>
          <a:ln w="1524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00200" y="3401568"/>
            <a:ext cx="5577840" cy="2542032"/>
          </a:xfrm>
          <a:prstGeom prst="rect">
            <a:avLst/>
          </a:prstGeom>
          <a:noFill/>
        </p:spPr>
        <p:txBody>
          <a:bodyPr wrap="square" lIns="0" tIns="0" rIns="0" bIns="0">
            <a:spAutoFit/>
          </a:bodyPr>
          <a:lstStyle/>
          <a:p>
            <a:pPr>
              <a:spcAft>
                <a:spcPts val="300"/>
              </a:spcAft>
            </a:pPr>
            <a:r>
              <a:rPr sz="1500" b="1">
                <a:solidFill>
                  <a:srgbClr val="FFFFFF"/>
                </a:solidFill>
                <a:latin typeface="Segoe UI"/>
              </a:rPr>
              <a:t>J. Christopher Westland</a:t>
            </a:r>
          </a:p>
          <a:p>
            <a:pPr>
              <a:spcAft>
                <a:spcPts val="200"/>
              </a:spcAft>
            </a:pPr>
            <a:r>
              <a:rPr sz="1100" b="1">
                <a:solidFill>
                  <a:srgbClr val="FF5900"/>
                </a:solidFill>
                <a:latin typeface="Segoe UI"/>
              </a:rPr>
              <a:t>Fulbright-García Robles U.S. Scholar (Science and Technology)</a:t>
            </a:r>
          </a:p>
          <a:p>
            <a:pPr>
              <a:spcAft>
                <a:spcPts val="200"/>
              </a:spcAft>
            </a:pPr>
            <a:r>
              <a:rPr sz="1050">
                <a:solidFill>
                  <a:srgbClr val="F5EDE4"/>
                </a:solidFill>
                <a:latin typeface="Segoe UI"/>
              </a:rPr>
              <a:t>hosted by Universidad Anáhuac Mayab | Mérida, México</a:t>
            </a:r>
          </a:p>
          <a:p>
            <a:pPr>
              <a:spcAft>
                <a:spcPts val="200"/>
              </a:spcAft>
            </a:pPr>
            <a:r>
              <a:rPr sz="1050">
                <a:solidFill>
                  <a:srgbClr val="F5EDE4"/>
                </a:solidFill>
                <a:latin typeface="Segoe UI"/>
              </a:rPr>
              <a:t>Professor, Information &amp; Decision Sciences | University of Illinois Chicago</a:t>
            </a:r>
          </a:p>
          <a:p>
            <a:pPr>
              <a:spcAft>
                <a:spcPts val="300"/>
              </a:spcAft>
            </a:pPr>
            <a:r>
              <a:rPr sz="1000">
                <a:solidFill>
                  <a:srgbClr val="DCD2C8"/>
                </a:solidFill>
                <a:latin typeface="Segoe UI"/>
              </a:rPr>
              <a:t>Editor-in-Chief: Electronic Commerce Research (Springer)</a:t>
            </a:r>
          </a:p>
          <a:p>
            <a:r>
              <a:rPr sz="950">
                <a:solidFill>
                  <a:srgbClr val="C8BEB4"/>
                </a:solidFill>
                <a:latin typeface="Segoe UI"/>
              </a:rPr>
              <a:t>Perfil Académico (Faculty Profile): </a:t>
            </a:r>
            <a:r>
              <a:rPr sz="950" u="sng">
                <a:solidFill>
                  <a:srgbClr val="FF5900"/>
                </a:solidFill>
                <a:latin typeface="Segoe UI"/>
                <a:hlinkClick r:id="rId3"/>
              </a:rPr>
              <a:t>business.uic.edu/profiles/westland-james-christopher</a:t>
            </a:r>
          </a:p>
        </p:txBody>
      </p:sp>
      <p:sp>
        <p:nvSpPr>
          <p:cNvPr id="11" name="Rectangle 10"/>
          <p:cNvSpPr/>
          <p:nvPr/>
        </p:nvSpPr>
        <p:spPr>
          <a:xfrm>
            <a:off x="7315200" y="3429000"/>
            <a:ext cx="18288" cy="2423160"/>
          </a:xfrm>
          <a:prstGeom prst="rect">
            <a:avLst/>
          </a:prstGeom>
          <a:solidFill>
            <a:srgbClr val="63381B"/>
          </a:solidFill>
          <a:ln>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79" y="3364992"/>
            <a:ext cx="3108960" cy="2542032"/>
          </a:xfrm>
          <a:prstGeom prst="rect">
            <a:avLst/>
          </a:prstGeom>
          <a:noFill/>
        </p:spPr>
        <p:txBody>
          <a:bodyPr wrap="square" lIns="0" tIns="0" rIns="0" bIns="0">
            <a:spAutoFit/>
          </a:bodyPr>
          <a:lstStyle/>
          <a:p>
            <a:pPr>
              <a:spcAft>
                <a:spcPts val="300"/>
              </a:spcAft>
            </a:pPr>
            <a:r>
              <a:rPr sz="1000" b="1">
                <a:solidFill>
                  <a:srgbClr val="FF5900"/>
                </a:solidFill>
                <a:latin typeface="Segoe UI"/>
              </a:rPr>
              <a:t>CLASE MAGISTRAL</a:t>
            </a:r>
          </a:p>
          <a:p>
            <a:pPr>
              <a:spcAft>
                <a:spcPts val="100"/>
              </a:spcAft>
            </a:pPr>
            <a:r>
              <a:rPr sz="950">
                <a:solidFill>
                  <a:srgbClr val="F5EDE4"/>
                </a:solidFill>
                <a:latin typeface="Segoe UI"/>
              </a:rPr>
              <a:t>Enfoque y Alcance Temático:</a:t>
            </a:r>
          </a:p>
          <a:p>
            <a:pPr>
              <a:spcAft>
                <a:spcPts val="300"/>
              </a:spcAft>
            </a:pPr>
            <a:r>
              <a:rPr sz="1050" b="1">
                <a:solidFill>
                  <a:srgbClr val="FFFFFF"/>
                </a:solidFill>
                <a:latin typeface="Segoe UI"/>
              </a:rPr>
              <a:t>Economía de la Información, Microestructura y Gobernanza Algorítmica</a:t>
            </a:r>
          </a:p>
          <a:p>
            <a:pPr>
              <a:spcAft>
                <a:spcPts val="800"/>
              </a:spcAft>
            </a:pPr>
            <a:r>
              <a:rPr sz="900" i="1">
                <a:solidFill>
                  <a:srgbClr val="C3B4A8"/>
                </a:solidFill>
                <a:latin typeface="Segoe UI"/>
              </a:rPr>
              <a:t>Análisis Institucional Comparativo: Kalshi (Regulado CFTC) vs. Polymarket (Web3 / Oráculos UMA)</a:t>
            </a:r>
          </a:p>
          <a:p>
            <a:r>
              <a:rPr sz="900" b="1">
                <a:solidFill>
                  <a:srgbClr val="FFFFFF"/>
                </a:solidFill>
                <a:latin typeface="Segoe UI"/>
              </a:rPr>
              <a:t>© J. Christopher Westland. Todos los derechos reservados.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VISIÓN GENERAL DEL MÓDULO</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Estructura de la Clase y Hoja de Ruta Temática</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02/22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400"/>
              </a:spcAft>
              <a:defRPr sz="1500" b="1">
                <a:solidFill>
                  <a:srgbClr val="DA4100"/>
                </a:solidFill>
              </a:defRPr>
            </a:pPr>
            <a:r>
              <a:t>1. Teoría y Mecánica</a:t>
            </a:r>
          </a:p>
          <a:p>
            <a:pPr>
              <a:spcAft>
                <a:spcPts val="800"/>
              </a:spcAft>
            </a:pPr>
            <a:r>
              <a:rPr b="1" sz="1100">
                <a:solidFill>
                  <a:srgbClr val="DA4100"/>
                </a:solidFill>
                <a:latin typeface="Segoe UI"/>
              </a:rPr>
              <a:t>• Información Hayekiana: </a:t>
            </a:r>
            <a:r>
              <a:rPr b="0" sz="1100">
                <a:solidFill>
                  <a:srgbClr val="21140E"/>
                </a:solidFill>
                <a:latin typeface="Segoe UI"/>
              </a:rPr>
              <a:t>Los precios como agregadores de conocimiento disperso.</a:t>
            </a:r>
          </a:p>
          <a:p>
            <a:pPr>
              <a:spcAft>
                <a:spcPts val="800"/>
              </a:spcAft>
            </a:pPr>
            <a:r>
              <a:rPr b="1" sz="1100">
                <a:solidFill>
                  <a:srgbClr val="DA4100"/>
                </a:solidFill>
                <a:latin typeface="Segoe UI"/>
              </a:rPr>
              <a:t>• Contratos de Eventos Binarios: </a:t>
            </a:r>
            <a:r>
              <a:rPr b="0" sz="1100">
                <a:solidFill>
                  <a:srgbClr val="21140E"/>
                </a:solidFill>
                <a:latin typeface="Segoe UI"/>
              </a:rPr>
              <a:t>Estructura de pago ($1 o $0) y probabilidades neutrales.</a:t>
            </a:r>
          </a:p>
          <a:p>
            <a:pPr>
              <a:spcAft>
                <a:spcPts val="800"/>
              </a:spcAft>
            </a:pPr>
            <a:r>
              <a:rPr b="1" sz="1100">
                <a:solidFill>
                  <a:srgbClr val="DA4100"/>
                </a:solidFill>
                <a:latin typeface="Segoe UI"/>
              </a:rPr>
              <a:t>• Microestructura del Libro: </a:t>
            </a:r>
            <a:r>
              <a:rPr b="0" sz="1100">
                <a:solidFill>
                  <a:srgbClr val="21140E"/>
                </a:solidFill>
                <a:latin typeface="Segoe UI"/>
              </a:rPr>
              <a:t>Precios complementarios (Bid_Sí + Ask_No = $1.00).</a:t>
            </a:r>
          </a:p>
          <a:p>
            <a:pPr>
              <a:spcAft>
                <a:spcPts val="800"/>
              </a:spcAft>
            </a:pPr>
            <a:r>
              <a:rPr b="1" sz="1100">
                <a:solidFill>
                  <a:srgbClr val="DA4100"/>
                </a:solidFill>
                <a:latin typeface="Segoe UI"/>
              </a:rPr>
              <a:t>• Arbitraje de Market Makers: </a:t>
            </a:r>
            <a:r>
              <a:rPr b="0" sz="1100">
                <a:solidFill>
                  <a:srgbClr val="21140E"/>
                </a:solidFill>
                <a:latin typeface="Segoe UI"/>
              </a:rPr>
              <a:t>Acuñación y quema de pares binarios por efectivo.</a:t>
            </a:r>
          </a:p>
          <a:p>
            <a:pPr>
              <a:spcAft>
                <a:spcPts val="800"/>
              </a:spcAft>
            </a:pPr>
            <a:r>
              <a:rPr b="1" sz="1100">
                <a:solidFill>
                  <a:srgbClr val="DA4100"/>
                </a:solidFill>
                <a:latin typeface="Segoe UI"/>
              </a:rPr>
              <a:t>• El Dilema de Resolución: </a:t>
            </a:r>
            <a:r>
              <a:rPr b="0" sz="1100">
                <a:solidFill>
                  <a:srgbClr val="21140E"/>
                </a:solidFill>
                <a:latin typeface="Segoe UI"/>
              </a:rPr>
              <a:t>Contratos deterministas frente a realidades complejas.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400"/>
              </a:spcAft>
              <a:defRPr sz="1500" b="1">
                <a:solidFill>
                  <a:srgbClr val="FF5900"/>
                </a:solidFill>
              </a:defRPr>
            </a:pPr>
            <a:r>
              <a:t>2. Kalshi vs. Polymarket</a:t>
            </a:r>
          </a:p>
          <a:p>
            <a:pPr>
              <a:spcAft>
                <a:spcPts val="800"/>
              </a:spcAft>
            </a:pPr>
            <a:r>
              <a:rPr b="1" sz="1100">
                <a:solidFill>
                  <a:srgbClr val="FF5900"/>
                </a:solidFill>
                <a:latin typeface="Segoe UI"/>
              </a:rPr>
              <a:t>• Arquitectura de Kalshi: </a:t>
            </a:r>
            <a:r>
              <a:rPr b="0" sz="1100">
                <a:solidFill>
                  <a:srgbClr val="F5EDE4"/>
                </a:solidFill>
                <a:latin typeface="Segoe UI"/>
              </a:rPr>
              <a:t>Mercado de Contratos Designado (DCM) y rieles USD.</a:t>
            </a:r>
          </a:p>
          <a:p>
            <a:pPr>
              <a:spcAft>
                <a:spcPts val="800"/>
              </a:spcAft>
            </a:pPr>
            <a:r>
              <a:rPr b="1" sz="1100">
                <a:solidFill>
                  <a:srgbClr val="FF5900"/>
                </a:solidFill>
                <a:latin typeface="Segoe UI"/>
              </a:rPr>
              <a:t>• Litigio Kalshi v. CFTC: </a:t>
            </a:r>
            <a:r>
              <a:rPr b="0" sz="1100">
                <a:solidFill>
                  <a:srgbClr val="F5EDE4"/>
                </a:solidFill>
                <a:latin typeface="Segoe UI"/>
              </a:rPr>
              <a:t>El hito legal que autorizó contratos políticos en EE.UU.</a:t>
            </a:r>
          </a:p>
          <a:p>
            <a:pPr>
              <a:spcAft>
                <a:spcPts val="800"/>
              </a:spcAft>
            </a:pPr>
            <a:r>
              <a:rPr b="1" sz="1100">
                <a:solidFill>
                  <a:srgbClr val="FF5900"/>
                </a:solidFill>
                <a:latin typeface="Segoe UI"/>
              </a:rPr>
              <a:t>• Arquitectura de Polymarket: </a:t>
            </a:r>
            <a:r>
              <a:rPr b="0" sz="1100">
                <a:solidFill>
                  <a:srgbClr val="F5EDE4"/>
                </a:solidFill>
                <a:latin typeface="Segoe UI"/>
              </a:rPr>
              <a:t>Polygon L2, stablecoin USDC y custodia no custodial.</a:t>
            </a:r>
          </a:p>
          <a:p>
            <a:pPr>
              <a:spcAft>
                <a:spcPts val="800"/>
              </a:spcAft>
            </a:pPr>
            <a:r>
              <a:rPr b="1" sz="1100">
                <a:solidFill>
                  <a:srgbClr val="FF5900"/>
                </a:solidFill>
                <a:latin typeface="Segoe UI"/>
              </a:rPr>
              <a:t>• Geopolítica y Geobloqueo: </a:t>
            </a:r>
            <a:r>
              <a:rPr b="0" sz="1100">
                <a:solidFill>
                  <a:srgbClr val="F5EDE4"/>
                </a:solidFill>
                <a:latin typeface="Segoe UI"/>
              </a:rPr>
              <a:t>Liquidez offshore y sanciones regulatorias de la CFTC.</a:t>
            </a:r>
          </a:p>
          <a:p>
            <a:pPr>
              <a:spcAft>
                <a:spcPts val="800"/>
              </a:spcAft>
            </a:pPr>
            <a:r>
              <a:rPr b="1" sz="1100">
                <a:solidFill>
                  <a:srgbClr val="FF5900"/>
                </a:solidFill>
                <a:latin typeface="Segoe UI"/>
              </a:rPr>
              <a:t>• Superciclo Electoral 2024: </a:t>
            </a:r>
            <a:r>
              <a:rPr b="0" sz="1100">
                <a:solidFill>
                  <a:srgbClr val="F5EDE4"/>
                </a:solidFill>
                <a:latin typeface="Segoe UI"/>
              </a:rPr>
              <a:t>Explosión parabólica de volumen superando $4.9B+.</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400"/>
              </a:spcAft>
              <a:defRPr sz="1500" b="1">
                <a:solidFill>
                  <a:srgbClr val="3D2314"/>
                </a:solidFill>
              </a:defRPr>
            </a:pPr>
            <a:r>
              <a:t>3. Precisión y Frontera</a:t>
            </a:r>
          </a:p>
          <a:p>
            <a:pPr>
              <a:spcAft>
                <a:spcPts val="800"/>
              </a:spcAft>
            </a:pPr>
            <a:r>
              <a:rPr b="1" sz="1100">
                <a:solidFill>
                  <a:srgbClr val="3D2314"/>
                </a:solidFill>
                <a:latin typeface="Segoe UI"/>
              </a:rPr>
              <a:t>• Oráculos Centralizados vs UMA: </a:t>
            </a:r>
            <a:r>
              <a:rPr b="0" sz="1100">
                <a:solidFill>
                  <a:srgbClr val="21140E"/>
                </a:solidFill>
                <a:latin typeface="Segoe UI"/>
              </a:rPr>
              <a:t>Fuentes oficiales vs votación optimista de teoría de juegos.</a:t>
            </a:r>
          </a:p>
          <a:p>
            <a:pPr>
              <a:spcAft>
                <a:spcPts val="800"/>
              </a:spcAft>
            </a:pPr>
            <a:r>
              <a:rPr b="1" sz="1100">
                <a:solidFill>
                  <a:srgbClr val="3D2314"/>
                </a:solidFill>
                <a:latin typeface="Segoe UI"/>
              </a:rPr>
              <a:t>• Calibración Empírica: </a:t>
            </a:r>
            <a:r>
              <a:rPr b="0" sz="1100">
                <a:solidFill>
                  <a:srgbClr val="21140E"/>
                </a:solidFill>
                <a:latin typeface="Segoe UI"/>
              </a:rPr>
              <a:t>Mercados de predicción vs encuestas de opinión y expertos.</a:t>
            </a:r>
          </a:p>
          <a:p>
            <a:pPr>
              <a:spcAft>
                <a:spcPts val="800"/>
              </a:spcAft>
            </a:pPr>
            <a:r>
              <a:rPr b="1" sz="1100">
                <a:solidFill>
                  <a:srgbClr val="3D2314"/>
                </a:solidFill>
                <a:latin typeface="Segoe UI"/>
              </a:rPr>
              <a:t>• Resiliencia a Manipulación: </a:t>
            </a:r>
            <a:r>
              <a:rPr b="0" sz="1100">
                <a:solidFill>
                  <a:srgbClr val="21140E"/>
                </a:solidFill>
                <a:latin typeface="Segoe UI"/>
              </a:rPr>
              <a:t>El teorema de 'manipulación como subsidio' de Hanson.</a:t>
            </a:r>
          </a:p>
          <a:p>
            <a:pPr>
              <a:spcAft>
                <a:spcPts val="800"/>
              </a:spcAft>
            </a:pPr>
            <a:r>
              <a:rPr b="1" sz="1100">
                <a:solidFill>
                  <a:srgbClr val="3D2314"/>
                </a:solidFill>
                <a:latin typeface="Segoe UI"/>
              </a:rPr>
              <a:t>• Cobertura Macroeconómica: </a:t>
            </a:r>
            <a:r>
              <a:rPr b="0" sz="1100">
                <a:solidFill>
                  <a:srgbClr val="21140E"/>
                </a:solidFill>
                <a:latin typeface="Segoe UI"/>
              </a:rPr>
              <a:t>Hedging de tasas Fed, inflación (CPI) y riesgos geopolíticos.</a:t>
            </a:r>
          </a:p>
          <a:p>
            <a:pPr>
              <a:spcAft>
                <a:spcPts val="800"/>
              </a:spcAft>
            </a:pPr>
            <a:r>
              <a:rPr b="1" sz="1100">
                <a:solidFill>
                  <a:srgbClr val="3D2314"/>
                </a:solidFill>
                <a:latin typeface="Segoe UI"/>
              </a:rPr>
              <a:t>• El Futuro (Futarquía e IA): </a:t>
            </a:r>
            <a:r>
              <a:rPr b="0" sz="1100">
                <a:solidFill>
                  <a:srgbClr val="21140E"/>
                </a:solidFill>
                <a:latin typeface="Segoe UI"/>
              </a:rPr>
              <a:t>Agentes de IA autónomos y gobernanza vía predicción.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ECONOMÍA DE LA INFORMACIÓN</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Fundamentos Teóricos: Hayek, Agregación de Conocimiento y Multitudes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03/22</a:t>
            </a:r>
          </a:p>
        </p:txBody>
      </p:sp>
      <p:sp>
        <p:nvSpPr>
          <p:cNvPr id="9" name="Rounded Rectangle 8"/>
          <p:cNvSpPr/>
          <p:nvPr/>
        </p:nvSpPr>
        <p:spPr>
          <a:xfrm>
            <a:off x="731520" y="1554480"/>
            <a:ext cx="539496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737360"/>
            <a:ext cx="4937760" cy="4114800"/>
          </a:xfrm>
          <a:prstGeom prst="rect">
            <a:avLst/>
          </a:prstGeom>
          <a:noFill/>
        </p:spPr>
        <p:txBody>
          <a:bodyPr wrap="square">
            <a:spAutoFit/>
          </a:bodyPr>
          <a:lstStyle/>
          <a:p>
            <a:pPr>
              <a:spcAft>
                <a:spcPts val="1200"/>
              </a:spcAft>
              <a:defRPr sz="1600" b="1">
                <a:solidFill>
                  <a:srgbClr val="DA4100"/>
                </a:solidFill>
              </a:defRPr>
            </a:pPr>
            <a:r>
              <a:t>Hayek y el Sistema de Precios como Agregador</a:t>
            </a:r>
          </a:p>
          <a:p>
            <a:pPr>
              <a:spcAft>
                <a:spcPts val="1000"/>
              </a:spcAft>
            </a:pPr>
            <a:r>
              <a:rPr b="1" sz="1150">
                <a:solidFill>
                  <a:srgbClr val="DA4100"/>
                </a:solidFill>
                <a:latin typeface="Segoe UI"/>
              </a:rPr>
              <a:t>• Friedrich Hayek (1945): </a:t>
            </a:r>
            <a:r>
              <a:rPr b="0" sz="1150">
                <a:solidFill>
                  <a:srgbClr val="21140E"/>
                </a:solidFill>
                <a:latin typeface="Segoe UI"/>
              </a:rPr>
              <a:t>'The Use of Knowledge in Society'. Los planificadores centrales no pueden acceder al conocimiento disperso, tácito y local. El sistema de precios opera como una red de telecomunicaciones que sintetiza señales descentralizadas.</a:t>
            </a:r>
          </a:p>
          <a:p>
            <a:pPr>
              <a:spcAft>
                <a:spcPts val="1000"/>
              </a:spcAft>
            </a:pPr>
            <a:r>
              <a:rPr b="1" sz="1150">
                <a:solidFill>
                  <a:srgbClr val="DA4100"/>
                </a:solidFill>
                <a:latin typeface="Segoe UI"/>
              </a:rPr>
              <a:t>• Surowiecki y la 'Sabiduría de las Multitudes': </a:t>
            </a:r>
            <a:r>
              <a:rPr b="0" sz="1150">
                <a:solidFill>
                  <a:srgbClr val="21140E"/>
                </a:solidFill>
                <a:latin typeface="Segoe UI"/>
              </a:rPr>
              <a:t>La agregación de juicios probabilísticos diversos, independientes y con incentivos económicos supera sistemáticamente a expertos individuales, encuestadores y comités burocráticos.</a:t>
            </a:r>
          </a:p>
          <a:p>
            <a:pPr>
              <a:spcAft>
                <a:spcPts val="1000"/>
              </a:spcAft>
            </a:pPr>
            <a:r>
              <a:rPr b="1" sz="1150">
                <a:solidFill>
                  <a:srgbClr val="DA4100"/>
                </a:solidFill>
                <a:latin typeface="Segoe UI"/>
              </a:rPr>
              <a:t>• 'Skin in the Game' (Taleb): </a:t>
            </a:r>
            <a:r>
              <a:rPr b="0" sz="1150">
                <a:solidFill>
                  <a:srgbClr val="21140E"/>
                </a:solidFill>
                <a:latin typeface="Segoe UI"/>
              </a:rPr>
              <a:t>A diferencia de las encuestas públicas no vinculantes o comentarios televisivos, los participantes del mercado asumen consecuencias financieras directas por sus sesgos cognitivos.</a:t>
            </a:r>
          </a:p>
          <a:p>
            <a:pPr>
              <a:spcAft>
                <a:spcPts val="1000"/>
              </a:spcAft>
            </a:pPr>
            <a:r>
              <a:rPr b="1" sz="1150">
                <a:solidFill>
                  <a:srgbClr val="DA4100"/>
                </a:solidFill>
                <a:latin typeface="Segoe UI"/>
              </a:rPr>
              <a:t>• Actualización Bayesiana en Tiempo Real: </a:t>
            </a:r>
            <a:r>
              <a:rPr b="0" sz="1150">
                <a:solidFill>
                  <a:srgbClr val="21140E"/>
                </a:solidFill>
                <a:latin typeface="Segoe UI"/>
              </a:rPr>
              <a:t>Las cotizaciones incorporan noticias de último minuto, filtraciones e indicadores macroeconómicos de forma instantánea vía capital de trading marginal.</a:t>
            </a:r>
          </a:p>
        </p:txBody>
      </p:sp>
      <p:sp>
        <p:nvSpPr>
          <p:cNvPr id="11" name="Rounded Rectangle 10"/>
          <p:cNvSpPr/>
          <p:nvPr/>
        </p:nvSpPr>
        <p:spPr>
          <a:xfrm>
            <a:off x="6400800" y="1554480"/>
            <a:ext cx="502920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737360"/>
            <a:ext cx="4572000" cy="4114800"/>
          </a:xfrm>
          <a:prstGeom prst="rect">
            <a:avLst/>
          </a:prstGeom>
          <a:noFill/>
        </p:spPr>
        <p:txBody>
          <a:bodyPr wrap="square">
            <a:spAutoFit/>
          </a:bodyPr>
          <a:lstStyle/>
          <a:p>
            <a:pPr>
              <a:spcAft>
                <a:spcPts val="1200"/>
              </a:spcAft>
              <a:defRPr sz="1600" b="1">
                <a:solidFill>
                  <a:srgbClr val="FF5900"/>
                </a:solidFill>
              </a:defRPr>
            </a:pPr>
            <a:r>
              <a:t>De los 'Futuros de Ideas' a los Mercados de Decisión</a:t>
            </a:r>
          </a:p>
          <a:p>
            <a:pPr>
              <a:spcAft>
                <a:spcPts val="900"/>
              </a:spcAft>
            </a:pPr>
            <a:r>
              <a:rPr b="1" sz="1100">
                <a:solidFill>
                  <a:srgbClr val="FF5900"/>
                </a:solidFill>
                <a:latin typeface="Segoe UI"/>
              </a:rPr>
              <a:t>1. Robin Hanson (Años 90): </a:t>
            </a:r>
            <a:r>
              <a:rPr b="0" sz="1100">
                <a:solidFill>
                  <a:srgbClr val="F5EDE4"/>
                </a:solidFill>
                <a:latin typeface="Segoe UI"/>
              </a:rPr>
              <a:t>Formalizó los 'Futuros de Ideas' y mercados de decisión: derivados financieros sobre proposiciones empíricas para dirimir debates científicos e intelectuales.</a:t>
            </a:r>
          </a:p>
          <a:p>
            <a:pPr>
              <a:spcAft>
                <a:spcPts val="900"/>
              </a:spcAft>
            </a:pPr>
            <a:r>
              <a:rPr b="1" sz="1100">
                <a:solidFill>
                  <a:srgbClr val="FF5900"/>
                </a:solidFill>
                <a:latin typeface="Segoe UI"/>
              </a:rPr>
              <a:t>2. Iowa Electronic Markets (IEM): </a:t>
            </a:r>
            <a:r>
              <a:rPr b="0" sz="1100">
                <a:solidFill>
                  <a:srgbClr val="F5EDE4"/>
                </a:solidFill>
                <a:latin typeface="Segoe UI"/>
              </a:rPr>
              <a:t>Pioneros en 1988 en la Universidad de Iowa bajo autorización académica de la CFTC, demostrando mayor precisión que las encuestas electorales de EE.UU.</a:t>
            </a:r>
          </a:p>
          <a:p>
            <a:pPr>
              <a:spcAft>
                <a:spcPts val="900"/>
              </a:spcAft>
            </a:pPr>
            <a:r>
              <a:rPr b="1" sz="1100">
                <a:solidFill>
                  <a:srgbClr val="FF5900"/>
                </a:solidFill>
                <a:latin typeface="Segoe UI"/>
              </a:rPr>
              <a:t>3. Finanzas de la Información: </a:t>
            </a:r>
            <a:r>
              <a:rPr b="0" sz="1100">
                <a:solidFill>
                  <a:srgbClr val="F5EDE4"/>
                </a:solidFill>
                <a:latin typeface="Segoe UI"/>
              </a:rPr>
              <a:t>Transformación de eventos (tasas de interés, clima, guerras, aprobaciones regulatorias) en activos financieros negociables con precios claros de liquidación.</a:t>
            </a:r>
          </a:p>
          <a:p>
            <a:pPr>
              <a:spcAft>
                <a:spcPts val="900"/>
              </a:spcAft>
            </a:pPr>
            <a:r>
              <a:rPr b="1" sz="1100">
                <a:solidFill>
                  <a:srgbClr val="FF5900"/>
                </a:solidFill>
                <a:latin typeface="Segoe UI"/>
              </a:rPr>
              <a:t>4. Gobernanza por Futarquía: </a:t>
            </a:r>
            <a:r>
              <a:rPr b="0" sz="1100">
                <a:solidFill>
                  <a:srgbClr val="F5EDE4"/>
                </a:solidFill>
                <a:latin typeface="Segoe UI"/>
              </a:rPr>
              <a:t>'Vota valores, apuesta creencias'. Empleo de mercados de predicción para dirigir decisiones corporativas y de política pública nacional.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INGENIERÍA FINANCIERA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Contratos Binarios: Valoración, Probabilidad y Mecánica de Pago</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04/22</a:t>
            </a:r>
          </a:p>
        </p:txBody>
      </p:sp>
      <p:sp>
        <p:nvSpPr>
          <p:cNvPr id="9" name="Rounded Rectangle 8"/>
          <p:cNvSpPr/>
          <p:nvPr/>
        </p:nvSpPr>
        <p:spPr>
          <a:xfrm>
            <a:off x="731520" y="1554480"/>
            <a:ext cx="475488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389120" cy="4114800"/>
          </a:xfrm>
          <a:prstGeom prst="rect">
            <a:avLst/>
          </a:prstGeom>
          <a:noFill/>
        </p:spPr>
        <p:txBody>
          <a:bodyPr wrap="square">
            <a:spAutoFit/>
          </a:bodyPr>
          <a:lstStyle/>
          <a:p>
            <a:pPr>
              <a:spcAft>
                <a:spcPts val="1000"/>
              </a:spcAft>
              <a:defRPr sz="1500" b="1">
                <a:solidFill>
                  <a:srgbClr val="DA4100"/>
                </a:solidFill>
              </a:defRPr>
            </a:pPr>
            <a:r>
              <a:t>Matemática de la Liquidación Binaria</a:t>
            </a:r>
          </a:p>
          <a:p>
            <a:pPr>
              <a:spcAft>
                <a:spcPts val="800"/>
              </a:spcAft>
            </a:pPr>
            <a:r>
              <a:rPr b="1" sz="1100">
                <a:solidFill>
                  <a:srgbClr val="DA4100"/>
                </a:solidFill>
                <a:latin typeface="Segoe UI"/>
              </a:rPr>
              <a:t>• Estructura Binaria Discreta: </a:t>
            </a:r>
            <a:r>
              <a:rPr b="0" sz="1100">
                <a:solidFill>
                  <a:srgbClr val="21140E"/>
                </a:solidFill>
                <a:latin typeface="Segoe UI"/>
              </a:rPr>
              <a:t>Los contratos de eventos pagan exactamente $1.00 USD si una condición estrictamente definida se cumple antes del vencimiento, y $0.00 USD si no ocurre.</a:t>
            </a:r>
          </a:p>
          <a:p>
            <a:pPr>
              <a:spcAft>
                <a:spcPts val="800"/>
              </a:spcAft>
            </a:pPr>
            <a:r>
              <a:rPr b="1" sz="1100">
                <a:solidFill>
                  <a:srgbClr val="DA4100"/>
                </a:solidFill>
                <a:latin typeface="Segoe UI"/>
              </a:rPr>
              <a:t>• El Precio como Probabilidad Implícita: </a:t>
            </a:r>
            <a:r>
              <a:rPr b="0" sz="1100">
                <a:solidFill>
                  <a:srgbClr val="21140E"/>
                </a:solidFill>
                <a:latin typeface="Segoe UI"/>
              </a:rPr>
              <a:t>Bajo valoración neutral al riesgo, un contrato que cotiza a $0.65 implica una probabilidad estimada de mercado del 65%:
Precio = P(Resultado = 1) × $1.00</a:t>
            </a:r>
          </a:p>
          <a:p>
            <a:pPr>
              <a:spcAft>
                <a:spcPts val="800"/>
              </a:spcAft>
            </a:pPr>
            <a:r>
              <a:rPr b="1" sz="1100">
                <a:solidFill>
                  <a:srgbClr val="DA4100"/>
                </a:solidFill>
                <a:latin typeface="Segoe UI"/>
              </a:rPr>
              <a:t>• Perfil Asimétrico de ROI: </a:t>
            </a:r>
            <a:r>
              <a:rPr b="0" sz="1100">
                <a:solidFill>
                  <a:srgbClr val="21140E"/>
                </a:solidFill>
                <a:latin typeface="Segoe UI"/>
              </a:rPr>
              <a:t>Comprar SÍ a $0.65 produce una ganancia de $0.35 (+53.8% de retorno) si ocurre, con pérdida máxima de -$0.65 (-100%). Comprar NO a $0.35 rinde +185.7% si el evento falla.</a:t>
            </a:r>
          </a:p>
          <a:p>
            <a:pPr>
              <a:spcAft>
                <a:spcPts val="800"/>
              </a:spcAft>
            </a:pPr>
            <a:r>
              <a:rPr b="1" sz="1100">
                <a:solidFill>
                  <a:srgbClr val="DA4100"/>
                </a:solidFill>
                <a:latin typeface="Segoe UI"/>
              </a:rPr>
              <a:t>• Ecuación de Retorno Esperado: </a:t>
            </a:r>
            <a:r>
              <a:rPr b="0" sz="1100">
                <a:solidFill>
                  <a:srgbClr val="21140E"/>
                </a:solidFill>
                <a:latin typeface="Segoe UI"/>
              </a:rPr>
              <a:t>Un inversor con probabilidad subjetiva p_{real} opera cuando:
E[R] = (p_{real} - p_{mercado}) / p_{mercado} &gt; 0</a:t>
            </a:r>
          </a:p>
          <a:p>
            <a:pPr>
              <a:spcAft>
                <a:spcPts val="800"/>
              </a:spcAft>
            </a:pPr>
            <a:r>
              <a:rPr b="1" sz="1100">
                <a:solidFill>
                  <a:srgbClr val="DA4100"/>
                </a:solidFill>
                <a:latin typeface="Segoe UI"/>
              </a:rPr>
              <a:t>• Valores de Arrow-Debreu: </a:t>
            </a:r>
            <a:r>
              <a:rPr b="0" sz="1100">
                <a:solidFill>
                  <a:srgbClr val="21140E"/>
                </a:solidFill>
                <a:latin typeface="Segoe UI"/>
              </a:rPr>
              <a:t>Los contratos de eventos representan la implementación empírica más pura de activos contingentes en la economía financiera.</a:t>
            </a:r>
          </a:p>
        </p:txBody>
      </p:sp>
      <p:sp>
        <p:nvSpPr>
          <p:cNvPr id="11" name="Rounded Rectangle 10"/>
          <p:cNvSpPr/>
          <p:nvPr/>
        </p:nvSpPr>
        <p:spPr>
          <a:xfrm>
            <a:off x="57607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hart_binary_payoff_es.png"/>
          <p:cNvPicPr>
            <a:picLocks noChangeAspect="1"/>
          </p:cNvPicPr>
          <p:nvPr/>
        </p:nvPicPr>
        <p:blipFill>
          <a:blip r:embed="rId3"/>
          <a:stretch>
            <a:fillRect/>
          </a:stretch>
        </p:blipFill>
        <p:spPr>
          <a:xfrm>
            <a:off x="5852160" y="1691640"/>
            <a:ext cx="5486400" cy="2493818"/>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MICROESTRUCTURA DEL MERCADO</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Libros de Órdenes Binarios: La Arquitectura Complementaria Sí/No</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05/22</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pm_microstructure_es.png"/>
          <p:cNvPicPr>
            <a:picLocks noChangeAspect="1"/>
          </p:cNvPicPr>
          <p:nvPr/>
        </p:nvPicPr>
        <p:blipFill>
          <a:blip r:embed="rId3"/>
          <a:stretch>
            <a:fillRect/>
          </a:stretch>
        </p:blipFill>
        <p:spPr>
          <a:xfrm>
            <a:off x="822960" y="1691640"/>
            <a:ext cx="5486400" cy="2743200"/>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La Regla del Arbitraje Complementario</a:t>
            </a:r>
          </a:p>
          <a:p>
            <a:pPr>
              <a:spcAft>
                <a:spcPts val="800"/>
              </a:spcAft>
            </a:pPr>
            <a:r>
              <a:rPr b="1" sz="1100">
                <a:solidFill>
                  <a:srgbClr val="FF5900"/>
                </a:solidFill>
                <a:latin typeface="Segoe UI"/>
              </a:rPr>
              <a:t>• Restricción de Precios Invariante: </a:t>
            </a:r>
            <a:r>
              <a:rPr b="0" sz="1100">
                <a:solidFill>
                  <a:srgbClr val="F5EDE4"/>
                </a:solidFill>
                <a:latin typeface="Segoe UI"/>
              </a:rPr>
              <a:t>Dado que exactamente un resultado ocurrirá, los precios de las acciones complementarias deben sumar $1.00 USD:
Precio(SÍ) + Precio(NO) = $1.00</a:t>
            </a:r>
          </a:p>
          <a:p>
            <a:pPr>
              <a:spcAft>
                <a:spcPts val="800"/>
              </a:spcAft>
            </a:pPr>
            <a:r>
              <a:rPr b="1" sz="1100">
                <a:solidFill>
                  <a:srgbClr val="FF5900"/>
                </a:solidFill>
                <a:latin typeface="Segoe UI"/>
              </a:rPr>
              <a:t>• Equivalencias Sintéticas: </a:t>
            </a:r>
            <a:r>
              <a:rPr b="0" sz="1100">
                <a:solidFill>
                  <a:srgbClr val="F5EDE4"/>
                </a:solidFill>
                <a:latin typeface="Segoe UI"/>
              </a:rPr>
              <a:t>Comprar un contrato SÍ a $0.65 es matemáticamente idéntico a vender en corto (o emitir) un contrato NO a $0.35:
Bid_{Sí} = 1.00 - Ask_{No}
Ask_{Sí} = 1.00 - Bid_{No}</a:t>
            </a:r>
          </a:p>
          <a:p>
            <a:pPr>
              <a:spcAft>
                <a:spcPts val="800"/>
              </a:spcAft>
            </a:pPr>
            <a:r>
              <a:rPr b="1" sz="1100">
                <a:solidFill>
                  <a:srgbClr val="FF5900"/>
                </a:solidFill>
                <a:latin typeface="Segoe UI"/>
              </a:rPr>
              <a:t>• Mecanismo de Acuñación y Quema: </a:t>
            </a:r>
            <a:r>
              <a:rPr b="0" sz="1100">
                <a:solidFill>
                  <a:srgbClr val="F5EDE4"/>
                </a:solidFill>
                <a:latin typeface="Segoe UI"/>
              </a:rPr>
              <a:t>Los operadores pueden depositar $1.00 de colateral (USD en Kalshi, USDC en Polymarket) para 'acuñar' 1 acción SÍ + 1 acción NO. Inversamente, tener 1 SÍ + 1 NO puede 'quemarse' en cualquier momento para canjear $1.00 libre de riesgo.</a:t>
            </a:r>
          </a:p>
          <a:p>
            <a:pPr>
              <a:spcAft>
                <a:spcPts val="800"/>
              </a:spcAft>
            </a:pPr>
            <a:r>
              <a:rPr b="1" sz="1100">
                <a:solidFill>
                  <a:srgbClr val="FF5900"/>
                </a:solidFill>
                <a:latin typeface="Segoe UI"/>
              </a:rPr>
              <a:t>• Arbitraje Instantáneo: </a:t>
            </a:r>
            <a:r>
              <a:rPr b="0" sz="1100">
                <a:solidFill>
                  <a:srgbClr val="F5EDE4"/>
                </a:solidFill>
                <a:latin typeface="Segoe UI"/>
              </a:rPr>
              <a:t>Cualquier divergencia donde Precio(SÍ) + Precio(NO) &lt; $1.00 activa arbitraje algorítmico inmediato libre de riesgo.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MERCADOS CENTRALIZADOS REGULADOS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Kalshi: Mercado de Contratos Designado (DCM) y Compensación USD</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06/22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Supervisión Institucional</a:t>
            </a:r>
          </a:p>
          <a:p>
            <a:pPr>
              <a:spcAft>
                <a:spcPts val="700"/>
              </a:spcAft>
            </a:pPr>
            <a:r>
              <a:rPr b="1" sz="1050">
                <a:solidFill>
                  <a:srgbClr val="DA4100"/>
                </a:solidFill>
                <a:latin typeface="Segoe UI"/>
              </a:rPr>
              <a:t>• Licencia CFTC (DCM): </a:t>
            </a:r>
            <a:r>
              <a:rPr b="0" sz="1050">
                <a:solidFill>
                  <a:srgbClr val="21140E"/>
                </a:solidFill>
                <a:latin typeface="Segoe UI"/>
              </a:rPr>
              <a:t>Obtuvo estatus de Designated Contract Market en noviembre de 2020 ante la Commodity Futures Trading Commission.</a:t>
            </a:r>
          </a:p>
          <a:p>
            <a:pPr>
              <a:spcAft>
                <a:spcPts val="700"/>
              </a:spcAft>
            </a:pPr>
            <a:r>
              <a:rPr b="1" sz="1050">
                <a:solidFill>
                  <a:srgbClr val="DA4100"/>
                </a:solidFill>
                <a:latin typeface="Segoe UI"/>
              </a:rPr>
              <a:t>• Cámara de Compensación (DCO): </a:t>
            </a:r>
            <a:r>
              <a:rPr b="0" sz="1050">
                <a:solidFill>
                  <a:srgbClr val="21140E"/>
                </a:solidFill>
                <a:latin typeface="Segoe UI"/>
              </a:rPr>
              <a:t>Las operaciones se liquidan vía DCOs reguladas (LedgerX/Kalshi Clearing) con segregación estricta de fondos de clientes.</a:t>
            </a:r>
          </a:p>
          <a:p>
            <a:pPr>
              <a:spcAft>
                <a:spcPts val="700"/>
              </a:spcAft>
            </a:pPr>
            <a:r>
              <a:rPr b="1" sz="1050">
                <a:solidFill>
                  <a:srgbClr val="DA4100"/>
                </a:solidFill>
                <a:latin typeface="Segoe UI"/>
              </a:rPr>
              <a:t>• Pleno Cumplimiento Legal: </a:t>
            </a:r>
            <a:r>
              <a:rPr b="0" sz="1050">
                <a:solidFill>
                  <a:srgbClr val="21140E"/>
                </a:solidFill>
                <a:latin typeface="Segoe UI"/>
              </a:rPr>
              <a:t>Sujeto a la Commodity Exchange Act (CEA), Bank Secrecy Act (BSA) y controles federales de AML/KYC.</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Rieles Fiat y Microestructura</a:t>
            </a:r>
          </a:p>
          <a:p>
            <a:pPr>
              <a:spcAft>
                <a:spcPts val="700"/>
              </a:spcAft>
            </a:pPr>
            <a:r>
              <a:rPr b="1" sz="1050">
                <a:solidFill>
                  <a:srgbClr val="FF5900"/>
                </a:solidFill>
                <a:latin typeface="Segoe UI"/>
              </a:rPr>
              <a:t>• Liquidación Directa en USD: </a:t>
            </a:r>
            <a:r>
              <a:rPr b="0" sz="1050">
                <a:solidFill>
                  <a:srgbClr val="F5EDE4"/>
                </a:solidFill>
                <a:latin typeface="Segoe UI"/>
              </a:rPr>
              <a:t>Fondeo vía transferencias ACH, cable bancario doméstico y tarjetas de débito en cuentas aseguradas por FDIC.</a:t>
            </a:r>
          </a:p>
          <a:p>
            <a:pPr>
              <a:spcAft>
                <a:spcPts val="700"/>
              </a:spcAft>
            </a:pPr>
            <a:r>
              <a:rPr b="1" sz="1050">
                <a:solidFill>
                  <a:srgbClr val="FF5900"/>
                </a:solidFill>
                <a:latin typeface="Segoe UI"/>
              </a:rPr>
              <a:t>• Libro Límite Central (CLOB): </a:t>
            </a:r>
            <a:r>
              <a:rPr b="0" sz="1050">
                <a:solidFill>
                  <a:srgbClr val="F5EDE4"/>
                </a:solidFill>
                <a:latin typeface="Segoe UI"/>
              </a:rPr>
              <a:t>Motor de calce en memoria de alta frecuencia ubicado en centros de datos de EE.UU.; sin tarifas de gas blockchain.</a:t>
            </a:r>
          </a:p>
          <a:p>
            <a:pPr>
              <a:spcAft>
                <a:spcPts val="700"/>
              </a:spcAft>
            </a:pPr>
            <a:r>
              <a:rPr b="1" sz="1050">
                <a:solidFill>
                  <a:srgbClr val="FF5900"/>
                </a:solidFill>
                <a:latin typeface="Segoe UI"/>
              </a:rPr>
              <a:t>• Esquema de Comisiones: </a:t>
            </a:r>
            <a:r>
              <a:rPr b="0" sz="1050">
                <a:solidFill>
                  <a:srgbClr val="F5EDE4"/>
                </a:solidFill>
                <a:latin typeface="Segoe UI"/>
              </a:rPr>
              <a:t>Comisiones módicas por contrato para takers ($0.01 - $0.02) y reembolsos (rebates) para proveedores de liquidez registrados.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Mercados y Cobertura</a:t>
            </a:r>
          </a:p>
          <a:p>
            <a:pPr>
              <a:spcAft>
                <a:spcPts val="700"/>
              </a:spcAft>
            </a:pPr>
            <a:r>
              <a:rPr b="1" sz="1050">
                <a:solidFill>
                  <a:srgbClr val="3D2314"/>
                </a:solidFill>
                <a:latin typeface="Segoe UI"/>
              </a:rPr>
              <a:t>• Contratos Macroeconómicos: </a:t>
            </a:r>
            <a:r>
              <a:rPr b="0" sz="1050">
                <a:solidFill>
                  <a:srgbClr val="21140E"/>
                </a:solidFill>
                <a:latin typeface="Segoe UI"/>
              </a:rPr>
              <a:t>Lecturas de inflación CPI, decisiones de tasas del FOMC/Fed, reportes de PIB y nóminas no agrícolas (NFP).</a:t>
            </a:r>
          </a:p>
          <a:p>
            <a:pPr>
              <a:spcAft>
                <a:spcPts val="700"/>
              </a:spcAft>
            </a:pPr>
            <a:r>
              <a:rPr b="1" sz="1050">
                <a:solidFill>
                  <a:srgbClr val="3D2314"/>
                </a:solidFill>
                <a:latin typeface="Segoe UI"/>
              </a:rPr>
              <a:t>• Límites de Posición: </a:t>
            </a:r>
            <a:r>
              <a:rPr b="0" sz="1050">
                <a:solidFill>
                  <a:srgbClr val="21140E"/>
                </a:solidFill>
                <a:latin typeface="Segoe UI"/>
              </a:rPr>
              <a:t>Topes regulatorios por cuenta (desde $25,000 hasta millones para miembros corporativos con fines de cobertura).</a:t>
            </a:r>
          </a:p>
          <a:p>
            <a:pPr>
              <a:spcAft>
                <a:spcPts val="700"/>
              </a:spcAft>
            </a:pPr>
            <a:r>
              <a:rPr b="1" sz="1050">
                <a:solidFill>
                  <a:srgbClr val="3D2314"/>
                </a:solidFill>
                <a:latin typeface="Segoe UI"/>
              </a:rPr>
              <a:t>• Enfoque Institucional y Retail: </a:t>
            </a:r>
            <a:r>
              <a:rPr b="0" sz="1050">
                <a:solidFill>
                  <a:srgbClr val="21140E"/>
                </a:solidFill>
                <a:latin typeface="Segoe UI"/>
              </a:rPr>
              <a:t>Dirigido principalmente a ciudadanos estadounidenses verificados y mesas cuantitativas reguladas.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HITO JUDICIAL Y REGULATORIO</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Kalshi v. CFTC: La Batalla Legal por los Contratos Electorales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07/22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La Confrontación Regulatoria (2022-2024)</a:t>
            </a:r>
          </a:p>
          <a:p>
            <a:pPr>
              <a:spcAft>
                <a:spcPts val="800"/>
              </a:spcAft>
            </a:pPr>
            <a:r>
              <a:rPr b="1" sz="1100">
                <a:solidFill>
                  <a:srgbClr val="DA4100"/>
                </a:solidFill>
                <a:latin typeface="Segoe UI"/>
              </a:rPr>
              <a:t>• Orden de Prohibición de la CFTC (2023): </a:t>
            </a:r>
            <a:r>
              <a:rPr b="0" sz="1100">
                <a:solidFill>
                  <a:srgbClr val="21140E"/>
                </a:solidFill>
                <a:latin typeface="Segoe UI"/>
              </a:rPr>
              <a:t>La CFTC prohibió a Kalshi listar contratos políticos (p. ej. '¿Controlarán los Demócratas el Senado?'), alegando que constituían apuestas ilegales ('gaming') bajo la sección 5c(c)(5)(C) de la CEA y eran contrarios al interés público.</a:t>
            </a:r>
          </a:p>
          <a:p>
            <a:pPr>
              <a:spcAft>
                <a:spcPts val="800"/>
              </a:spcAft>
            </a:pPr>
            <a:r>
              <a:rPr b="1" sz="1100">
                <a:solidFill>
                  <a:srgbClr val="DA4100"/>
                </a:solidFill>
                <a:latin typeface="Segoe UI"/>
              </a:rPr>
              <a:t>• Demanda Judicial de Kalshi (Nov 2023): </a:t>
            </a:r>
            <a:r>
              <a:rPr b="0" sz="1100">
                <a:solidFill>
                  <a:srgbClr val="21140E"/>
                </a:solidFill>
                <a:latin typeface="Segoe UI"/>
              </a:rPr>
              <a:t>Kalshi demandó ante el Tribunal de Distrito de EE.UU. en D.C., argumentando que el control político NO es 'gaming' (término que jurídicamente aplica a juegos de azar o deportes) y que los resultados electorales acarrean profundas consecuencias macroeconómicas.</a:t>
            </a:r>
          </a:p>
          <a:p>
            <a:pPr>
              <a:spcAft>
                <a:spcPts val="800"/>
              </a:spcAft>
            </a:pPr>
            <a:r>
              <a:rPr b="1" sz="1100">
                <a:solidFill>
                  <a:srgbClr val="DA4100"/>
                </a:solidFill>
                <a:latin typeface="Segoe UI"/>
              </a:rPr>
              <a:t>• El Fallo Histórico (Sept 2024): </a:t>
            </a:r>
            <a:r>
              <a:rPr b="0" sz="1100">
                <a:solidFill>
                  <a:srgbClr val="21140E"/>
                </a:solidFill>
                <a:latin typeface="Segoe UI"/>
              </a:rPr>
              <a:t>La jueza Jia M. Cobb falló a favor de Kalshi, anulando la orden de la CFTC: 'Este caso no trata de si el Tribunal cree que comerciar con elecciones es buena idea... La CFTC excedió su autoridad estatutaria.'</a:t>
            </a:r>
          </a:p>
          <a:p>
            <a:pPr>
              <a:spcAft>
                <a:spcPts val="800"/>
              </a:spcAft>
            </a:pPr>
            <a:r>
              <a:rPr b="1" sz="1100">
                <a:solidFill>
                  <a:srgbClr val="DA4100"/>
                </a:solidFill>
                <a:latin typeface="Segoe UI"/>
              </a:rPr>
              <a:t>• Negativa de Suspensión de Emergencia: </a:t>
            </a:r>
            <a:r>
              <a:rPr b="0" sz="1100">
                <a:solidFill>
                  <a:srgbClr val="21140E"/>
                </a:solidFill>
                <a:latin typeface="Segoe UI"/>
              </a:rPr>
              <a:t>El tribunal de apelaciones de D.C. denegó la moción de emergencia de la CFTC, legalizando formalmente los contratos electorales en EE.UU. a semanas de los comicios de 2024.</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Implicaciones Legales y Económicas</a:t>
            </a:r>
          </a:p>
          <a:p>
            <a:pPr>
              <a:spcAft>
                <a:spcPts val="800"/>
              </a:spcAft>
            </a:pPr>
            <a:r>
              <a:rPr b="1" sz="1100">
                <a:solidFill>
                  <a:srgbClr val="FF5900"/>
                </a:solidFill>
                <a:latin typeface="Segoe UI"/>
              </a:rPr>
              <a:t>1. Nueva Clase de Activo Financiero: </a:t>
            </a:r>
            <a:r>
              <a:rPr b="0" sz="1100">
                <a:solidFill>
                  <a:srgbClr val="F5EDE4"/>
                </a:solidFill>
                <a:latin typeface="Segoe UI"/>
              </a:rPr>
              <a:t>Codificó formalmente el riesgo político como un derivado económico legítimo elegible para negociación en exchanges regulados por la CFTC.</a:t>
            </a:r>
          </a:p>
          <a:p>
            <a:pPr>
              <a:spcAft>
                <a:spcPts val="800"/>
              </a:spcAft>
            </a:pPr>
            <a:r>
              <a:rPr b="1" sz="1100">
                <a:solidFill>
                  <a:srgbClr val="FF5900"/>
                </a:solidFill>
                <a:latin typeface="Segoe UI"/>
              </a:rPr>
              <a:t>2. Cobertura Comercial Legítima: </a:t>
            </a:r>
            <a:r>
              <a:rPr b="0" sz="1100">
                <a:solidFill>
                  <a:srgbClr val="F5EDE4"/>
                </a:solidFill>
                <a:latin typeface="Segoe UI"/>
              </a:rPr>
              <a:t>Las corporaciones ahora pueden cubrirse legalmente frente a cambios regulatorios, reformas fiscales y alternancia legislativa.</a:t>
            </a:r>
          </a:p>
          <a:p>
            <a:pPr>
              <a:spcAft>
                <a:spcPts val="800"/>
              </a:spcAft>
            </a:pPr>
            <a:r>
              <a:rPr b="1" sz="1100">
                <a:solidFill>
                  <a:srgbClr val="FF5900"/>
                </a:solidFill>
                <a:latin typeface="Segoe UI"/>
              </a:rPr>
              <a:t>3. Integración en Wall Street: </a:t>
            </a:r>
            <a:r>
              <a:rPr b="0" sz="1100">
                <a:solidFill>
                  <a:srgbClr val="F5EDE4"/>
                </a:solidFill>
                <a:latin typeface="Segoe UI"/>
              </a:rPr>
              <a:t>Plataformas de corretaje masivo (Robinhood, Interactive Brokers) integraron de inmediato los contratos de eventos para inversores retail.</a:t>
            </a:r>
          </a:p>
          <a:p>
            <a:pPr>
              <a:spcAft>
                <a:spcPts val="800"/>
              </a:spcAft>
            </a:pPr>
            <a:r>
              <a:rPr b="1" sz="1100">
                <a:solidFill>
                  <a:srgbClr val="FF5900"/>
                </a:solidFill>
                <a:latin typeface="Segoe UI"/>
              </a:rPr>
              <a:t>4. Debate en el Congreso: </a:t>
            </a:r>
            <a:r>
              <a:rPr b="0" sz="1100">
                <a:solidFill>
                  <a:srgbClr val="F5EDE4"/>
                </a:solidFill>
                <a:latin typeface="Segoe UI"/>
              </a:rPr>
              <a:t>Legisladores prominentes expresaron inquietudes sobre la integridad democrática, promoviendo iniciativas para prohibir apuestas políticas.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MERCADOS DESCENTRALIZADOS WEB3</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Polymarket: Polygon PoS L2, Colateral USDC y Arquitectura Web3</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08/22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Infraestructura Técnica</a:t>
            </a:r>
          </a:p>
          <a:p>
            <a:pPr>
              <a:spcAft>
                <a:spcPts val="700"/>
              </a:spcAft>
            </a:pPr>
            <a:r>
              <a:rPr b="1" sz="1050">
                <a:solidFill>
                  <a:srgbClr val="DA4100"/>
                </a:solidFill>
                <a:latin typeface="Segoe UI"/>
              </a:rPr>
              <a:t>• Construido en Polygon PoS: </a:t>
            </a:r>
            <a:r>
              <a:rPr b="0" sz="1050">
                <a:solidFill>
                  <a:srgbClr val="21140E"/>
                </a:solidFill>
                <a:latin typeface="Segoe UI"/>
              </a:rPr>
              <a:t>Aprovecha una cadena lateral Layer-2 de Ethereum para lograr finalidad en subsegundos y tarifas de gas insignificantes.</a:t>
            </a:r>
          </a:p>
          <a:p>
            <a:pPr>
              <a:spcAft>
                <a:spcPts val="700"/>
              </a:spcAft>
            </a:pPr>
            <a:r>
              <a:rPr b="1" sz="1050">
                <a:solidFill>
                  <a:srgbClr val="DA4100"/>
                </a:solidFill>
                <a:latin typeface="Segoe UI"/>
              </a:rPr>
              <a:t>• Arquitectura No Custodial: </a:t>
            </a:r>
            <a:r>
              <a:rPr b="0" sz="1050">
                <a:solidFill>
                  <a:srgbClr val="21140E"/>
                </a:solidFill>
                <a:latin typeface="Segoe UI"/>
              </a:rPr>
              <a:t>Los usuarios mantienen control soberano total mediante billeteras inteligentes (MetaMask, Safe, Magic Link).</a:t>
            </a:r>
          </a:p>
          <a:p>
            <a:pPr>
              <a:spcAft>
                <a:spcPts val="700"/>
              </a:spcAft>
            </a:pPr>
            <a:r>
              <a:rPr b="1" sz="1050">
                <a:solidFill>
                  <a:srgbClr val="DA4100"/>
                </a:solidFill>
                <a:latin typeface="Segoe UI"/>
              </a:rPr>
              <a:t>• Colateralización en USDC: </a:t>
            </a:r>
            <a:r>
              <a:rPr b="0" sz="1050">
                <a:solidFill>
                  <a:srgbClr val="21140E"/>
                </a:solidFill>
                <a:latin typeface="Segoe UI"/>
              </a:rPr>
              <a:t>Todos los mercados están denominados exclusivamente en USD Coin (USDC) emitido por Circle transferido en Polygon.</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Motor de Calce Híbrido</a:t>
            </a:r>
          </a:p>
          <a:p>
            <a:pPr>
              <a:spcAft>
                <a:spcPts val="700"/>
              </a:spcAft>
            </a:pPr>
            <a:r>
              <a:rPr b="1" sz="1050">
                <a:solidFill>
                  <a:srgbClr val="FF5900"/>
                </a:solidFill>
                <a:latin typeface="Segoe UI"/>
              </a:rPr>
              <a:t>• Calce Off-Chain con Liquidación On-Chain: </a:t>
            </a:r>
            <a:r>
              <a:rPr b="0" sz="1050">
                <a:solidFill>
                  <a:srgbClr val="F5EDE4"/>
                </a:solidFill>
                <a:latin typeface="Segoe UI"/>
              </a:rPr>
              <a:t>Sustituyó los primigenios AMMs por un Libro Límite Central fuera de cadena con liquidación atómica en la blockchain.</a:t>
            </a:r>
          </a:p>
          <a:p>
            <a:pPr>
              <a:spcAft>
                <a:spcPts val="700"/>
              </a:spcAft>
            </a:pPr>
            <a:r>
              <a:rPr b="1" sz="1050">
                <a:solidFill>
                  <a:srgbClr val="FF5900"/>
                </a:solidFill>
                <a:latin typeface="Segoe UI"/>
              </a:rPr>
              <a:t>• 0% Comisiones de Trading: </a:t>
            </a:r>
            <a:r>
              <a:rPr b="0" sz="1050">
                <a:solidFill>
                  <a:srgbClr val="F5EDE4"/>
                </a:solidFill>
                <a:latin typeface="Segoe UI"/>
              </a:rPr>
              <a:t>Negociación gratuita en el libro de órdenes subsidiada por la infraestructura del protocolo y fondos de incentivo a market makers.</a:t>
            </a:r>
          </a:p>
          <a:p>
            <a:pPr>
              <a:spcAft>
                <a:spcPts val="700"/>
              </a:spcAft>
            </a:pPr>
            <a:r>
              <a:rPr b="1" sz="1050">
                <a:solidFill>
                  <a:srgbClr val="FF5900"/>
                </a:solidFill>
                <a:latin typeface="Segoe UI"/>
              </a:rPr>
              <a:t>• Liquidez Cripto Global: </a:t>
            </a:r>
            <a:r>
              <a:rPr b="0" sz="1050">
                <a:solidFill>
                  <a:srgbClr val="F5EDE4"/>
                </a:solidFill>
                <a:latin typeface="Segoe UI"/>
              </a:rPr>
              <a:t>Atracción masiva de fondos de cobertura cripto, capital de riesgo y operadores de finanzas descentralizadas (DeFi).</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Alcance y Viralidad</a:t>
            </a:r>
          </a:p>
          <a:p>
            <a:pPr>
              <a:spcAft>
                <a:spcPts val="700"/>
              </a:spcAft>
            </a:pPr>
            <a:r>
              <a:rPr b="1" sz="1050">
                <a:solidFill>
                  <a:srgbClr val="3D2314"/>
                </a:solidFill>
                <a:latin typeface="Segoe UI"/>
              </a:rPr>
              <a:t>• Rapidez de Listado Sin Permisos: </a:t>
            </a:r>
            <a:r>
              <a:rPr b="0" sz="1050">
                <a:solidFill>
                  <a:srgbClr val="21140E"/>
                </a:solidFill>
                <a:latin typeface="Segoe UI"/>
              </a:rPr>
              <a:t>Apertura ágil de mercados en temas culturales, geopolíticos, cripto, ciencia y elecciones internacionales.</a:t>
            </a:r>
          </a:p>
          <a:p>
            <a:pPr>
              <a:spcAft>
                <a:spcPts val="700"/>
              </a:spcAft>
            </a:pPr>
            <a:r>
              <a:rPr b="1" sz="1050">
                <a:solidFill>
                  <a:srgbClr val="3D2314"/>
                </a:solidFill>
                <a:latin typeface="Segoe UI"/>
              </a:rPr>
              <a:t>• Integración en Redes Sociales: </a:t>
            </a:r>
            <a:r>
              <a:rPr b="0" sz="1050">
                <a:solidFill>
                  <a:srgbClr val="21140E"/>
                </a:solidFill>
                <a:latin typeface="Segoe UI"/>
              </a:rPr>
              <a:t>Probabilidades en tiempo real embebidas nativamente en X (Twitter), Substack y medios de comunicación globales.</a:t>
            </a:r>
          </a:p>
          <a:p>
            <a:pPr>
              <a:spcAft>
                <a:spcPts val="700"/>
              </a:spcAft>
            </a:pPr>
            <a:r>
              <a:rPr b="1" sz="1050">
                <a:solidFill>
                  <a:srgbClr val="3D2314"/>
                </a:solidFill>
                <a:latin typeface="Segoe UI"/>
              </a:rPr>
              <a:t>• Escala Multimillonaria: </a:t>
            </a:r>
            <a:r>
              <a:rPr b="0" sz="1050">
                <a:solidFill>
                  <a:srgbClr val="21140E"/>
                </a:solidFill>
                <a:latin typeface="Segoe UI"/>
              </a:rPr>
              <a:t>Procesó más de $3,800 millones USD en volumen durante 2024, consolidándose como el mayor mercado de predicción global.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CONFLICTO REGULATORIO Y SOBERANÍA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El Dilema de Polymarket: Acuerdo CFTC 2022 y la Paradoja de Geobloqueo</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09/22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La Acción de la CFTC en 2022</a:t>
            </a:r>
          </a:p>
          <a:p>
            <a:pPr>
              <a:spcAft>
                <a:spcPts val="800"/>
              </a:spcAft>
            </a:pPr>
            <a:r>
              <a:rPr b="1" sz="1100">
                <a:solidFill>
                  <a:srgbClr val="DA4100"/>
                </a:solidFill>
                <a:latin typeface="Segoe UI"/>
              </a:rPr>
              <a:t>• Orden de Consentimiento (Enero 2022): </a:t>
            </a:r>
            <a:r>
              <a:rPr b="0" sz="1100">
                <a:solidFill>
                  <a:srgbClr val="21140E"/>
                </a:solidFill>
                <a:latin typeface="Segoe UI"/>
              </a:rPr>
              <a:t>La CFTC acusó a Polymarket (Blockratize Inc.) de operar una plataforma de opciones binarias no registrada sin contar con designación DCM ni SEF bajo la CEA.</a:t>
            </a:r>
          </a:p>
          <a:p>
            <a:pPr>
              <a:spcAft>
                <a:spcPts val="800"/>
              </a:spcAft>
            </a:pPr>
            <a:r>
              <a:rPr b="1" sz="1100">
                <a:solidFill>
                  <a:srgbClr val="DA4100"/>
                </a:solidFill>
                <a:latin typeface="Segoe UI"/>
              </a:rPr>
              <a:t>• Sanción Civil de $1.4 Millones USD: </a:t>
            </a:r>
            <a:r>
              <a:rPr b="0" sz="1100">
                <a:solidFill>
                  <a:srgbClr val="21140E"/>
                </a:solidFill>
                <a:latin typeface="Segoe UI"/>
              </a:rPr>
              <a:t>Polymarket pagó la multa sin admitir ni negar culpabilidad, comprometiéndose a cerrar mercados infractores y bloquear a residentes estadounidenses.</a:t>
            </a:r>
          </a:p>
          <a:p>
            <a:pPr>
              <a:spcAft>
                <a:spcPts val="800"/>
              </a:spcAft>
            </a:pPr>
            <a:r>
              <a:rPr b="1" sz="1100">
                <a:solidFill>
                  <a:srgbClr val="DA4100"/>
                </a:solidFill>
                <a:latin typeface="Segoe UI"/>
              </a:rPr>
              <a:t>• Política de Geofencing: </a:t>
            </a:r>
            <a:r>
              <a:rPr b="0" sz="1100">
                <a:solidFill>
                  <a:srgbClr val="21140E"/>
                </a:solidFill>
                <a:latin typeface="Segoe UI"/>
              </a:rPr>
              <a:t>Implementó bloqueo geográfico por IP y términos de servicio que prohíben el acceso a personas de EE.UU.</a:t>
            </a:r>
          </a:p>
          <a:p>
            <a:pPr>
              <a:spcAft>
                <a:spcPts val="800"/>
              </a:spcAft>
            </a:pPr>
            <a:r>
              <a:rPr b="1" sz="1100">
                <a:solidFill>
                  <a:srgbClr val="DA4100"/>
                </a:solidFill>
                <a:latin typeface="Segoe UI"/>
              </a:rPr>
              <a:t>• La Desconexión Descentralizada: </a:t>
            </a:r>
            <a:r>
              <a:rPr b="0" sz="1100">
                <a:solidFill>
                  <a:srgbClr val="21140E"/>
                </a:solidFill>
                <a:latin typeface="Segoe UI"/>
              </a:rPr>
              <a:t>Aunque la interfaz web bloquea IPs de EE.UU., los contratos inteligentes subyacentes en Polygon son inmutables, públicos y accesibles directamente on-chain.</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La Paradoja de Liquidez Offshore y VPNs</a:t>
            </a:r>
          </a:p>
          <a:p>
            <a:pPr>
              <a:spcAft>
                <a:spcPts val="800"/>
              </a:spcAft>
            </a:pPr>
            <a:r>
              <a:rPr b="1" sz="1100">
                <a:solidFill>
                  <a:srgbClr val="FF5900"/>
                </a:solidFill>
                <a:latin typeface="Segoe UI"/>
              </a:rPr>
              <a:t>1. Adopción Global Ex-EE.UU.: </a:t>
            </a:r>
            <a:r>
              <a:rPr b="0" sz="1100">
                <a:solidFill>
                  <a:srgbClr val="F5EDE4"/>
                </a:solidFill>
                <a:latin typeface="Segoe UI"/>
              </a:rPr>
              <a:t>Fuerte participación orgánica de Europa, Asia y América Latina buscando mercados de eventos de alta liquidez.</a:t>
            </a:r>
          </a:p>
          <a:p>
            <a:pPr>
              <a:spcAft>
                <a:spcPts val="800"/>
              </a:spcAft>
            </a:pPr>
            <a:r>
              <a:rPr b="1" sz="1100">
                <a:solidFill>
                  <a:srgbClr val="FF5900"/>
                </a:solidFill>
                <a:latin typeface="Segoe UI"/>
              </a:rPr>
              <a:t>2. El Secreto a Voces de las VPNs: </a:t>
            </a:r>
            <a:r>
              <a:rPr b="0" sz="1100">
                <a:solidFill>
                  <a:srgbClr val="F5EDE4"/>
                </a:solidFill>
                <a:latin typeface="Segoe UI"/>
              </a:rPr>
              <a:t>Señalamientos reiterados de que gran volumen proveniente de operadores en EE.UU. elude el geobloqueo web mediante redes privadas virtuales (VPN).</a:t>
            </a:r>
          </a:p>
          <a:p>
            <a:pPr>
              <a:spcAft>
                <a:spcPts val="800"/>
              </a:spcAft>
            </a:pPr>
            <a:r>
              <a:rPr b="1" sz="1100">
                <a:solidFill>
                  <a:srgbClr val="FF5900"/>
                </a:solidFill>
                <a:latin typeface="Segoe UI"/>
              </a:rPr>
              <a:t>3. Investigación del FBI y DOJ (Nov 2024): </a:t>
            </a:r>
            <a:r>
              <a:rPr b="0" sz="1100">
                <a:solidFill>
                  <a:srgbClr val="F5EDE4"/>
                </a:solidFill>
                <a:latin typeface="Segoe UI"/>
              </a:rPr>
              <a:t>Tras las elecciones, agentes federales incautaron dispositivos del CEO Shayne Coplan investigando si usuarios estadounidenses operaron en la plataforma.</a:t>
            </a:r>
          </a:p>
          <a:p>
            <a:pPr>
              <a:spcAft>
                <a:spcPts val="800"/>
              </a:spcAft>
            </a:pPr>
            <a:r>
              <a:rPr b="1" sz="1100">
                <a:solidFill>
                  <a:srgbClr val="FF5900"/>
                </a:solidFill>
                <a:latin typeface="Segoe UI"/>
              </a:rPr>
              <a:t>4. Divergencia Estructural: </a:t>
            </a:r>
            <a:r>
              <a:rPr b="0" sz="1100">
                <a:solidFill>
                  <a:srgbClr val="F5EDE4"/>
                </a:solidFill>
                <a:latin typeface="Segoe UI"/>
              </a:rPr>
              <a:t>Ilustra el marcado contraste entre el cumplimiento regulatorio local (Kalshi) y los protocolos Web3 sin fronteras (Polymarket).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EVOLUCIÓN Y ESCALA DE MERCADO</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El Superciclo Electoral 2024: El Punto de Inflexión Parabólico</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10/22</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pm_volume_growth_es.png"/>
          <p:cNvPicPr>
            <a:picLocks noChangeAspect="1"/>
          </p:cNvPicPr>
          <p:nvPr/>
        </p:nvPicPr>
        <p:blipFill>
          <a:blip r:embed="rId3"/>
          <a:stretch>
            <a:fillRect/>
          </a:stretch>
        </p:blipFill>
        <p:spPr>
          <a:xfrm>
            <a:off x="822960" y="1691640"/>
            <a:ext cx="5486400" cy="2852928"/>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De Experimento de Nicho a la Terminal Bloomberg</a:t>
            </a:r>
          </a:p>
          <a:p>
            <a:pPr>
              <a:spcAft>
                <a:spcPts val="800"/>
              </a:spcAft>
            </a:pPr>
            <a:r>
              <a:rPr b="1" sz="1100">
                <a:solidFill>
                  <a:srgbClr val="FF5900"/>
                </a:solidFill>
                <a:latin typeface="Segoe UI"/>
              </a:rPr>
              <a:t>• El Momento Decisivo de 2024: </a:t>
            </a:r>
            <a:r>
              <a:rPr b="0" sz="1100">
                <a:solidFill>
                  <a:srgbClr val="F5EDE4"/>
                </a:solidFill>
                <a:latin typeface="Segoe UI"/>
              </a:rPr>
              <a:t>Los mercados de predicción pasaron de curiosidades académicas al barómetro global por excelencia de probabilidad macroeconómica y política.</a:t>
            </a:r>
          </a:p>
          <a:p>
            <a:pPr>
              <a:spcAft>
                <a:spcPts val="800"/>
              </a:spcAft>
            </a:pPr>
            <a:r>
              <a:rPr b="1" sz="1100">
                <a:solidFill>
                  <a:srgbClr val="FF5900"/>
                </a:solidFill>
                <a:latin typeface="Segoe UI"/>
              </a:rPr>
              <a:t>• Integración Financiera Institucional: </a:t>
            </a:r>
            <a:r>
              <a:rPr b="0" sz="1100">
                <a:solidFill>
                  <a:srgbClr val="F5EDE4"/>
                </a:solidFill>
                <a:latin typeface="Segoe UI"/>
              </a:rPr>
              <a:t>Las cotizaciones de Polymarket y Kalshi se mostraron en vivo en terminales Bloomberg, CNBC, Wall Street Journal y coberturas electorales de CNN.</a:t>
            </a:r>
          </a:p>
          <a:p>
            <a:pPr>
              <a:spcAft>
                <a:spcPts val="800"/>
              </a:spcAft>
            </a:pPr>
            <a:r>
              <a:rPr b="1" sz="1100">
                <a:solidFill>
                  <a:srgbClr val="FF5900"/>
                </a:solidFill>
                <a:latin typeface="Segoe UI"/>
              </a:rPr>
              <a:t>• El Mercado Presidencial Histórico: </a:t>
            </a:r>
            <a:r>
              <a:rPr b="0" sz="1100">
                <a:solidFill>
                  <a:srgbClr val="F5EDE4"/>
                </a:solidFill>
                <a:latin typeface="Segoe UI"/>
              </a:rPr>
              <a:t>El contrato individual 'Ganador Presidencial 2024' superó $3,600 millones USD en volumen, rebasando la liquidez de múltiples acciones del NYSE.</a:t>
            </a:r>
          </a:p>
          <a:p>
            <a:pPr>
              <a:spcAft>
                <a:spcPts val="800"/>
              </a:spcAft>
            </a:pPr>
            <a:r>
              <a:rPr b="1" sz="1100">
                <a:solidFill>
                  <a:srgbClr val="FF5900"/>
                </a:solidFill>
                <a:latin typeface="Segoe UI"/>
              </a:rPr>
              <a:t>• Entrada de Creadores de Mercado: </a:t>
            </a:r>
            <a:r>
              <a:rPr b="0" sz="1100">
                <a:solidFill>
                  <a:srgbClr val="F5EDE4"/>
                </a:solidFill>
                <a:latin typeface="Segoe UI"/>
              </a:rPr>
              <a:t>Mesas propietarias de trading cuantitativo (Susquehanna, Wintermute) entraron a capturar spreads y rendimientos de colateral.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LIQUIDACIÓN DE CONTRATOS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El Problema del Oráculo: Cómo Determinan la Verdad los Mercados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11/22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El Desafío Fundamental de la Resolución</a:t>
            </a:r>
          </a:p>
          <a:p>
            <a:pPr>
              <a:spcAft>
                <a:spcPts val="800"/>
              </a:spcAft>
            </a:pPr>
            <a:r>
              <a:rPr b="1" sz="1100">
                <a:solidFill>
                  <a:srgbClr val="DA4100"/>
                </a:solidFill>
                <a:latin typeface="Segoe UI"/>
              </a:rPr>
              <a:t>• Definición del Problema del Oráculo: </a:t>
            </a:r>
            <a:r>
              <a:rPr b="0" sz="1100">
                <a:solidFill>
                  <a:srgbClr val="21140E"/>
                </a:solidFill>
                <a:latin typeface="Segoe UI"/>
              </a:rPr>
              <a:t>Las blockchains y sistemas electrónicos son bucles deterministas cerrados; no tienen percepción directa de hechos físicos reales. Un flujo de datos externo ('oráculo') debe declarar el estado verídico.</a:t>
            </a:r>
          </a:p>
          <a:p>
            <a:pPr>
              <a:spcAft>
                <a:spcPts val="800"/>
              </a:spcAft>
            </a:pPr>
            <a:r>
              <a:rPr b="1" sz="1100">
                <a:solidFill>
                  <a:srgbClr val="DA4100"/>
                </a:solidFill>
                <a:latin typeface="Segoe UI"/>
              </a:rPr>
              <a:t>• Ambigüedad Semántica: </a:t>
            </a:r>
            <a:r>
              <a:rPr b="0" sz="1100">
                <a:solidFill>
                  <a:srgbClr val="21140E"/>
                </a:solidFill>
                <a:latin typeface="Segoe UI"/>
              </a:rPr>
              <a:t>Los hechos reales son complejos. Reglas contractuales ambiguas generan disputas (p. ej. '¿Atacará Israel a Irán antes del viernes?': ¿cuenta la interceptación de un dron en el espacio aéreo?).</a:t>
            </a:r>
          </a:p>
          <a:p>
            <a:pPr>
              <a:spcAft>
                <a:spcPts val="800"/>
              </a:spcAft>
            </a:pPr>
            <a:r>
              <a:rPr b="1" sz="1100">
                <a:solidFill>
                  <a:srgbClr val="DA4100"/>
                </a:solidFill>
                <a:latin typeface="Segoe UI"/>
              </a:rPr>
              <a:t>• Ataques por Proposiciones Maliciosas: </a:t>
            </a:r>
            <a:r>
              <a:rPr b="0" sz="1100">
                <a:solidFill>
                  <a:srgbClr val="21140E"/>
                </a:solidFill>
                <a:latin typeface="Segoe UI"/>
              </a:rPr>
              <a:t>Un actor puede tomar una posición sustancial y tratar de sobornar o inducir a error al oráculo para forzar una liquidación errónea.</a:t>
            </a:r>
          </a:p>
          <a:p>
            <a:pPr>
              <a:spcAft>
                <a:spcPts val="800"/>
              </a:spcAft>
            </a:pPr>
            <a:r>
              <a:rPr b="1" sz="1100">
                <a:solidFill>
                  <a:srgbClr val="DA4100"/>
                </a:solidFill>
                <a:latin typeface="Segoe UI"/>
              </a:rPr>
              <a:t>• Dos Vías Filosóficas: </a:t>
            </a:r>
            <a:r>
              <a:rPr b="0" sz="1100">
                <a:solidFill>
                  <a:srgbClr val="21140E"/>
                </a:solidFill>
                <a:latin typeface="Segoe UI"/>
              </a:rPr>
              <a:t>Kalshi lo resuelve vía arbitraje jurídico centralizado, mientras que Polymarket recurre a incentivos económicos de votación descentralizada (UMA).</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Modos de Fallo y Casos de Estudio</a:t>
            </a:r>
          </a:p>
          <a:p>
            <a:pPr>
              <a:spcAft>
                <a:spcPts val="800"/>
              </a:spcAft>
            </a:pPr>
            <a:r>
              <a:rPr b="1" sz="1100">
                <a:solidFill>
                  <a:srgbClr val="FF5900"/>
                </a:solidFill>
                <a:latin typeface="Segoe UI"/>
              </a:rPr>
              <a:t>• Falsa Aprobación del ETF de Bitcoin (Ene 2024): </a:t>
            </a:r>
            <a:r>
              <a:rPr b="0" sz="1100">
                <a:solidFill>
                  <a:srgbClr val="F5EDE4"/>
                </a:solidFill>
                <a:latin typeface="Segoe UI"/>
              </a:rPr>
              <a:t>Cuando la cuenta en X de la SEC fue hackeada anunciando la aprobación del ETF horas antes del registro oficial, surgieron disputas masivas sobre la marca de tiempo válida.</a:t>
            </a:r>
          </a:p>
          <a:p>
            <a:pPr>
              <a:spcAft>
                <a:spcPts val="800"/>
              </a:spcAft>
            </a:pPr>
            <a:r>
              <a:rPr b="1" sz="1100">
                <a:solidFill>
                  <a:srgbClr val="FF5900"/>
                </a:solidFill>
                <a:latin typeface="Segoe UI"/>
              </a:rPr>
              <a:t>• Retiro de Joe Biden (Julio 2024): </a:t>
            </a:r>
            <a:r>
              <a:rPr b="0" sz="1100">
                <a:solidFill>
                  <a:srgbClr val="F5EDE4"/>
                </a:solidFill>
                <a:latin typeface="Segoe UI"/>
              </a:rPr>
              <a:t>Debates sobre si su declinación resolvía de inmediato los contratos de 'candidatura' o si se requería la votación nominal oficial de la convención demócrata (DNC).</a:t>
            </a:r>
          </a:p>
          <a:p>
            <a:pPr>
              <a:spcAft>
                <a:spcPts val="800"/>
              </a:spcAft>
            </a:pPr>
            <a:r>
              <a:rPr b="1" sz="1100">
                <a:solidFill>
                  <a:srgbClr val="FF5900"/>
                </a:solidFill>
                <a:latin typeface="Segoe UI"/>
              </a:rPr>
              <a:t>• La Precisión Contractual como Blindaje: </a:t>
            </a:r>
            <a:r>
              <a:rPr b="0" sz="1100">
                <a:solidFill>
                  <a:srgbClr val="F5EDE4"/>
                </a:solidFill>
                <a:latin typeface="Segoe UI"/>
              </a:rPr>
              <a:t>Los exchanges comprendieron que el rigor jurídico en la redacción es tan crucial como la solvencia financiera.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LIQUIDACIÓN CENTRALIZADA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El Mecanismo de Kalshi: Reglamentos Contractuales y Fuentes Soberanas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12/22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Reglamentos Contractuales</a:t>
            </a:r>
          </a:p>
          <a:p>
            <a:pPr>
              <a:spcAft>
                <a:spcPts val="700"/>
              </a:spcAft>
            </a:pPr>
            <a:r>
              <a:rPr b="1" sz="1050">
                <a:solidFill>
                  <a:srgbClr val="DA4100"/>
                </a:solidFill>
                <a:latin typeface="Segoe UI"/>
              </a:rPr>
              <a:t>• Registro ante la CFTC: </a:t>
            </a:r>
            <a:r>
              <a:rPr b="0" sz="1050">
                <a:solidFill>
                  <a:srgbClr val="21140E"/>
                </a:solidFill>
                <a:latin typeface="Segoe UI"/>
              </a:rPr>
              <a:t>Cada contrato cuenta con un pliego de condiciones técnicas registrado públicamente que detalla definiciones y casos límite.</a:t>
            </a:r>
          </a:p>
          <a:p>
            <a:pPr>
              <a:spcAft>
                <a:spcPts val="700"/>
              </a:spcAft>
            </a:pPr>
            <a:r>
              <a:rPr b="1" sz="1050">
                <a:solidFill>
                  <a:srgbClr val="DA4100"/>
                </a:solidFill>
                <a:latin typeface="Segoe UI"/>
              </a:rPr>
              <a:t>• Criterios Deterministas: </a:t>
            </a:r>
            <a:r>
              <a:rPr b="0" sz="1050">
                <a:solidFill>
                  <a:srgbClr val="21140E"/>
                </a:solidFill>
                <a:latin typeface="Segoe UI"/>
              </a:rPr>
              <a:t>Evita interpretaciones humanas subjetivas. Se fijan condiciones binarias estrictas previo al inicio de cotización.</a:t>
            </a:r>
          </a:p>
          <a:p>
            <a:pPr>
              <a:spcAft>
                <a:spcPts val="700"/>
              </a:spcAft>
            </a:pPr>
            <a:r>
              <a:rPr b="1" sz="1050">
                <a:solidFill>
                  <a:srgbClr val="DA4100"/>
                </a:solidFill>
                <a:latin typeface="Segoe UI"/>
              </a:rPr>
              <a:t>• Marca de Tiempo Exacta: </a:t>
            </a:r>
            <a:r>
              <a:rPr b="0" sz="1050">
                <a:solidFill>
                  <a:srgbClr val="21140E"/>
                </a:solidFill>
                <a:latin typeface="Segoe UI"/>
              </a:rPr>
              <a:t>Límites temporales con precisión de segundo para la verificación del evento.</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Fuentes Gubernamentales</a:t>
            </a:r>
          </a:p>
          <a:p>
            <a:pPr>
              <a:spcAft>
                <a:spcPts val="700"/>
              </a:spcAft>
            </a:pPr>
            <a:r>
              <a:rPr b="1" sz="1050">
                <a:solidFill>
                  <a:srgbClr val="FF5900"/>
                </a:solidFill>
                <a:latin typeface="Segoe UI"/>
              </a:rPr>
              <a:t>• Datos Macroeconómicos: </a:t>
            </a:r>
            <a:r>
              <a:rPr b="0" sz="1050">
                <a:solidFill>
                  <a:srgbClr val="F5EDE4"/>
                </a:solidFill>
                <a:latin typeface="Segoe UI"/>
              </a:rPr>
              <a:t>Liquidación exclusiva desde fuentes oficiales: Bureau of Labor Statistics (CPI/NFP), Reserva Federal y BEA.</a:t>
            </a:r>
          </a:p>
          <a:p>
            <a:pPr>
              <a:spcAft>
                <a:spcPts val="700"/>
              </a:spcAft>
            </a:pPr>
            <a:r>
              <a:rPr b="1" sz="1050">
                <a:solidFill>
                  <a:srgbClr val="FF5900"/>
                </a:solidFill>
                <a:latin typeface="Segoe UI"/>
              </a:rPr>
              <a:t>• Clima y Meteorología: </a:t>
            </a:r>
            <a:r>
              <a:rPr b="0" sz="1050">
                <a:solidFill>
                  <a:srgbClr val="F5EDE4"/>
                </a:solidFill>
                <a:latin typeface="Segoe UI"/>
              </a:rPr>
              <a:t>National Oceanic and Atmospheric Administration (NOAA) y National Weather Service.</a:t>
            </a:r>
          </a:p>
          <a:p>
            <a:pPr>
              <a:spcAft>
                <a:spcPts val="700"/>
              </a:spcAft>
            </a:pPr>
            <a:r>
              <a:rPr b="1" sz="1050">
                <a:solidFill>
                  <a:srgbClr val="FF5900"/>
                </a:solidFill>
                <a:latin typeface="Segoe UI"/>
              </a:rPr>
              <a:t>• Elecciones: </a:t>
            </a:r>
            <a:r>
              <a:rPr b="0" sz="1050">
                <a:solidFill>
                  <a:srgbClr val="F5EDE4"/>
                </a:solidFill>
                <a:latin typeface="Segoe UI"/>
              </a:rPr>
              <a:t>Associated Press (AP), Edison Research y certificaciones oficiales de las Secretarías de Estado estatales.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Arbitraje Institucional</a:t>
            </a:r>
          </a:p>
          <a:p>
            <a:pPr>
              <a:spcAft>
                <a:spcPts val="700"/>
              </a:spcAft>
            </a:pPr>
            <a:r>
              <a:rPr b="1" sz="1050">
                <a:solidFill>
                  <a:srgbClr val="3D2314"/>
                </a:solidFill>
                <a:latin typeface="Segoe UI"/>
              </a:rPr>
              <a:t>• Comité de Liquidación Kalshi: </a:t>
            </a:r>
            <a:r>
              <a:rPr b="0" sz="1050">
                <a:solidFill>
                  <a:srgbClr val="21140E"/>
                </a:solidFill>
                <a:latin typeface="Segoe UI"/>
              </a:rPr>
              <a:t>Comité jurídico interno que verifica la emisión oficial de los datos y ordena los pagos.</a:t>
            </a:r>
          </a:p>
          <a:p>
            <a:pPr>
              <a:spcAft>
                <a:spcPts val="700"/>
              </a:spcAft>
            </a:pPr>
            <a:r>
              <a:rPr b="1" sz="1050">
                <a:solidFill>
                  <a:srgbClr val="3D2314"/>
                </a:solidFill>
                <a:latin typeface="Segoe UI"/>
              </a:rPr>
              <a:t>• Sin Latencia Blockchain: </a:t>
            </a:r>
            <a:r>
              <a:rPr b="0" sz="1050">
                <a:solidFill>
                  <a:srgbClr val="21140E"/>
                </a:solidFill>
                <a:latin typeface="Segoe UI"/>
              </a:rPr>
              <a:t>La liquidación procede minutos después de la publicación oficial del dato gubernamental.</a:t>
            </a:r>
          </a:p>
          <a:p>
            <a:pPr>
              <a:spcAft>
                <a:spcPts val="700"/>
              </a:spcAft>
            </a:pPr>
            <a:r>
              <a:rPr b="1" sz="1050">
                <a:solidFill>
                  <a:srgbClr val="3D2314"/>
                </a:solidFill>
                <a:latin typeface="Segoe UI"/>
              </a:rPr>
              <a:t>• Recurso Jurídico Formal: </a:t>
            </a:r>
            <a:r>
              <a:rPr b="0" sz="1050">
                <a:solidFill>
                  <a:srgbClr val="21140E"/>
                </a:solidFill>
                <a:latin typeface="Segoe UI"/>
              </a:rPr>
              <a:t>Los operadores cuentan con vía judicial bajo la ley de contratos de EE.UU. y arbitraje de la CFTC ante incumplimientos.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LIQUIDACIÓN DESCENTRALIZADA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El Motor de Polymarket: El Oráculo Optimista UMA y Resolución de Disputas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13/22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Cómo Opera el Oráculo Optimista de UMA</a:t>
            </a:r>
          </a:p>
          <a:p>
            <a:pPr>
              <a:spcAft>
                <a:spcPts val="800"/>
              </a:spcAft>
            </a:pPr>
            <a:r>
              <a:rPr b="1" sz="1100">
                <a:solidFill>
                  <a:srgbClr val="DA4100"/>
                </a:solidFill>
                <a:latin typeface="Segoe UI"/>
              </a:rPr>
              <a:t>• Paso 1: Vencimiento y Afirmación: </a:t>
            </a:r>
            <a:r>
              <a:rPr b="0" sz="1100">
                <a:solidFill>
                  <a:srgbClr val="21140E"/>
                </a:solidFill>
                <a:latin typeface="Segoe UI"/>
              </a:rPr>
              <a:t>Concluido el evento, cualquier participante puede proponer el resultado (SÍ/NO) depositando un bono financiero obligatorio en tokens UMA/USDC.</a:t>
            </a:r>
          </a:p>
          <a:p>
            <a:pPr>
              <a:spcAft>
                <a:spcPts val="800"/>
              </a:spcAft>
            </a:pPr>
            <a:r>
              <a:rPr b="1" sz="1100">
                <a:solidFill>
                  <a:srgbClr val="DA4100"/>
                </a:solidFill>
                <a:latin typeface="Segoe UI"/>
              </a:rPr>
              <a:t>• Paso 2: Ventana de Impugnación (Liveness Period): </a:t>
            </a:r>
            <a:r>
              <a:rPr b="0" sz="1100">
                <a:solidFill>
                  <a:srgbClr val="21140E"/>
                </a:solidFill>
                <a:latin typeface="Segoe UI"/>
              </a:rPr>
              <a:t>Se abre un período de 2 horas. Si nadie refuta la propuesta en ese lapso, se asume 'optimistamente' correcta, la liquidación finaliza y el proponente recupera su fianza con recompensa.</a:t>
            </a:r>
          </a:p>
          <a:p>
            <a:pPr>
              <a:spcAft>
                <a:spcPts val="800"/>
              </a:spcAft>
            </a:pPr>
            <a:r>
              <a:rPr b="1" sz="1100">
                <a:solidFill>
                  <a:srgbClr val="DA4100"/>
                </a:solidFill>
                <a:latin typeface="Segoe UI"/>
              </a:rPr>
              <a:t>• Paso 3: Disputa y Contra-Bono: </a:t>
            </a:r>
            <a:r>
              <a:rPr b="0" sz="1100">
                <a:solidFill>
                  <a:srgbClr val="21140E"/>
                </a:solidFill>
                <a:latin typeface="Segoe UI"/>
              </a:rPr>
              <a:t>Si un participante sostiene que el resultado es falso, debe aportar un bono idéntico para abrir formalmente la disputa.</a:t>
            </a:r>
          </a:p>
          <a:p>
            <a:pPr>
              <a:spcAft>
                <a:spcPts val="800"/>
              </a:spcAft>
            </a:pPr>
            <a:r>
              <a:rPr b="1" sz="1100">
                <a:solidFill>
                  <a:srgbClr val="DA4100"/>
                </a:solidFill>
                <a:latin typeface="Segoe UI"/>
              </a:rPr>
              <a:t>• Paso 4: Votación de Tenedores de Token (DVM): </a:t>
            </a:r>
            <a:r>
              <a:rPr b="0" sz="1100">
                <a:solidFill>
                  <a:srgbClr val="21140E"/>
                </a:solidFill>
                <a:latin typeface="Segoe UI"/>
              </a:rPr>
              <a:t>El conflicto escala al Data Verification Mechanism (DVM) de UMA, donde los poseedores del token votan el resultado real mediante consenso de punto focal (Schelling point).</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Teoría de Juegos, Quema de Bonos y Riesgos</a:t>
            </a:r>
          </a:p>
          <a:p>
            <a:pPr>
              <a:spcAft>
                <a:spcPts val="800"/>
              </a:spcAft>
            </a:pPr>
            <a:r>
              <a:rPr b="1" sz="1100">
                <a:solidFill>
                  <a:srgbClr val="FF5900"/>
                </a:solidFill>
                <a:latin typeface="Segoe UI"/>
              </a:rPr>
              <a:t>1. Penalización Económica (Slashing): </a:t>
            </a:r>
            <a:r>
              <a:rPr b="0" sz="1100">
                <a:solidFill>
                  <a:srgbClr val="F5EDE4"/>
                </a:solidFill>
                <a:latin typeface="Segoe UI"/>
              </a:rPr>
              <a:t>La parte perdedora pierde el 100% de su fianza, que se transfiere a la parte correcta. El propio interés económico alinea la veracidad.</a:t>
            </a:r>
          </a:p>
          <a:p>
            <a:pPr>
              <a:spcAft>
                <a:spcPts val="800"/>
              </a:spcAft>
            </a:pPr>
            <a:r>
              <a:rPr b="1" sz="1100">
                <a:solidFill>
                  <a:srgbClr val="FF5900"/>
                </a:solidFill>
                <a:latin typeface="Segoe UI"/>
              </a:rPr>
              <a:t>2. Consenso de Punto de Schelling: </a:t>
            </a:r>
            <a:r>
              <a:rPr b="0" sz="1100">
                <a:solidFill>
                  <a:srgbClr val="F5EDE4"/>
                </a:solidFill>
                <a:latin typeface="Segoe UI"/>
              </a:rPr>
              <a:t>Los votantes reciben estímulos por votar con la mayoría; la verdad objetiva funciona como el punto focal de coordinación (Schelling, 1960).</a:t>
            </a:r>
          </a:p>
          <a:p>
            <a:pPr>
              <a:spcAft>
                <a:spcPts val="800"/>
              </a:spcAft>
            </a:pPr>
            <a:r>
              <a:rPr b="1" sz="1100">
                <a:solidFill>
                  <a:srgbClr val="FF5900"/>
                </a:solidFill>
                <a:latin typeface="Segoe UI"/>
              </a:rPr>
              <a:t>3. Retardo en Liquidación: </a:t>
            </a:r>
            <a:r>
              <a:rPr b="0" sz="1100">
                <a:solidFill>
                  <a:srgbClr val="F5EDE4"/>
                </a:solidFill>
                <a:latin typeface="Segoe UI"/>
              </a:rPr>
              <a:t>Las impugnaciones pueden demorar los pagos de 48 a 72 horas, inmovilizando el capital de los operadores durante comicios polémicos.</a:t>
            </a:r>
          </a:p>
          <a:p>
            <a:pPr>
              <a:spcAft>
                <a:spcPts val="800"/>
              </a:spcAft>
            </a:pPr>
            <a:r>
              <a:rPr b="1" sz="1100">
                <a:solidFill>
                  <a:srgbClr val="FF5900"/>
                </a:solidFill>
                <a:latin typeface="Segoe UI"/>
              </a:rPr>
              <a:t>4. Apatía Electoral de Gobernanza: </a:t>
            </a:r>
            <a:r>
              <a:rPr b="0" sz="1100">
                <a:solidFill>
                  <a:srgbClr val="F5EDE4"/>
                </a:solidFill>
                <a:latin typeface="Segoe UI"/>
              </a:rPr>
              <a:t>Una baja participación de tenedores de UMA puede volver vulnerables los casos marginales frente a votantes mayoritarios ('ballenas').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VALIDACIÓN ESTADÍSTICA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Precisión Predictiva Empírica: Mercados frente a Encuestas y Analistas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14/22</a:t>
            </a:r>
          </a:p>
        </p:txBody>
      </p:sp>
      <p:sp>
        <p:nvSpPr>
          <p:cNvPr id="9" name="Rounded Rectangle 8"/>
          <p:cNvSpPr/>
          <p:nvPr/>
        </p:nvSpPr>
        <p:spPr>
          <a:xfrm>
            <a:off x="731520" y="1554480"/>
            <a:ext cx="5669280"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accuracy_comparison_es.png"/>
          <p:cNvPicPr>
            <a:picLocks noChangeAspect="1"/>
          </p:cNvPicPr>
          <p:nvPr/>
        </p:nvPicPr>
        <p:blipFill>
          <a:blip r:embed="rId3"/>
          <a:stretch>
            <a:fillRect/>
          </a:stretch>
        </p:blipFill>
        <p:spPr>
          <a:xfrm>
            <a:off x="822960" y="1691640"/>
            <a:ext cx="5486400" cy="2852928"/>
          </a:xfrm>
          <a:prstGeom prst="rect">
            <a:avLst/>
          </a:prstGeom>
        </p:spPr>
      </p:pic>
      <p:sp>
        <p:nvSpPr>
          <p:cNvPr id="11" name="Rounded Rectangle 10"/>
          <p:cNvSpPr/>
          <p:nvPr/>
        </p:nvSpPr>
        <p:spPr>
          <a:xfrm>
            <a:off x="6675120" y="1554480"/>
            <a:ext cx="475488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1737360"/>
            <a:ext cx="4389120" cy="4114800"/>
          </a:xfrm>
          <a:prstGeom prst="rect">
            <a:avLst/>
          </a:prstGeom>
          <a:noFill/>
        </p:spPr>
        <p:txBody>
          <a:bodyPr wrap="square">
            <a:spAutoFit/>
          </a:bodyPr>
          <a:lstStyle/>
          <a:p>
            <a:pPr>
              <a:spcAft>
                <a:spcPts val="1000"/>
              </a:spcAft>
              <a:defRPr sz="1500" b="1">
                <a:solidFill>
                  <a:srgbClr val="FF5900"/>
                </a:solidFill>
              </a:defRPr>
            </a:pPr>
            <a:r>
              <a:t>¿Por Qué los Mercados Superan a las Encuestas?</a:t>
            </a:r>
          </a:p>
          <a:p>
            <a:pPr>
              <a:spcAft>
                <a:spcPts val="800"/>
              </a:spcAft>
            </a:pPr>
            <a:r>
              <a:rPr b="1" sz="1100">
                <a:solidFill>
                  <a:srgbClr val="FF5900"/>
                </a:solidFill>
                <a:latin typeface="Segoe UI"/>
              </a:rPr>
              <a:t>• Mejor Puntuación Brier: </a:t>
            </a:r>
            <a:r>
              <a:rPr b="0" sz="1100">
                <a:solidFill>
                  <a:srgbClr val="F5EDE4"/>
                </a:solidFill>
                <a:latin typeface="Segoe UI"/>
              </a:rPr>
              <a:t>La investigación académica (Berg et al., 2008; Rothschild, 2009) demuestra que los mercados de predicción logran de forma sistemática menores errores Brier que las encuestas de opinión.</a:t>
            </a:r>
          </a:p>
          <a:p>
            <a:pPr>
              <a:spcAft>
                <a:spcPts val="800"/>
              </a:spcAft>
            </a:pPr>
            <a:r>
              <a:rPr b="1" sz="1100">
                <a:solidFill>
                  <a:srgbClr val="FF5900"/>
                </a:solidFill>
                <a:latin typeface="Segoe UI"/>
              </a:rPr>
              <a:t>• Las Encuestas Miran Atrás, los Mercados Miran Adelante: </a:t>
            </a:r>
            <a:r>
              <a:rPr b="0" sz="1100">
                <a:solidFill>
                  <a:srgbClr val="F5EDE4"/>
                </a:solidFill>
                <a:latin typeface="Segoe UI"/>
              </a:rPr>
              <a:t>Las encuestas registran lo que un grupo opinó hace 4 días. Los mercados reflejan lo que los traders esperan que ocurra el día de la elección.</a:t>
            </a:r>
          </a:p>
          <a:p>
            <a:pPr>
              <a:spcAft>
                <a:spcPts val="800"/>
              </a:spcAft>
            </a:pPr>
            <a:r>
              <a:rPr b="1" sz="1100">
                <a:solidFill>
                  <a:srgbClr val="FF5900"/>
                </a:solidFill>
                <a:latin typeface="Segoe UI"/>
              </a:rPr>
              <a:t>• Autocorrección del Sesgo de No Respuesta: </a:t>
            </a:r>
            <a:r>
              <a:rPr b="0" sz="1100">
                <a:solidFill>
                  <a:srgbClr val="F5EDE4"/>
                </a:solidFill>
                <a:latin typeface="Segoe UI"/>
              </a:rPr>
              <a:t>El sondeo tradicional sufre por tasas de respuesta telefónica desplomadas (&lt;1%). El mercado compensa este sesgo automáticamente vía capital informado.</a:t>
            </a:r>
          </a:p>
          <a:p>
            <a:pPr>
              <a:spcAft>
                <a:spcPts val="800"/>
              </a:spcAft>
            </a:pPr>
            <a:r>
              <a:rPr b="1" sz="1100">
                <a:solidFill>
                  <a:srgbClr val="FF5900"/>
                </a:solidFill>
                <a:latin typeface="Segoe UI"/>
              </a:rPr>
              <a:t>• La Prueba de Concepto de 2024: </a:t>
            </a:r>
            <a:r>
              <a:rPr b="0" sz="1100">
                <a:solidFill>
                  <a:srgbClr val="F5EDE4"/>
                </a:solidFill>
                <a:latin typeface="Segoe UI"/>
              </a:rPr>
              <a:t>En la elección presidencial de 2024, Polymarket y Kalshi señalaron con semanas de antelación la contundente victoria de Trump frente al empate 50/50 de las encuestas tradicionales.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ECONOMÍA DEL COMPORTAMIENTO</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Sesgos Conductuales y Anomalías: Sesgo de la Lotería y Grandes Cuentas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15/22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Anomalías Conductuales Documentadas</a:t>
            </a:r>
          </a:p>
          <a:p>
            <a:pPr>
              <a:spcAft>
                <a:spcPts val="800"/>
              </a:spcAft>
            </a:pPr>
            <a:r>
              <a:rPr b="1" sz="1100">
                <a:solidFill>
                  <a:srgbClr val="DA4100"/>
                </a:solidFill>
                <a:latin typeface="Segoe UI"/>
              </a:rPr>
              <a:t>• Sesgo Favorito-Longshot: </a:t>
            </a:r>
            <a:r>
              <a:rPr b="0" sz="1100">
                <a:solidFill>
                  <a:srgbClr val="21140E"/>
                </a:solidFill>
                <a:latin typeface="Segoe UI"/>
              </a:rPr>
              <a:t>Los traders sobrevaloran sistemáticamente eventos con probabilidades extremas bajas (p. ej., cotizando eventos del 1% entre 5% y 8%) por psicología de tipo lotería.</a:t>
            </a:r>
          </a:p>
          <a:p>
            <a:pPr>
              <a:spcAft>
                <a:spcPts val="800"/>
              </a:spcAft>
            </a:pPr>
            <a:r>
              <a:rPr b="1" sz="1100">
                <a:solidFill>
                  <a:srgbClr val="DA4100"/>
                </a:solidFill>
                <a:latin typeface="Segoe UI"/>
              </a:rPr>
              <a:t>• Sesgo Ideológico y Partidista: </a:t>
            </a:r>
            <a:r>
              <a:rPr b="0" sz="1100">
                <a:solidFill>
                  <a:srgbClr val="21140E"/>
                </a:solidFill>
                <a:latin typeface="Segoe UI"/>
              </a:rPr>
              <a:t>En contratos políticos, los inversores suelen 'apostar con el corazón', sobrecomprando temporalmente a sus candidatos predilectos.</a:t>
            </a:r>
          </a:p>
          <a:p>
            <a:pPr>
              <a:spcAft>
                <a:spcPts val="800"/>
              </a:spcAft>
            </a:pPr>
            <a:r>
              <a:rPr b="1" sz="1100">
                <a:solidFill>
                  <a:srgbClr val="DA4100"/>
                </a:solidFill>
                <a:latin typeface="Segoe UI"/>
              </a:rPr>
              <a:t>• Sequía de Liquidez en la Cola Larga: </a:t>
            </a:r>
            <a:r>
              <a:rPr b="0" sz="1100">
                <a:solidFill>
                  <a:srgbClr val="21140E"/>
                </a:solidFill>
                <a:latin typeface="Segoe UI"/>
              </a:rPr>
              <a:t>Mientras las elecciones presidenciales mueven miles de millones, los contratos locales o científicos especializados sufren de spreads amplios.</a:t>
            </a:r>
          </a:p>
          <a:p>
            <a:pPr>
              <a:spcAft>
                <a:spcPts val="800"/>
              </a:spcAft>
            </a:pPr>
            <a:r>
              <a:rPr b="1" sz="1100">
                <a:solidFill>
                  <a:srgbClr val="DA4100"/>
                </a:solidFill>
                <a:latin typeface="Segoe UI"/>
              </a:rPr>
              <a:t>• Costo de Oportunidad del Capital: </a:t>
            </a:r>
            <a:r>
              <a:rPr b="0" sz="1100">
                <a:solidFill>
                  <a:srgbClr val="21140E"/>
                </a:solidFill>
                <a:latin typeface="Segoe UI"/>
              </a:rPr>
              <a:t>Mantener posiciones en eventos lejanos (p. ej. elecciones de 2028) inmoviliza capital que podría generar rendimientos seguros en bonos del Tesoro al 5%, deprimiendo las probabilidades de largo plazo.</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El Caso de Estudio de la Ballena 'Fredi9999'</a:t>
            </a:r>
          </a:p>
          <a:p>
            <a:pPr>
              <a:spcAft>
                <a:spcPts val="800"/>
              </a:spcAft>
            </a:pPr>
            <a:r>
              <a:rPr b="1" sz="1100">
                <a:solidFill>
                  <a:srgbClr val="FF5900"/>
                </a:solidFill>
                <a:latin typeface="Segoe UI"/>
              </a:rPr>
              <a:t>• Posición Concentrada de +$30M USD: </a:t>
            </a:r>
            <a:r>
              <a:rPr b="0" sz="1100">
                <a:solidFill>
                  <a:srgbClr val="F5EDE4"/>
                </a:solidFill>
                <a:latin typeface="Segoe UI"/>
              </a:rPr>
              <a:t>En octubre de 2024, un operador francés con cuatro cuentas ('Fredi9999', 'Theo4') acumuló más de $30 millones USD en contratos por la victoria de Trump.</a:t>
            </a:r>
          </a:p>
          <a:p>
            <a:pPr>
              <a:spcAft>
                <a:spcPts val="800"/>
              </a:spcAft>
            </a:pPr>
            <a:r>
              <a:rPr b="1" sz="1100">
                <a:solidFill>
                  <a:srgbClr val="FF5900"/>
                </a:solidFill>
                <a:latin typeface="Segoe UI"/>
              </a:rPr>
              <a:t>• ¿Manipulación o Venta de Alpha Informada?: </a:t>
            </a:r>
            <a:r>
              <a:rPr b="0" sz="1100">
                <a:solidFill>
                  <a:srgbClr val="F5EDE4"/>
                </a:solidFill>
                <a:latin typeface="Segoe UI"/>
              </a:rPr>
              <a:t>Hubo señalamientos de manipulación para influir en las encuestas. Sin embargo, el operador utilizó modelos estadísticos rigurosos de 'neighbor polling' (preguntar por la intención del vecino) que captaban entusiasmo no medido.</a:t>
            </a:r>
          </a:p>
          <a:p>
            <a:pPr>
              <a:spcAft>
                <a:spcPts val="800"/>
              </a:spcAft>
            </a:pPr>
            <a:r>
              <a:rPr b="1" sz="1100">
                <a:solidFill>
                  <a:srgbClr val="FF5900"/>
                </a:solidFill>
                <a:latin typeface="Segoe UI"/>
              </a:rPr>
              <a:t>• Ganancia Neta de $47 Millones USD: </a:t>
            </a:r>
            <a:r>
              <a:rPr b="0" sz="1100">
                <a:solidFill>
                  <a:srgbClr val="F5EDE4"/>
                </a:solidFill>
                <a:latin typeface="Segoe UI"/>
              </a:rPr>
              <a:t>Al confirmarse el resultado, la posición liquidó ~$78M (ganancia superior a $47M USD), ilustrando cómo el capital informado de alta convicción conduce los precios hacia la realidad.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TEORÍA DE MICROESTRUCTURA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¿Pueden Manipularse los Mercados? El Teorema de Manipulación como Subsidio</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16/22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La Mecánica de la Manipulación Intentada</a:t>
            </a:r>
          </a:p>
          <a:p>
            <a:pPr>
              <a:spcAft>
                <a:spcPts val="800"/>
              </a:spcAft>
            </a:pPr>
            <a:r>
              <a:rPr b="1" sz="1100">
                <a:solidFill>
                  <a:srgbClr val="DA4100"/>
                </a:solidFill>
                <a:latin typeface="Segoe UI"/>
              </a:rPr>
              <a:t>• ¿Por Qué Manipular?: </a:t>
            </a:r>
            <a:r>
              <a:rPr b="0" sz="1100">
                <a:solidFill>
                  <a:srgbClr val="21140E"/>
                </a:solidFill>
                <a:latin typeface="Segoe UI"/>
              </a:rPr>
              <a:t>Un actor podría intentar inflar temporalmente la probabilidad de un candidato para generar impulso mediático, alentar donaciones o alterar las expectativas de participación.</a:t>
            </a:r>
          </a:p>
          <a:p>
            <a:pPr>
              <a:spcAft>
                <a:spcPts val="800"/>
              </a:spcAft>
            </a:pPr>
            <a:r>
              <a:rPr b="1" sz="1100">
                <a:solidFill>
                  <a:srgbClr val="DA4100"/>
                </a:solidFill>
                <a:latin typeface="Segoe UI"/>
              </a:rPr>
              <a:t>• El Elevado Costo de Capital: </a:t>
            </a:r>
            <a:r>
              <a:rPr b="0" sz="1100">
                <a:solidFill>
                  <a:srgbClr val="21140E"/>
                </a:solidFill>
                <a:latin typeface="Segoe UI"/>
              </a:rPr>
              <a:t>Como los contratos liquidan inevitablemente contra la realidad objetiva ($1.00 o $0.00), sostener un precio falso exige absorber continuamente todas las órdenes límite de venta contrarias.</a:t>
            </a:r>
          </a:p>
          <a:p>
            <a:pPr>
              <a:spcAft>
                <a:spcPts val="800"/>
              </a:spcAft>
            </a:pPr>
            <a:r>
              <a:rPr b="1" sz="1100">
                <a:solidFill>
                  <a:srgbClr val="DA4100"/>
                </a:solidFill>
                <a:latin typeface="Segoe UI"/>
              </a:rPr>
              <a:t>• Liquidez de Contraparte Ilimitada: </a:t>
            </a:r>
            <a:r>
              <a:rPr b="0" sz="1100">
                <a:solidFill>
                  <a:srgbClr val="21140E"/>
                </a:solidFill>
                <a:latin typeface="Segoe UI"/>
              </a:rPr>
              <a:t>A diferencia de las acciones donde el flotante es limitado, en contratos de eventos se pueden acuñar infinitos pares SÍ/NO siempre que los arbitrajistas aporten $1.00 USD.</a:t>
            </a:r>
          </a:p>
          <a:p>
            <a:pPr>
              <a:spcAft>
                <a:spcPts val="800"/>
              </a:spcAft>
            </a:pPr>
            <a:r>
              <a:rPr b="1" sz="1100">
                <a:solidFill>
                  <a:srgbClr val="DA4100"/>
                </a:solidFill>
                <a:latin typeface="Segoe UI"/>
              </a:rPr>
              <a:t>• Evidencia Empírica: </a:t>
            </a:r>
            <a:r>
              <a:rPr b="0" sz="1100">
                <a:solidFill>
                  <a:srgbClr val="21140E"/>
                </a:solidFill>
                <a:latin typeface="Segoe UI"/>
              </a:rPr>
              <a:t>Rhodes y Strumpf (2004) ensayaron manipulaciones deliberadas en TradeSports; los precios regresaron a su probabilidad real casi de inmediato.</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El Teorema de Robin Hanson</a:t>
            </a:r>
          </a:p>
          <a:p>
            <a:pPr>
              <a:spcAft>
                <a:spcPts val="800"/>
              </a:spcAft>
            </a:pPr>
            <a:r>
              <a:rPr b="1" sz="1100">
                <a:solidFill>
                  <a:srgbClr val="FF5900"/>
                </a:solidFill>
                <a:latin typeface="Segoe UI"/>
              </a:rPr>
              <a:t>• Manipulación como Subsidio de Información: </a:t>
            </a:r>
            <a:r>
              <a:rPr b="0" sz="1100">
                <a:solidFill>
                  <a:srgbClr val="F5EDE4"/>
                </a:solidFill>
                <a:latin typeface="Segoe UI"/>
              </a:rPr>
              <a:t>Los manipuladores que intervienen guiados por sesgos ideológicos y no por búsqueda de beneficio económico **subsidian** efectivamente la recolección de información veraz.</a:t>
            </a:r>
          </a:p>
          <a:p>
            <a:pPr>
              <a:spcAft>
                <a:spcPts val="800"/>
              </a:spcAft>
            </a:pPr>
            <a:r>
              <a:rPr b="1" sz="1100">
                <a:solidFill>
                  <a:srgbClr val="FF5900"/>
                </a:solidFill>
                <a:latin typeface="Segoe UI"/>
              </a:rPr>
              <a:t>• El Efecto 'Olla de Miel': </a:t>
            </a:r>
            <a:r>
              <a:rPr b="0" sz="1100">
                <a:solidFill>
                  <a:srgbClr val="F5EDE4"/>
                </a:solidFill>
                <a:latin typeface="Segoe UI"/>
              </a:rPr>
              <a:t>Al distanciar artificialmente los precios de su probabilidad fundamental, generan valor esperado positivo (EV) para los arbitrajistas inteligentes.</a:t>
            </a:r>
          </a:p>
          <a:p>
            <a:pPr>
              <a:spcAft>
                <a:spcPts val="800"/>
              </a:spcAft>
            </a:pPr>
            <a:r>
              <a:rPr b="1" sz="1100">
                <a:solidFill>
                  <a:srgbClr val="FF5900"/>
                </a:solidFill>
                <a:latin typeface="Segoe UI"/>
              </a:rPr>
              <a:t>• Atracción de Capital Inteligente: </a:t>
            </a:r>
            <a:r>
              <a:rPr b="0" sz="1100">
                <a:solidFill>
                  <a:srgbClr val="F5EDE4"/>
                </a:solidFill>
                <a:latin typeface="Segoe UI"/>
              </a:rPr>
              <a:t>Los creadores de mercado cuantitativos intervienen rápidamente absorbiendo el capital mal valorado del manipulador, devolviendo el precio a su nivel exacto.</a:t>
            </a:r>
          </a:p>
          <a:p>
            <a:pPr>
              <a:spcAft>
                <a:spcPts val="800"/>
              </a:spcAft>
            </a:pPr>
            <a:r>
              <a:rPr b="1" sz="1100">
                <a:solidFill>
                  <a:srgbClr val="FF5900"/>
                </a:solidFill>
                <a:latin typeface="Segoe UI"/>
              </a:rPr>
              <a:t>• Conclusión: </a:t>
            </a:r>
            <a:r>
              <a:rPr b="0" sz="1100">
                <a:solidFill>
                  <a:srgbClr val="F5EDE4"/>
                </a:solidFill>
                <a:latin typeface="Segoe UI"/>
              </a:rPr>
              <a:t>En mercados líquidos, los intentos de manipulación terminan en severas pérdidas monetarias para el manipulador y en mayor exactitud pública.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CASOS DE USO CORPORATIVOS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Cobertura Macroeconómica y Riesgo Empresarial: Aplicaciones Reales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17/22</a:t>
            </a:r>
          </a:p>
        </p:txBody>
      </p:sp>
      <p:sp>
        <p:nvSpPr>
          <p:cNvPr id="9" name="Rounded Rectangle 8"/>
          <p:cNvSpPr/>
          <p:nvPr/>
        </p:nvSpPr>
        <p:spPr>
          <a:xfrm>
            <a:off x="731520" y="1554480"/>
            <a:ext cx="3328416"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2962656" cy="4206240"/>
          </a:xfrm>
          <a:prstGeom prst="rect">
            <a:avLst/>
          </a:prstGeom>
          <a:noFill/>
        </p:spPr>
        <p:txBody>
          <a:bodyPr wrap="square">
            <a:spAutoFit/>
          </a:bodyPr>
          <a:lstStyle/>
          <a:p>
            <a:pPr>
              <a:spcAft>
                <a:spcPts val="1000"/>
              </a:spcAft>
              <a:defRPr sz="1400" b="1">
                <a:solidFill>
                  <a:srgbClr val="DA4100"/>
                </a:solidFill>
              </a:defRPr>
            </a:pPr>
            <a:r>
              <a:t>1. Riesgo Macroeconómico</a:t>
            </a:r>
          </a:p>
          <a:p>
            <a:pPr>
              <a:spcAft>
                <a:spcPts val="700"/>
              </a:spcAft>
            </a:pPr>
            <a:r>
              <a:rPr b="1" sz="1050">
                <a:solidFill>
                  <a:srgbClr val="DA4100"/>
                </a:solidFill>
                <a:latin typeface="Segoe UI"/>
              </a:rPr>
              <a:t>• Tasas de la Reserva Federal: </a:t>
            </a:r>
            <a:r>
              <a:rPr b="0" sz="1050">
                <a:solidFill>
                  <a:srgbClr val="21140E"/>
                </a:solidFill>
                <a:latin typeface="Segoe UI"/>
              </a:rPr>
              <a:t>Originadores hipotecarios cubren repuntes en costos de fondeo operando contratos sobre la tasa de fondos federales en Kalshi.</a:t>
            </a:r>
          </a:p>
          <a:p>
            <a:pPr>
              <a:spcAft>
                <a:spcPts val="700"/>
              </a:spcAft>
            </a:pPr>
            <a:r>
              <a:rPr b="1" sz="1050">
                <a:solidFill>
                  <a:srgbClr val="DA4100"/>
                </a:solidFill>
                <a:latin typeface="Segoe UI"/>
              </a:rPr>
              <a:t>• Protección contra la Inflación (CPI): </a:t>
            </a:r>
            <a:r>
              <a:rPr b="0" sz="1050">
                <a:solidFill>
                  <a:srgbClr val="21140E"/>
                </a:solidFill>
                <a:latin typeface="Segoe UI"/>
              </a:rPr>
              <a:t>Empresas con cadenas de suministro extensas protegen márgenes frente a sorpresas inflacionarias del IPC.</a:t>
            </a:r>
          </a:p>
          <a:p>
            <a:pPr>
              <a:spcAft>
                <a:spcPts val="700"/>
              </a:spcAft>
            </a:pPr>
            <a:r>
              <a:rPr b="1" sz="1050">
                <a:solidFill>
                  <a:srgbClr val="DA4100"/>
                </a:solidFill>
                <a:latin typeface="Segoe UI"/>
              </a:rPr>
              <a:t>• Rendimientos del Tesoro: </a:t>
            </a:r>
            <a:r>
              <a:rPr b="0" sz="1050">
                <a:solidFill>
                  <a:srgbClr val="21140E"/>
                </a:solidFill>
                <a:latin typeface="Segoe UI"/>
              </a:rPr>
              <a:t>Gestores de renta fija mitigan riesgo de duración operando umbrales específicos del bono a 10 años.</a:t>
            </a:r>
          </a:p>
        </p:txBody>
      </p:sp>
      <p:sp>
        <p:nvSpPr>
          <p:cNvPr id="11" name="Rounded Rectangle 10"/>
          <p:cNvSpPr/>
          <p:nvPr/>
        </p:nvSpPr>
        <p:spPr>
          <a:xfrm>
            <a:off x="4425696" y="1554480"/>
            <a:ext cx="3328416"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737360"/>
            <a:ext cx="2962656" cy="4206240"/>
          </a:xfrm>
          <a:prstGeom prst="rect">
            <a:avLst/>
          </a:prstGeom>
          <a:noFill/>
        </p:spPr>
        <p:txBody>
          <a:bodyPr wrap="square">
            <a:spAutoFit/>
          </a:bodyPr>
          <a:lstStyle/>
          <a:p>
            <a:pPr>
              <a:spcAft>
                <a:spcPts val="1000"/>
              </a:spcAft>
              <a:defRPr sz="1400" b="1">
                <a:solidFill>
                  <a:srgbClr val="FF5900"/>
                </a:solidFill>
              </a:defRPr>
            </a:pPr>
            <a:r>
              <a:t>2. Riesgo Regulatorio y Fiscal</a:t>
            </a:r>
          </a:p>
          <a:p>
            <a:pPr>
              <a:spcAft>
                <a:spcPts val="700"/>
              </a:spcAft>
            </a:pPr>
            <a:r>
              <a:rPr b="1" sz="1050">
                <a:solidFill>
                  <a:srgbClr val="FF5900"/>
                </a:solidFill>
                <a:latin typeface="Segoe UI"/>
              </a:rPr>
              <a:t>• Aumentos en Impuestos Corporativos: </a:t>
            </a:r>
            <a:r>
              <a:rPr b="0" sz="1050">
                <a:solidFill>
                  <a:srgbClr val="F5EDE4"/>
                </a:solidFill>
                <a:latin typeface="Segoe UI"/>
              </a:rPr>
              <a:t>Empresas cubren presupuestos de inversión de capital (CapEx) ante modificaciones fiscales legislativas.</a:t>
            </a:r>
          </a:p>
          <a:p>
            <a:pPr>
              <a:spcAft>
                <a:spcPts val="700"/>
              </a:spcAft>
            </a:pPr>
            <a:r>
              <a:rPr b="1" sz="1050">
                <a:solidFill>
                  <a:srgbClr val="FF5900"/>
                </a:solidFill>
                <a:latin typeface="Segoe UI"/>
              </a:rPr>
              <a:t>• Aranceles y Barreras Comerciales: </a:t>
            </a:r>
            <a:r>
              <a:rPr b="0" sz="1050">
                <a:solidFill>
                  <a:srgbClr val="F5EDE4"/>
                </a:solidFill>
                <a:latin typeface="Segoe UI"/>
              </a:rPr>
              <a:t>Importadores se cubren contra la imposición de aranceles sectoriales vía decretos ejecutivos.</a:t>
            </a:r>
          </a:p>
          <a:p>
            <a:pPr>
              <a:spcAft>
                <a:spcPts val="700"/>
              </a:spcAft>
            </a:pPr>
            <a:r>
              <a:rPr b="1" sz="1050">
                <a:solidFill>
                  <a:srgbClr val="FF5900"/>
                </a:solidFill>
                <a:latin typeface="Segoe UI"/>
              </a:rPr>
              <a:t>• Aprobaciones de Medicamentos (FDA): </a:t>
            </a:r>
            <a:r>
              <a:rPr b="0" sz="1050">
                <a:solidFill>
                  <a:srgbClr val="F5EDE4"/>
                </a:solidFill>
                <a:latin typeface="Segoe UI"/>
              </a:rPr>
              <a:t>Empresas biotecnológicas gestionan el riesgo del desenlace de ensayos clínicos y dictámenes regulatorios.</a:t>
            </a:r>
          </a:p>
        </p:txBody>
      </p:sp>
      <p:sp>
        <p:nvSpPr>
          <p:cNvPr id="13" name="Rounded Rectangle 12"/>
          <p:cNvSpPr/>
          <p:nvPr/>
        </p:nvSpPr>
        <p:spPr>
          <a:xfrm>
            <a:off x="8119872" y="1554480"/>
            <a:ext cx="3328416" cy="4572000"/>
          </a:xfrm>
          <a:prstGeom prst="roundRect">
            <a:avLst>
              <a:gd name="adj" fmla="val 4000"/>
            </a:avLst>
          </a:prstGeom>
          <a:solidFill>
            <a:srgbClr val="FFFFFF"/>
          </a:solidFill>
          <a:ln w="22860">
            <a:solidFill>
              <a:srgbClr val="63381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1737360"/>
            <a:ext cx="2962656" cy="4206240"/>
          </a:xfrm>
          <a:prstGeom prst="rect">
            <a:avLst/>
          </a:prstGeom>
          <a:noFill/>
        </p:spPr>
        <p:txBody>
          <a:bodyPr wrap="square">
            <a:spAutoFit/>
          </a:bodyPr>
          <a:lstStyle/>
          <a:p>
            <a:pPr>
              <a:spcAft>
                <a:spcPts val="1000"/>
              </a:spcAft>
              <a:defRPr sz="1400" b="1">
                <a:solidFill>
                  <a:srgbClr val="3D2314"/>
                </a:solidFill>
              </a:defRPr>
            </a:pPr>
            <a:r>
              <a:t>3. Clima y Disrupción Operativa</a:t>
            </a:r>
          </a:p>
          <a:p>
            <a:pPr>
              <a:spcAft>
                <a:spcPts val="700"/>
              </a:spcAft>
            </a:pPr>
            <a:r>
              <a:rPr b="1" sz="1050">
                <a:solidFill>
                  <a:srgbClr val="3D2314"/>
                </a:solidFill>
                <a:latin typeface="Segoe UI"/>
              </a:rPr>
              <a:t>• Seguros Paramétricos de Clima: </a:t>
            </a:r>
            <a:r>
              <a:rPr b="0" sz="1050">
                <a:solidFill>
                  <a:srgbClr val="21140E"/>
                </a:solidFill>
                <a:latin typeface="Segoe UI"/>
              </a:rPr>
              <a:t>Aerolíneas y agrícolas aseguran pérdidas por lluvias, nevadas o huracanes sin demoras periciales tradicionales.</a:t>
            </a:r>
          </a:p>
          <a:p>
            <a:pPr>
              <a:spcAft>
                <a:spcPts val="700"/>
              </a:spcAft>
            </a:pPr>
            <a:r>
              <a:rPr b="1" sz="1050">
                <a:solidFill>
                  <a:srgbClr val="3D2314"/>
                </a:solidFill>
                <a:latin typeface="Segoe UI"/>
              </a:rPr>
              <a:t>• Conflictos Geopolíticos: </a:t>
            </a:r>
            <a:r>
              <a:rPr b="0" sz="1050">
                <a:solidFill>
                  <a:srgbClr val="21140E"/>
                </a:solidFill>
                <a:latin typeface="Segoe UI"/>
              </a:rPr>
              <a:t>Empresas navieras cubren bloqueos de pasos estratégicos (Suez, Panamá) o escaladas militares regionales.</a:t>
            </a:r>
          </a:p>
          <a:p>
            <a:pPr>
              <a:spcAft>
                <a:spcPts val="700"/>
              </a:spcAft>
            </a:pPr>
            <a:r>
              <a:rPr b="1" sz="1050">
                <a:solidFill>
                  <a:srgbClr val="3D2314"/>
                </a:solidFill>
                <a:latin typeface="Segoe UI"/>
              </a:rPr>
              <a:t>• Desagregación de Riesgos: </a:t>
            </a:r>
            <a:r>
              <a:rPr b="0" sz="1050">
                <a:solidFill>
                  <a:srgbClr val="21140E"/>
                </a:solidFill>
                <a:latin typeface="Segoe UI"/>
              </a:rPr>
              <a:t>Aislamiento de riesgos operacionales específicos sin contratar coberturas cruzadas imperfectas y costosas.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MATRIZ COMPARATIVA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Comparativa Arquitectónica Frente a Frente: Kalshi vs. Polymarket</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18/22</a:t>
            </a:r>
          </a:p>
        </p:txBody>
      </p:sp>
      <p:sp>
        <p:nvSpPr>
          <p:cNvPr id="9" name="Rounded Rectangle 8"/>
          <p:cNvSpPr/>
          <p:nvPr/>
        </p:nvSpPr>
        <p:spPr>
          <a:xfrm>
            <a:off x="731520" y="1554480"/>
            <a:ext cx="10728655" cy="4572000"/>
          </a:xfrm>
          <a:prstGeom prst="roundRect">
            <a:avLst>
              <a:gd name="adj" fmla="val 4000"/>
            </a:avLst>
          </a:prstGeom>
          <a:solidFill>
            <a:srgbClr val="FFFFFF"/>
          </a:solidFill>
          <a:ln w="15240">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hart_kalshi_vs_polymarket_comp_es.png"/>
          <p:cNvPicPr>
            <a:picLocks noChangeAspect="1"/>
          </p:cNvPicPr>
          <p:nvPr/>
        </p:nvPicPr>
        <p:blipFill>
          <a:blip r:embed="rId3"/>
          <a:stretch>
            <a:fillRect/>
          </a:stretch>
        </p:blipFill>
        <p:spPr>
          <a:xfrm>
            <a:off x="914400" y="1691640"/>
            <a:ext cx="10362895" cy="5181448"/>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MICROESTRUCTURA DEL MERCADO</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Provisión de Liquidez: Market Makers Algorítmicos y Dinámica de Spreads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19/22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El Papel de los Market Makers Cuantitativos</a:t>
            </a:r>
          </a:p>
          <a:p>
            <a:pPr>
              <a:spcAft>
                <a:spcPts val="800"/>
              </a:spcAft>
            </a:pPr>
            <a:r>
              <a:rPr b="1" sz="1100">
                <a:solidFill>
                  <a:srgbClr val="DA4100"/>
                </a:solidFill>
                <a:latin typeface="Segoe UI"/>
              </a:rPr>
              <a:t>• ¿Quiénes Proveen la Liquidez?: </a:t>
            </a:r>
            <a:r>
              <a:rPr b="0" sz="1100">
                <a:solidFill>
                  <a:srgbClr val="21140E"/>
                </a:solidFill>
                <a:latin typeface="Segoe UI"/>
              </a:rPr>
              <a:t>Firmas líderes de Wall Street (Susquehanna International Group, Jane Street) y creadores institucionales de activos digitales (Wintermute, Keyrock).</a:t>
            </a:r>
          </a:p>
          <a:p>
            <a:pPr>
              <a:spcAft>
                <a:spcPts val="800"/>
              </a:spcAft>
            </a:pPr>
            <a:r>
              <a:rPr b="1" sz="1100">
                <a:solidFill>
                  <a:srgbClr val="DA4100"/>
                </a:solidFill>
                <a:latin typeface="Segoe UI"/>
              </a:rPr>
              <a:t>• Balanceo Automatizado de Inventarios: </a:t>
            </a:r>
            <a:r>
              <a:rPr b="0" sz="1100">
                <a:solidFill>
                  <a:srgbClr val="21140E"/>
                </a:solidFill>
                <a:latin typeface="Segoe UI"/>
              </a:rPr>
              <a:t>Los algoritmos cotizan simultáneamente en contratos SÍ y NO, asegurando el spread bid-ask mientras preservan una postura delta-neutral.</a:t>
            </a:r>
          </a:p>
          <a:p>
            <a:pPr>
              <a:spcAft>
                <a:spcPts val="800"/>
              </a:spcAft>
            </a:pPr>
            <a:r>
              <a:rPr b="1" sz="1100">
                <a:solidFill>
                  <a:srgbClr val="DA4100"/>
                </a:solidFill>
                <a:latin typeface="Segoe UI"/>
              </a:rPr>
              <a:t>• Incentivos de Liquidity Mining: </a:t>
            </a:r>
            <a:r>
              <a:rPr b="0" sz="1100">
                <a:solidFill>
                  <a:srgbClr val="21140E"/>
                </a:solidFill>
                <a:latin typeface="Segoe UI"/>
              </a:rPr>
              <a:t>Polymarket premia diariamente a operadores que mantienen posturas límite pasivas a distancias menores a 1¢ a 3¢ del precio medio.</a:t>
            </a:r>
          </a:p>
          <a:p>
            <a:pPr>
              <a:spcAft>
                <a:spcPts val="800"/>
              </a:spcAft>
            </a:pPr>
            <a:r>
              <a:rPr b="1" sz="1100">
                <a:solidFill>
                  <a:srgbClr val="DA4100"/>
                </a:solidFill>
                <a:latin typeface="Segoe UI"/>
              </a:rPr>
              <a:t>• Colapso de Spreads con la Escala: </a:t>
            </a:r>
            <a:r>
              <a:rPr b="0" sz="1100">
                <a:solidFill>
                  <a:srgbClr val="21140E"/>
                </a:solidFill>
                <a:latin typeface="Segoe UI"/>
              </a:rPr>
              <a:t>En mercados de alto volumen, el spread bid-ask se comprimió al mínimo estatutario de $0.01 (1 centavo), facilitando ejecuciones sin fricciones.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Riesgos para los Creadores de Mercado</a:t>
            </a:r>
          </a:p>
          <a:p>
            <a:pPr>
              <a:spcAft>
                <a:spcPts val="800"/>
              </a:spcAft>
            </a:pPr>
            <a:r>
              <a:rPr b="1" sz="1100">
                <a:solidFill>
                  <a:srgbClr val="FF5900"/>
                </a:solidFill>
                <a:latin typeface="Segoe UI"/>
              </a:rPr>
              <a:t>1. Selección Adversa por 'Insiders': </a:t>
            </a:r>
            <a:r>
              <a:rPr b="0" sz="1100">
                <a:solidFill>
                  <a:srgbClr val="F5EDE4"/>
                </a:solidFill>
                <a:latin typeface="Segoe UI"/>
              </a:rPr>
              <a:t>Los contratos de eventos conllevan asimetría de información: funcionarios o periodistas pueden conocer el resultado antes de su difusión pública. Los market makers se arriesgan a ser ejecutados en contra ('sniping').</a:t>
            </a:r>
          </a:p>
          <a:p>
            <a:pPr>
              <a:spcAft>
                <a:spcPts val="800"/>
              </a:spcAft>
            </a:pPr>
            <a:r>
              <a:rPr b="1" sz="1100">
                <a:solidFill>
                  <a:srgbClr val="FF5900"/>
                </a:solidFill>
                <a:latin typeface="Segoe UI"/>
              </a:rPr>
              <a:t>2. Discontinuidad de Precios (Jump Risk): </a:t>
            </a:r>
            <a:r>
              <a:rPr b="0" sz="1100">
                <a:solidFill>
                  <a:srgbClr val="F5EDE4"/>
                </a:solidFill>
                <a:latin typeface="Segoe UI"/>
              </a:rPr>
              <a:t>A diferencia de las acciones convencionales, un contrato binario puede saltar de $0.50 directamente a $1.00 en un milisegundo al confirmarse la noticia.</a:t>
            </a:r>
          </a:p>
          <a:p>
            <a:pPr>
              <a:spcAft>
                <a:spcPts val="800"/>
              </a:spcAft>
            </a:pPr>
            <a:r>
              <a:rPr b="1" sz="1100">
                <a:solidFill>
                  <a:srgbClr val="FF5900"/>
                </a:solidFill>
                <a:latin typeface="Segoe UI"/>
              </a:rPr>
              <a:t>3. Riesgo de Ambigüedad del Oráculo: </a:t>
            </a:r>
            <a:r>
              <a:rPr b="0" sz="1100">
                <a:solidFill>
                  <a:srgbClr val="F5EDE4"/>
                </a:solidFill>
                <a:latin typeface="Segoe UI"/>
              </a:rPr>
              <a:t>Mantener inventarios significativos en mercados que terminan en litigios prolongados bloquea el capital en cámaras o contratos inteligentes.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EL FUTURO DE LAS FINANZAS</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La Frontera: Futarquía de Robin Hanson y Agentes de IA Autónomos</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20/22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Futarquía: Gobernanza Mediante Especulación</a:t>
            </a:r>
          </a:p>
          <a:p>
            <a:pPr>
              <a:spcAft>
                <a:spcPts val="800"/>
              </a:spcAft>
            </a:pPr>
            <a:r>
              <a:rPr b="1" sz="1100">
                <a:solidFill>
                  <a:srgbClr val="DA4100"/>
                </a:solidFill>
                <a:latin typeface="Segoe UI"/>
              </a:rPr>
              <a:t>• 'Vota Valores, Apuesta Creencias': </a:t>
            </a:r>
            <a:r>
              <a:rPr b="0" sz="1100">
                <a:solidFill>
                  <a:srgbClr val="21140E"/>
                </a:solidFill>
                <a:latin typeface="Segoe UI"/>
              </a:rPr>
              <a:t>Propuesta de Robin Hanson: la ciudadanía elige la métrica nacional de bienestar deseada (p. ej. PIB + esperanza de vida). Los mercados de predicción determinan qué políticas maximizan dicha métrica.</a:t>
            </a:r>
          </a:p>
          <a:p>
            <a:pPr>
              <a:spcAft>
                <a:spcPts val="800"/>
              </a:spcAft>
            </a:pPr>
            <a:r>
              <a:rPr b="1" sz="1100">
                <a:solidFill>
                  <a:srgbClr val="DA4100"/>
                </a:solidFill>
                <a:latin typeface="Segoe UI"/>
              </a:rPr>
              <a:t>• Mercados Condicionales Paralelos: </a:t>
            </a:r>
            <a:r>
              <a:rPr b="0" sz="1100">
                <a:solidFill>
                  <a:srgbClr val="21140E"/>
                </a:solidFill>
                <a:latin typeface="Segoe UI"/>
              </a:rPr>
              <a:t>Se abren dos mercados: 'PIB si se aprueba la Política X' vs 'PIB si se rechaza la Política X'. Aquella política cuya cotización sea superior se convierte automáticamente en ley.</a:t>
            </a:r>
          </a:p>
          <a:p>
            <a:pPr>
              <a:spcAft>
                <a:spcPts val="800"/>
              </a:spcAft>
            </a:pPr>
            <a:r>
              <a:rPr b="1" sz="1100">
                <a:solidFill>
                  <a:srgbClr val="DA4100"/>
                </a:solidFill>
                <a:latin typeface="Segoe UI"/>
              </a:rPr>
              <a:t>• Eliminación del Populismo Retórico: </a:t>
            </a:r>
            <a:r>
              <a:rPr b="0" sz="1100">
                <a:solidFill>
                  <a:srgbClr val="21140E"/>
                </a:solidFill>
                <a:latin typeface="Segoe UI"/>
              </a:rPr>
              <a:t>Sustituye discursos vacíos y promesas electorales por pronósticos cuantitativos respaldados por capital financiero.</a:t>
            </a:r>
          </a:p>
          <a:p>
            <a:pPr>
              <a:spcAft>
                <a:spcPts val="800"/>
              </a:spcAft>
            </a:pPr>
            <a:r>
              <a:rPr b="1" sz="1100">
                <a:solidFill>
                  <a:srgbClr val="DA4100"/>
                </a:solidFill>
                <a:latin typeface="Segoe UI"/>
              </a:rPr>
              <a:t>• Ensayos en DAOs de Web3: </a:t>
            </a:r>
            <a:r>
              <a:rPr b="0" sz="1100">
                <a:solidFill>
                  <a:srgbClr val="21140E"/>
                </a:solidFill>
                <a:latin typeface="Segoe UI"/>
              </a:rPr>
              <a:t>Organizaciones Autónomas Descentralizadas ensayan futarquía para la asignación de tesorerías de decenas de millones de dólares.</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Especuladores Autónomos Impulsados por IA</a:t>
            </a:r>
          </a:p>
          <a:p>
            <a:pPr>
              <a:spcAft>
                <a:spcPts val="800"/>
              </a:spcAft>
            </a:pPr>
            <a:r>
              <a:rPr b="1" sz="1100">
                <a:solidFill>
                  <a:srgbClr val="FF5900"/>
                </a:solidFill>
                <a:latin typeface="Segoe UI"/>
              </a:rPr>
              <a:t>1. Scrapers de Alta Velocidad y LLMs: </a:t>
            </a:r>
            <a:r>
              <a:rPr b="0" sz="1100">
                <a:solidFill>
                  <a:srgbClr val="F5EDE4"/>
                </a:solidFill>
                <a:latin typeface="Segoe UI"/>
              </a:rPr>
              <a:t>Bots algorítmicos conectados vía API procesan despachos informativos, transcripciones e imágenes satelitales en fracciones de segundo.</a:t>
            </a:r>
          </a:p>
          <a:p>
            <a:pPr>
              <a:spcAft>
                <a:spcPts val="800"/>
              </a:spcAft>
            </a:pPr>
            <a:r>
              <a:rPr b="1" sz="1100">
                <a:solidFill>
                  <a:srgbClr val="FF5900"/>
                </a:solidFill>
                <a:latin typeface="Segoe UI"/>
              </a:rPr>
              <a:t>2. Calibración Continua de Probabilidades: </a:t>
            </a:r>
            <a:r>
              <a:rPr b="0" sz="1100">
                <a:solidFill>
                  <a:srgbClr val="F5EDE4"/>
                </a:solidFill>
                <a:latin typeface="Segoe UI"/>
              </a:rPr>
              <a:t>Modelos de IA multimodales reajustan probabilidades en tiempo real y disparan operaciones ante divergencias frente al consenso de mercado.</a:t>
            </a:r>
          </a:p>
          <a:p>
            <a:pPr>
              <a:spcAft>
                <a:spcPts val="800"/>
              </a:spcAft>
            </a:pPr>
            <a:r>
              <a:rPr b="1" sz="1100">
                <a:solidFill>
                  <a:srgbClr val="FF5900"/>
                </a:solidFill>
                <a:latin typeface="Segoe UI"/>
              </a:rPr>
              <a:t>3. Motores de Búsqueda Predictivos: </a:t>
            </a:r>
            <a:r>
              <a:rPr b="0" sz="1100">
                <a:solidFill>
                  <a:srgbClr val="F5EDE4"/>
                </a:solidFill>
                <a:latin typeface="Segoe UI"/>
              </a:rPr>
              <a:t>Las plataformas de información del futuro sintetizarán probabilidades de mercado en lugar de listas de enlaces para responder preguntas prospectivas.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FRONTERA LEGAL Y REGULATORIA</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Desafíos Regulatorios y Perspectivas: CFTC, Apuestas e Información Privilegiada</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21/22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Principales Fricciones Legales y Estructurales</a:t>
            </a:r>
          </a:p>
          <a:p>
            <a:pPr>
              <a:spcAft>
                <a:spcPts val="800"/>
              </a:spcAft>
            </a:pPr>
            <a:r>
              <a:rPr b="1" sz="1100">
                <a:solidFill>
                  <a:srgbClr val="DA4100"/>
                </a:solidFill>
                <a:latin typeface="Segoe UI"/>
              </a:rPr>
              <a:t>• Clasificación de Apuesta frente a Cobertura: </a:t>
            </a:r>
            <a:r>
              <a:rPr b="0" sz="1100">
                <a:solidFill>
                  <a:srgbClr val="21140E"/>
                </a:solidFill>
                <a:latin typeface="Segoe UI"/>
              </a:rPr>
              <a:t>Comisiones de juego estatales sostienen que son apuestas deportivas o loterías encubiertas; la CFTC defiende la supremacía federal sobre derivados financieros.</a:t>
            </a:r>
          </a:p>
          <a:p>
            <a:pPr>
              <a:spcAft>
                <a:spcPts val="800"/>
              </a:spcAft>
            </a:pPr>
            <a:r>
              <a:rPr b="1" sz="1100">
                <a:solidFill>
                  <a:srgbClr val="DA4100"/>
                </a:solidFill>
                <a:latin typeface="Segoe UI"/>
              </a:rPr>
              <a:t>• El Dilema de Información Privilegiada (Insider Trading): </a:t>
            </a:r>
            <a:r>
              <a:rPr b="0" sz="1100">
                <a:solidFill>
                  <a:srgbClr val="21140E"/>
                </a:solidFill>
                <a:latin typeface="Segoe UI"/>
              </a:rPr>
              <a:t>La regla SEC 10b-5 aplica a valores corporativos. ¿Incurre en delito un asesor gubernamental o miembro de campaña que negocia contratos con base en encuestas privadas internas? La legislación actual exhibe vacíos estatutarios.</a:t>
            </a:r>
          </a:p>
          <a:p>
            <a:pPr>
              <a:spcAft>
                <a:spcPts val="800"/>
              </a:spcAft>
            </a:pPr>
            <a:r>
              <a:rPr b="1" sz="1100">
                <a:solidFill>
                  <a:srgbClr val="DA4100"/>
                </a:solidFill>
                <a:latin typeface="Segoe UI"/>
              </a:rPr>
              <a:t>• Riesgo Moral y Mercados 'Inadmisibles': </a:t>
            </a:r>
            <a:r>
              <a:rPr b="0" sz="1100">
                <a:solidFill>
                  <a:srgbClr val="21140E"/>
                </a:solidFill>
                <a:latin typeface="Segoe UI"/>
              </a:rPr>
              <a:t>Los organismos reguladores prohíben terminantemente contratos ligados a víctimas de guerra, atentados o magnicidios para prevenir incentivos criminales.</a:t>
            </a:r>
          </a:p>
          <a:p>
            <a:pPr>
              <a:spcAft>
                <a:spcPts val="800"/>
              </a:spcAft>
            </a:pPr>
            <a:r>
              <a:rPr b="1" sz="1100">
                <a:solidFill>
                  <a:srgbClr val="DA4100"/>
                </a:solidFill>
                <a:latin typeface="Segoe UI"/>
              </a:rPr>
              <a:t>• Fricción de Licenciamiento Internacional: </a:t>
            </a:r>
            <a:r>
              <a:rPr b="0" sz="1100">
                <a:solidFill>
                  <a:srgbClr val="21140E"/>
                </a:solidFill>
                <a:latin typeface="Segoe UI"/>
              </a:rPr>
              <a:t>Disputas competenciales entre reguladores de apuestas y entidades financieras en Reino Unido y Unión Europea.</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Recomendaciones Estratégicas de Política</a:t>
            </a:r>
          </a:p>
          <a:p>
            <a:pPr>
              <a:spcAft>
                <a:spcPts val="800"/>
              </a:spcAft>
            </a:pPr>
            <a:r>
              <a:rPr b="1" sz="1100">
                <a:solidFill>
                  <a:srgbClr val="FF5900"/>
                </a:solidFill>
                <a:latin typeface="Segoe UI"/>
              </a:rPr>
              <a:t>1. Marco Regulatorio Dedicado: </a:t>
            </a:r>
            <a:r>
              <a:rPr b="0" sz="1100">
                <a:solidFill>
                  <a:srgbClr val="F5EDE4"/>
                </a:solidFill>
                <a:latin typeface="Segoe UI"/>
              </a:rPr>
              <a:t>El Congreso y la CFTC deben formular un sandbox normativo para Contratos de Eventos que equilibre su valor de cobertura con la protección al consumidor.</a:t>
            </a:r>
          </a:p>
          <a:p>
            <a:pPr>
              <a:spcAft>
                <a:spcPts val="800"/>
              </a:spcAft>
            </a:pPr>
            <a:r>
              <a:rPr b="1" sz="1100">
                <a:solidFill>
                  <a:srgbClr val="FF5900"/>
                </a:solidFill>
                <a:latin typeface="Segoe UI"/>
              </a:rPr>
              <a:t>2. Transparencia de Billeteras en Web3: </a:t>
            </a:r>
            <a:r>
              <a:rPr b="0" sz="1100">
                <a:solidFill>
                  <a:srgbClr val="F5EDE4"/>
                </a:solidFill>
                <a:latin typeface="Segoe UI"/>
              </a:rPr>
              <a:t>Exigir divulgación de clusters de direcciones interconectadas en protocolos descentralizados para evitar volumen simulado (wash trading).</a:t>
            </a:r>
          </a:p>
          <a:p>
            <a:pPr>
              <a:spcAft>
                <a:spcPts val="800"/>
              </a:spcAft>
            </a:pPr>
            <a:r>
              <a:rPr b="1" sz="1100">
                <a:solidFill>
                  <a:srgbClr val="FF5900"/>
                </a:solidFill>
                <a:latin typeface="Segoe UI"/>
              </a:rPr>
              <a:t>3. Oráculos con Firma Criptográfica Soberana: </a:t>
            </a:r>
            <a:r>
              <a:rPr b="0" sz="1100">
                <a:solidFill>
                  <a:srgbClr val="F5EDE4"/>
                </a:solidFill>
                <a:latin typeface="Segoe UI"/>
              </a:rPr>
              <a:t>Estandarizar APIs con firma digital criptográfica directa desde agencias públicas (BLS, NOAA) para prevenir discrepancias de resolución.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solidFill>
              <a:srgbClr val="FAF7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8686800" cy="320040"/>
          </a:xfrm>
          <a:prstGeom prst="rect">
            <a:avLst/>
          </a:prstGeom>
          <a:noFill/>
        </p:spPr>
        <p:txBody>
          <a:bodyPr wrap="square" lIns="0" tIns="0" rIns="0" bIns="0">
            <a:spAutoFit/>
          </a:bodyPr>
          <a:lstStyle/>
          <a:p>
            <a:pPr>
              <a:defRPr sz="1000" b="1">
                <a:solidFill>
                  <a:srgbClr val="DA4100"/>
                </a:solidFill>
                <a:latin typeface="Segoe UI"/>
              </a:defRPr>
            </a:pPr>
            <a:r>
              <a:t>CIERRE DE LA CLASE</a:t>
            </a:r>
          </a:p>
        </p:txBody>
      </p:sp>
      <p:sp>
        <p:nvSpPr>
          <p:cNvPr id="4" name="TextBox 3"/>
          <p:cNvSpPr txBox="1"/>
          <p:nvPr/>
        </p:nvSpPr>
        <p:spPr>
          <a:xfrm>
            <a:off x="731520" y="658368"/>
            <a:ext cx="8961120" cy="594360"/>
          </a:xfrm>
          <a:prstGeom prst="rect">
            <a:avLst/>
          </a:prstGeom>
          <a:noFill/>
        </p:spPr>
        <p:txBody>
          <a:bodyPr wrap="square" lIns="0" tIns="0" rIns="0" bIns="0">
            <a:spAutoFit/>
          </a:bodyPr>
          <a:lstStyle/>
          <a:p>
            <a:pPr>
              <a:defRPr sz="2100" b="1">
                <a:solidFill>
                  <a:srgbClr val="21140E"/>
                </a:solidFill>
                <a:latin typeface="Segoe UI"/>
              </a:defRPr>
            </a:pPr>
            <a:r>
              <a:t>Conclusiones Clave y Preguntas de Debate para la Clase</a:t>
            </a:r>
          </a:p>
        </p:txBody>
      </p:sp>
      <p:pic>
        <p:nvPicPr>
          <p:cNvPr id="5" name="Picture 4" descr="logo_anahuac.png"/>
          <p:cNvPicPr>
            <a:picLocks noChangeAspect="1"/>
          </p:cNvPicPr>
          <p:nvPr/>
        </p:nvPicPr>
        <p:blipFill>
          <a:blip r:embed="rId2"/>
          <a:stretch>
            <a:fillRect/>
          </a:stretch>
        </p:blipFill>
        <p:spPr>
          <a:xfrm>
            <a:off x="9966960" y="384048"/>
            <a:ext cx="1463040" cy="415517"/>
          </a:xfrm>
          <a:prstGeom prst="rect">
            <a:avLst/>
          </a:prstGeom>
        </p:spPr>
      </p:pic>
      <p:sp>
        <p:nvSpPr>
          <p:cNvPr id="6" name="Rectangle 5"/>
          <p:cNvSpPr/>
          <p:nvPr/>
        </p:nvSpPr>
        <p:spPr>
          <a:xfrm>
            <a:off x="731520" y="1280160"/>
            <a:ext cx="4114800" cy="36576"/>
          </a:xfrm>
          <a:prstGeom prst="rect">
            <a:avLst/>
          </a:prstGeom>
          <a:solidFill>
            <a:srgbClr val="FF5900"/>
          </a:solidFill>
          <a:ln>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846320" y="1280160"/>
            <a:ext cx="6613855" cy="18288"/>
          </a:xfrm>
          <a:prstGeom prst="rect">
            <a:avLst/>
          </a:prstGeom>
          <a:solidFill>
            <a:srgbClr val="E5DDD3"/>
          </a:solidFill>
          <a:ln>
            <a:solidFill>
              <a:srgbClr val="E5D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473952"/>
            <a:ext cx="10728655" cy="292608"/>
          </a:xfrm>
          <a:prstGeom prst="rect">
            <a:avLst/>
          </a:prstGeom>
          <a:noFill/>
        </p:spPr>
        <p:txBody>
          <a:bodyPr wrap="none" lIns="0" tIns="0" rIns="0" bIns="0">
            <a:spAutoFit/>
          </a:bodyPr>
          <a:lstStyle/>
          <a:p>
            <a:pPr>
              <a:defRPr sz="900">
                <a:solidFill>
                  <a:srgbClr val="736357"/>
                </a:solidFill>
                <a:latin typeface="Segoe UI"/>
              </a:defRPr>
            </a:pPr>
            <a:r>
              <a:t>© J. Christopher Westland. Todos los derechos reservados.  |  hosted by Universidad Anáhuac Mayab  |  Mercados de Predicción: Kalshi &amp; Polymarket  |  Slide 22/22</a:t>
            </a:r>
          </a:p>
        </p:txBody>
      </p:sp>
      <p:sp>
        <p:nvSpPr>
          <p:cNvPr id="9" name="Rounded Rectangle 8"/>
          <p:cNvSpPr/>
          <p:nvPr/>
        </p:nvSpPr>
        <p:spPr>
          <a:xfrm>
            <a:off x="731520" y="1554480"/>
            <a:ext cx="5303520" cy="4572000"/>
          </a:xfrm>
          <a:prstGeom prst="roundRect">
            <a:avLst>
              <a:gd name="adj" fmla="val 4000"/>
            </a:avLst>
          </a:prstGeom>
          <a:solidFill>
            <a:srgbClr val="FFFFFF"/>
          </a:solidFill>
          <a:ln w="2286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737360"/>
            <a:ext cx="4937760" cy="4114800"/>
          </a:xfrm>
          <a:prstGeom prst="rect">
            <a:avLst/>
          </a:prstGeom>
          <a:noFill/>
        </p:spPr>
        <p:txBody>
          <a:bodyPr wrap="square">
            <a:spAutoFit/>
          </a:bodyPr>
          <a:lstStyle/>
          <a:p>
            <a:pPr>
              <a:spcAft>
                <a:spcPts val="1000"/>
              </a:spcAft>
              <a:defRPr sz="1500" b="1">
                <a:solidFill>
                  <a:srgbClr val="DA4100"/>
                </a:solidFill>
              </a:defRPr>
            </a:pPr>
            <a:r>
              <a:t>Síntesis Conceptual del Curso</a:t>
            </a:r>
          </a:p>
          <a:p>
            <a:pPr>
              <a:spcAft>
                <a:spcPts val="750"/>
              </a:spcAft>
            </a:pPr>
            <a:r>
              <a:rPr b="1" sz="1050">
                <a:solidFill>
                  <a:srgbClr val="DA4100"/>
                </a:solidFill>
                <a:latin typeface="Segoe UI"/>
              </a:rPr>
              <a:t>• La Información como Activo: </a:t>
            </a:r>
            <a:r>
              <a:rPr b="0" sz="1050">
                <a:solidFill>
                  <a:srgbClr val="21140E"/>
                </a:solidFill>
                <a:latin typeface="Segoe UI"/>
              </a:rPr>
              <a:t>Los mercados de predicción convierten creencias privadas dispersas en probabilidades calibradas neutrales al riesgo, superando a los sondeos de opinión.</a:t>
            </a:r>
          </a:p>
          <a:p>
            <a:pPr>
              <a:spcAft>
                <a:spcPts val="750"/>
              </a:spcAft>
            </a:pPr>
            <a:r>
              <a:rPr b="1" sz="1050">
                <a:solidFill>
                  <a:srgbClr val="DA4100"/>
                </a:solidFill>
                <a:latin typeface="Segoe UI"/>
              </a:rPr>
              <a:t>• Microestructura Binaria: </a:t>
            </a:r>
            <a:r>
              <a:rPr b="0" sz="1050">
                <a:solidFill>
                  <a:srgbClr val="21140E"/>
                </a:solidFill>
                <a:latin typeface="Segoe UI"/>
              </a:rPr>
              <a:t>Los contratos de eventos representan derechos de Arrow-Debreu regidos por la restricción complementaria $Precio(SÍ) + Precio(NO) = $1.00 USD$.</a:t>
            </a:r>
          </a:p>
          <a:p>
            <a:pPr>
              <a:spcAft>
                <a:spcPts val="750"/>
              </a:spcAft>
            </a:pPr>
            <a:r>
              <a:rPr b="1" sz="1050">
                <a:solidFill>
                  <a:srgbClr val="DA4100"/>
                </a:solidFill>
                <a:latin typeface="Segoe UI"/>
              </a:rPr>
              <a:t>• Divergencia Kalshi vs. Polymarket: </a:t>
            </a:r>
            <a:r>
              <a:rPr b="0" sz="1050">
                <a:solidFill>
                  <a:srgbClr val="21140E"/>
                </a:solidFill>
                <a:latin typeface="Segoe UI"/>
              </a:rPr>
              <a:t>Kalshi encarna la ruta institucional, regulada por la CFTC y liquidada en dólares; Polymarket representa la liquidez global sin fronteras basada en Web3 y USDC.</a:t>
            </a:r>
          </a:p>
          <a:p>
            <a:pPr>
              <a:spcAft>
                <a:spcPts val="750"/>
              </a:spcAft>
            </a:pPr>
            <a:r>
              <a:rPr b="1" sz="1050">
                <a:solidFill>
                  <a:srgbClr val="DA4100"/>
                </a:solidFill>
                <a:latin typeface="Segoe UI"/>
              </a:rPr>
              <a:t>• El Imperativo del Oráculo: </a:t>
            </a:r>
            <a:r>
              <a:rPr b="0" sz="1050">
                <a:solidFill>
                  <a:srgbClr val="21140E"/>
                </a:solidFill>
                <a:latin typeface="Segoe UI"/>
              </a:rPr>
              <a:t>Un mercado es tan robusto como su mecanismo de resolución; los modelos centralizados dependen del rigor contractual, mientras los descentralizados dependen de incentivos económicos (UMA).</a:t>
            </a:r>
          </a:p>
        </p:txBody>
      </p:sp>
      <p:sp>
        <p:nvSpPr>
          <p:cNvPr id="11" name="Rounded Rectangle 10"/>
          <p:cNvSpPr/>
          <p:nvPr/>
        </p:nvSpPr>
        <p:spPr>
          <a:xfrm>
            <a:off x="6309360" y="1554480"/>
            <a:ext cx="5120640" cy="4572000"/>
          </a:xfrm>
          <a:prstGeom prst="roundRect">
            <a:avLst>
              <a:gd name="adj" fmla="val 4000"/>
            </a:avLst>
          </a:prstGeom>
          <a:solidFill>
            <a:srgbClr val="3D2314"/>
          </a:solidFill>
          <a:ln w="25400">
            <a:solidFill>
              <a:srgbClr val="FF5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737360"/>
            <a:ext cx="4754880" cy="4114800"/>
          </a:xfrm>
          <a:prstGeom prst="rect">
            <a:avLst/>
          </a:prstGeom>
          <a:noFill/>
        </p:spPr>
        <p:txBody>
          <a:bodyPr wrap="square">
            <a:spAutoFit/>
          </a:bodyPr>
          <a:lstStyle/>
          <a:p>
            <a:pPr>
              <a:spcAft>
                <a:spcPts val="1000"/>
              </a:spcAft>
              <a:defRPr sz="1500" b="1">
                <a:solidFill>
                  <a:srgbClr val="FF5900"/>
                </a:solidFill>
              </a:defRPr>
            </a:pPr>
            <a:r>
              <a:t>Preguntas para Debate en Clase</a:t>
            </a:r>
          </a:p>
          <a:p>
            <a:pPr>
              <a:spcAft>
                <a:spcPts val="900"/>
              </a:spcAft>
            </a:pPr>
            <a:r>
              <a:rPr b="1" sz="1050">
                <a:solidFill>
                  <a:srgbClr val="FF5900"/>
                </a:solidFill>
                <a:latin typeface="Segoe UI"/>
              </a:rPr>
              <a:t>1. Democracia vs. Especulación Financiera: </a:t>
            </a:r>
            <a:r>
              <a:rPr b="0" sz="1050">
                <a:solidFill>
                  <a:srgbClr val="F5EDE4"/>
                </a:solidFill>
                <a:latin typeface="Segoe UI"/>
              </a:rPr>
              <a:t>¿Fortalecen los mercados de predicción la rendición de cuentas democrática al proveer datos objetivos de probabilidad, o degradan la participación cívica convirtiéndola en apuestas comerciales?</a:t>
            </a:r>
          </a:p>
          <a:p>
            <a:pPr>
              <a:spcAft>
                <a:spcPts val="900"/>
              </a:spcAft>
            </a:pPr>
            <a:r>
              <a:rPr b="1" sz="1050">
                <a:solidFill>
                  <a:srgbClr val="FF5900"/>
                </a:solidFill>
                <a:latin typeface="Segoe UI"/>
              </a:rPr>
              <a:t>2. La Frontera de la Información Privilegiada: </a:t>
            </a:r>
            <a:r>
              <a:rPr b="0" sz="1050">
                <a:solidFill>
                  <a:srgbClr val="F5EDE4"/>
                </a:solidFill>
                <a:latin typeface="Segoe UI"/>
              </a:rPr>
              <a:t>Si un asesor corporativo o funcionario público opera con información regulatoria aún no divulgada, ¿vulnera la integridad del mercado o acelera el descubrimiento de precios socialmente útil?</a:t>
            </a:r>
          </a:p>
          <a:p>
            <a:pPr>
              <a:spcAft>
                <a:spcPts val="900"/>
              </a:spcAft>
            </a:pPr>
            <a:r>
              <a:rPr b="1" sz="1050">
                <a:solidFill>
                  <a:srgbClr val="FF5900"/>
                </a:solidFill>
                <a:latin typeface="Segoe UI"/>
              </a:rPr>
              <a:t>3. Supremacía Centralizada vs. Descentralizada: </a:t>
            </a:r>
            <a:r>
              <a:rPr b="0" sz="1050">
                <a:solidFill>
                  <a:srgbClr val="F5EDE4"/>
                </a:solidFill>
                <a:latin typeface="Segoe UI"/>
              </a:rPr>
              <a:t>¿Qué modelo liderará las finanzas de la información en la próxima década: la arquitectura regulada, respaldada en fiat de Kalshi, o la liquidez global sin custodia de Polymarket?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5900"/>
      </a:hlink>
      <a:folHlink>
        <a:srgbClr val="FFA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