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8" r:id="rId10"/>
    <p:sldId id="269" r:id="rId11"/>
    <p:sldId id="270" r:id="rId12"/>
    <p:sldId id="271" r:id="rId13"/>
    <p:sldId id="282" r:id="rId14"/>
    <p:sldId id="283" r:id="rId15"/>
    <p:sldId id="284" r:id="rId16"/>
    <p:sldId id="289" r:id="rId17"/>
    <p:sldId id="293" r:id="rId18"/>
    <p:sldId id="294" r:id="rId19"/>
    <p:sldId id="295" r:id="rId20"/>
    <p:sldId id="296" r:id="rId21"/>
    <p:sldId id="297" r:id="rId22"/>
    <p:sldId id="298" r:id="rId23"/>
    <p:sldId id="303" r:id="rId24"/>
    <p:sldId id="304" r:id="rId25"/>
    <p:sldId id="305" r:id="rId26"/>
    <p:sldId id="306" r:id="rId27"/>
    <p:sldId id="307" r:id="rId28"/>
    <p:sldId id="308" r:id="rId29"/>
    <p:sldId id="309" r:id="rId30"/>
    <p:sldId id="310" r:id="rId31"/>
    <p:sldId id="311" r:id="rId32"/>
    <p:sldId id="312" r:id="rId33"/>
    <p:sldId id="313" r:id="rId34"/>
    <p:sldId id="314" r:id="rId35"/>
    <p:sldId id="315"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0" d="100"/>
          <a:sy n="60" d="100"/>
        </p:scale>
        <p:origin x="78" y="10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err="1"/>
              <a:t>Bienvenidos</a:t>
            </a:r>
            <a:r>
              <a:rPr dirty="0"/>
              <a:t> al Futuro del Marketing y la IA</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Un Mundo Nuevo: </a:t>
            </a:r>
            <a:r>
              <a:rPr sz="1300">
                <a:solidFill>
                  <a:srgbClr val="3D2314"/>
                </a:solidFill>
                <a:latin typeface="Segoe UI"/>
              </a:rPr>
              <a:t>Antes, el marketing era poner anuncios en televisión o carteles en la calle. Hoy, las computadoras hablan entre sí para decidir qué se vende.</a:t>
            </a:r>
          </a:p>
          <a:p>
            <a:pPr>
              <a:lnSpc>
                <a:spcPct val="125000"/>
              </a:lnSpc>
              <a:spcAft>
                <a:spcPts val="1200"/>
              </a:spcAft>
            </a:pPr>
            <a:r>
              <a:rPr sz="1400" b="1">
                <a:solidFill>
                  <a:srgbClr val="FF5900"/>
                </a:solidFill>
                <a:latin typeface="Segoe UI"/>
              </a:rPr>
              <a:t>• </a:t>
            </a:r>
            <a:r>
              <a:rPr sz="1350" b="1">
                <a:solidFill>
                  <a:srgbClr val="21140E"/>
                </a:solidFill>
                <a:latin typeface="Segoe UI"/>
              </a:rPr>
              <a:t>Lo Que Aprenderás: </a:t>
            </a:r>
            <a:r>
              <a:rPr sz="1300">
                <a:solidFill>
                  <a:srgbClr val="3D2314"/>
                </a:solidFill>
                <a:latin typeface="Segoe UI"/>
              </a:rPr>
              <a:t>Cómo funcionan las subastas de anuncios, cómo los robots de IA trabajan en equipo y cómo las empresas están cambiando para siempre.</a:t>
            </a:r>
          </a:p>
          <a:p>
            <a:pPr>
              <a:lnSpc>
                <a:spcPct val="125000"/>
              </a:lnSpc>
              <a:spcAft>
                <a:spcPts val="1200"/>
              </a:spcAft>
            </a:pPr>
            <a:r>
              <a:rPr sz="1400" b="1">
                <a:solidFill>
                  <a:srgbClr val="FF5900"/>
                </a:solidFill>
                <a:latin typeface="Segoe UI"/>
              </a:rPr>
              <a:t>• </a:t>
            </a:r>
            <a:r>
              <a:rPr sz="1350" b="1">
                <a:solidFill>
                  <a:srgbClr val="21140E"/>
                </a:solidFill>
                <a:latin typeface="Segoe UI"/>
              </a:rPr>
              <a:t>De la Escuela a la Realidad: </a:t>
            </a:r>
            <a:r>
              <a:rPr sz="1300">
                <a:solidFill>
                  <a:srgbClr val="3D2314"/>
                </a:solidFill>
                <a:latin typeface="Segoe UI"/>
              </a:rPr>
              <a:t>Verás cómo los bots negocian acuerdos, cómo rastrean tu mirada y por qué Jack Dorsey está reconstruyendo empresas como 'cerebros vivos.'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Gran Idea: ¡No solo estás aprendiendo a usar herramientas de IA, estás aprendiendo a liderar un equipo de empleados digitales!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1.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Humanos y robots de IA trabajando juntos como un equipo inteligente.</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 de 60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De </a:t>
            </a:r>
            <a:r>
              <a:rPr dirty="0" err="1"/>
              <a:t>Buscar</a:t>
            </a:r>
            <a:r>
              <a:rPr dirty="0"/>
              <a:t> a </a:t>
            </a:r>
            <a:r>
              <a:rPr dirty="0" err="1"/>
              <a:t>Deslizar</a:t>
            </a:r>
            <a:r>
              <a:rPr dirty="0"/>
              <a:t>: El Cambio de </a:t>
            </a:r>
            <a:r>
              <a:rPr dirty="0" err="1"/>
              <a:t>Atención</a:t>
            </a:r>
            <a:endParaRPr dirty="0"/>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Forma Anterior (Búsqueda): </a:t>
            </a:r>
            <a:r>
              <a:rPr sz="1300">
                <a:solidFill>
                  <a:srgbClr val="3D2314"/>
                </a:solidFill>
                <a:latin typeface="Segoe UI"/>
              </a:rPr>
              <a:t>Hace diez años, si querías comprar una patineta, entrabas a Google y escribías 'comprar patineta'. Tú preguntabas primero y Google respondía.</a:t>
            </a:r>
          </a:p>
          <a:p>
            <a:pPr>
              <a:lnSpc>
                <a:spcPct val="125000"/>
              </a:lnSpc>
              <a:spcAft>
                <a:spcPts val="1200"/>
              </a:spcAft>
            </a:pPr>
            <a:r>
              <a:rPr sz="1400" b="1">
                <a:solidFill>
                  <a:srgbClr val="FF5900"/>
                </a:solidFill>
                <a:latin typeface="Segoe UI"/>
              </a:rPr>
              <a:t>• </a:t>
            </a:r>
            <a:r>
              <a:rPr sz="1350" b="1">
                <a:solidFill>
                  <a:srgbClr val="21140E"/>
                </a:solidFill>
                <a:latin typeface="Segoe UI"/>
              </a:rPr>
              <a:t>La Forma Actual (Descubrimiento): </a:t>
            </a:r>
            <a:r>
              <a:rPr sz="1300">
                <a:solidFill>
                  <a:srgbClr val="3D2314"/>
                </a:solidFill>
                <a:latin typeface="Segoe UI"/>
              </a:rPr>
              <a:t>Hoy en TikTok o Instagram no buscas nada. La aplicación observa lo que te gusta y te muestra videos divertidos de inmediato.</a:t>
            </a:r>
          </a:p>
          <a:p>
            <a:pPr>
              <a:lnSpc>
                <a:spcPct val="125000"/>
              </a:lnSpc>
              <a:spcAft>
                <a:spcPts val="1200"/>
              </a:spcAft>
            </a:pPr>
            <a:r>
              <a:rPr sz="1400" b="1">
                <a:solidFill>
                  <a:srgbClr val="FF5900"/>
                </a:solidFill>
                <a:latin typeface="Segoe UI"/>
              </a:rPr>
              <a:t>• </a:t>
            </a:r>
            <a:r>
              <a:rPr sz="1350" b="1">
                <a:solidFill>
                  <a:srgbClr val="21140E"/>
                </a:solidFill>
                <a:latin typeface="Segoe UI"/>
              </a:rPr>
              <a:t>La Guerra por Tus Ojos: </a:t>
            </a:r>
            <a:r>
              <a:rPr sz="1300">
                <a:solidFill>
                  <a:srgbClr val="3D2314"/>
                </a:solidFill>
                <a:latin typeface="Segoe UI"/>
              </a:rPr>
              <a:t>Las marcas gastan más de $875 mil millones de dólares al año intentando que detengas tu dedo y mires sus productos.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Piénsalo así: Buscar en Google es como consultar un diccionario. El feed es como un amigo lanzándote dulces hasta que atrapas uno.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2.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Búsqueda clásica en Google vs. feed infinito de videos en el celular.</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 de 60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La Era Dorada de Google: Vender lo </a:t>
            </a:r>
            <a:r>
              <a:rPr dirty="0" err="1"/>
              <a:t>que</a:t>
            </a:r>
            <a:r>
              <a:rPr dirty="0"/>
              <a:t> Buscas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Gran Idea: </a:t>
            </a:r>
            <a:r>
              <a:rPr sz="1300">
                <a:solidFill>
                  <a:srgbClr val="3D2314"/>
                </a:solidFill>
                <a:latin typeface="Segoe UI"/>
              </a:rPr>
              <a:t>En el año 2000, Google se dio cuenta de que quien busca 'dentista cerca de mí' o 'comprar tenis' ¡está listo para gastar dinero en ese segundo!</a:t>
            </a:r>
          </a:p>
          <a:p>
            <a:pPr>
              <a:lnSpc>
                <a:spcPct val="125000"/>
              </a:lnSpc>
              <a:spcAft>
                <a:spcPts val="1200"/>
              </a:spcAft>
            </a:pPr>
            <a:r>
              <a:rPr sz="1400" b="1">
                <a:solidFill>
                  <a:srgbClr val="FF5900"/>
                </a:solidFill>
                <a:latin typeface="Segoe UI"/>
              </a:rPr>
              <a:t>• </a:t>
            </a:r>
            <a:r>
              <a:rPr sz="1350" b="1">
                <a:solidFill>
                  <a:srgbClr val="21140E"/>
                </a:solidFill>
                <a:latin typeface="Segoe UI"/>
              </a:rPr>
              <a:t>Pago por Clic (PPC): </a:t>
            </a:r>
            <a:r>
              <a:rPr sz="1300">
                <a:solidFill>
                  <a:srgbClr val="3D2314"/>
                </a:solidFill>
                <a:latin typeface="Segoe UI"/>
              </a:rPr>
              <a:t>Los anunciantes solo le pagan a Google cuando una persona real hace clic en su enlace. Si nadie hace clic, la empresa no paga nada.</a:t>
            </a:r>
          </a:p>
          <a:p>
            <a:pPr>
              <a:lnSpc>
                <a:spcPct val="125000"/>
              </a:lnSpc>
              <a:spcAft>
                <a:spcPts val="1200"/>
              </a:spcAft>
            </a:pPr>
            <a:r>
              <a:rPr sz="1400" b="1">
                <a:solidFill>
                  <a:srgbClr val="FF5900"/>
                </a:solidFill>
                <a:latin typeface="Segoe UI"/>
              </a:rPr>
              <a:t>• </a:t>
            </a:r>
            <a:r>
              <a:rPr sz="1350" b="1">
                <a:solidFill>
                  <a:srgbClr val="21140E"/>
                </a:solidFill>
                <a:latin typeface="Segoe UI"/>
              </a:rPr>
              <a:t>Los '10 Enlaces Azules': </a:t>
            </a:r>
            <a:r>
              <a:rPr sz="1300">
                <a:solidFill>
                  <a:srgbClr val="3D2314"/>
                </a:solidFill>
                <a:latin typeface="Segoe UI"/>
              </a:rPr>
              <a:t>Quien lograba aparecer en el primer lugar de Google se quedaba con casi todos los clientes. Esto desató una carrera gigante.</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Recuerda: Una búsqueda en Google es como entrar a una tienda y preguntar: '¿Dónde están los tenis?' ¡Es facilísimo venderle a esa persona!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3.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lupa enfocando la intención real de compra de un usuario.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 de 60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El Feed Infinito: </a:t>
            </a:r>
            <a:r>
              <a:rPr dirty="0" err="1"/>
              <a:t>Atrapando</a:t>
            </a:r>
            <a:r>
              <a:rPr dirty="0"/>
              <a:t> </a:t>
            </a:r>
            <a:r>
              <a:rPr dirty="0" err="1"/>
              <a:t>tu</a:t>
            </a:r>
            <a:r>
              <a:rPr dirty="0"/>
              <a:t> Pulgar</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Sin Botón de Siguiente Página: </a:t>
            </a:r>
            <a:r>
              <a:rPr sz="1300">
                <a:solidFill>
                  <a:srgbClr val="3D2314"/>
                </a:solidFill>
                <a:latin typeface="Segoe UI"/>
              </a:rPr>
              <a:t>Aplicaciones como TikTok quitaron el botón de 'página siguiente'. Cuando deslizas hacia arriba, el nuevo video carga de inmediato.</a:t>
            </a:r>
          </a:p>
          <a:p>
            <a:pPr>
              <a:lnSpc>
                <a:spcPct val="125000"/>
              </a:lnSpc>
              <a:spcAft>
                <a:spcPts val="1200"/>
              </a:spcAft>
            </a:pPr>
            <a:r>
              <a:rPr sz="1400" b="1">
                <a:solidFill>
                  <a:srgbClr val="FF5900"/>
                </a:solidFill>
                <a:latin typeface="Segoe UI"/>
              </a:rPr>
              <a:t>• </a:t>
            </a:r>
            <a:r>
              <a:rPr sz="1350" b="1">
                <a:solidFill>
                  <a:srgbClr val="21140E"/>
                </a:solidFill>
                <a:latin typeface="Segoe UI"/>
              </a:rPr>
              <a:t>La Sorpresa de Dopamina: </a:t>
            </a:r>
            <a:r>
              <a:rPr sz="1300">
                <a:solidFill>
                  <a:srgbClr val="3D2314"/>
                </a:solidFill>
                <a:latin typeface="Segoe UI"/>
              </a:rPr>
              <a:t>Tu cerebro nunca sabe si el siguiente video será aburrido o graciosísimo. Esa sorpresa te mantiene deslizando por horas.</a:t>
            </a:r>
          </a:p>
          <a:p>
            <a:pPr>
              <a:lnSpc>
                <a:spcPct val="125000"/>
              </a:lnSpc>
              <a:spcAft>
                <a:spcPts val="1200"/>
              </a:spcAft>
            </a:pPr>
            <a:r>
              <a:rPr sz="1400" b="1">
                <a:solidFill>
                  <a:srgbClr val="FF5900"/>
                </a:solidFill>
                <a:latin typeface="Segoe UI"/>
              </a:rPr>
              <a:t>• </a:t>
            </a:r>
            <a:r>
              <a:rPr sz="1350" b="1">
                <a:solidFill>
                  <a:srgbClr val="21140E"/>
                </a:solidFill>
                <a:latin typeface="Segoe UI"/>
              </a:rPr>
              <a:t>Miles de Anuncios: </a:t>
            </a:r>
            <a:r>
              <a:rPr sz="1300">
                <a:solidFill>
                  <a:srgbClr val="3D2314"/>
                </a:solidFill>
                <a:latin typeface="Segoe UI"/>
              </a:rPr>
              <a:t>Cada 4 o 5 videos, la aplicación coloca un anuncio patrocinado sin que apenas te des cuenta.</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Regla de Oro: En el pasado, el usuario le decía a la computadora lo que quería. ¡Hoy, el algoritmo le dice al usuario lo que debe desear!</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4.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Tarjetas de video cayendo sin parar en un ciclo infinito.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 de 60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La </a:t>
            </a:r>
            <a:r>
              <a:rPr dirty="0" err="1"/>
              <a:t>Tubería</a:t>
            </a:r>
            <a:r>
              <a:rPr dirty="0"/>
              <a:t> Secreta: </a:t>
            </a:r>
            <a:r>
              <a:rPr dirty="0" err="1"/>
              <a:t>Cómo</a:t>
            </a:r>
            <a:r>
              <a:rPr dirty="0"/>
              <a:t> </a:t>
            </a:r>
            <a:r>
              <a:rPr dirty="0" err="1"/>
              <a:t>Llega</a:t>
            </a:r>
            <a:r>
              <a:rPr dirty="0"/>
              <a:t> un </a:t>
            </a:r>
            <a:r>
              <a:rPr dirty="0" err="1"/>
              <a:t>Anuncio</a:t>
            </a:r>
            <a:r>
              <a:rPr dirty="0"/>
              <a:t> a </a:t>
            </a:r>
            <a:r>
              <a:rPr dirty="0" err="1"/>
              <a:t>tu</a:t>
            </a:r>
            <a:r>
              <a:rPr dirty="0"/>
              <a:t> </a:t>
            </a:r>
            <a:r>
              <a:rPr dirty="0" err="1"/>
              <a:t>Celular</a:t>
            </a:r>
            <a:endParaRPr dirty="0"/>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Detrás de la Pantalla: </a:t>
            </a:r>
            <a:r>
              <a:rPr sz="1300">
                <a:solidFill>
                  <a:srgbClr val="3D2314"/>
                </a:solidFill>
                <a:latin typeface="Segoe UI"/>
              </a:rPr>
              <a:t>Al abrir un juego o sitio web, una cadena invisible de programas de software trabaja en milésimas de segundo.</a:t>
            </a:r>
          </a:p>
          <a:p>
            <a:pPr>
              <a:lnSpc>
                <a:spcPct val="125000"/>
              </a:lnSpc>
              <a:spcAft>
                <a:spcPts val="1200"/>
              </a:spcAft>
            </a:pPr>
            <a:r>
              <a:rPr sz="1400" b="1">
                <a:solidFill>
                  <a:srgbClr val="FF5900"/>
                </a:solidFill>
                <a:latin typeface="Segoe UI"/>
              </a:rPr>
              <a:t>• </a:t>
            </a:r>
            <a:r>
              <a:rPr sz="1350" b="1">
                <a:solidFill>
                  <a:srgbClr val="21140E"/>
                </a:solidFill>
                <a:latin typeface="Segoe UI"/>
              </a:rPr>
              <a:t>Los 5 Pasos: </a:t>
            </a:r>
            <a:r>
              <a:rPr sz="1300">
                <a:solidFill>
                  <a:srgbClr val="3D2314"/>
                </a:solidFill>
                <a:latin typeface="Segoe UI"/>
              </a:rPr>
              <a:t>1. La marca quiere vender. 2. Un bot comprador (DSP) busca pantallas. 3. La bolsa digital (Exchange) subasta el espacio. 4. El software del sitio (SSP) lo ofrece. 5. El anuncio aparece en tu teléfono.</a:t>
            </a:r>
          </a:p>
          <a:p>
            <a:pPr>
              <a:lnSpc>
                <a:spcPct val="125000"/>
              </a:lnSpc>
              <a:spcAft>
                <a:spcPts val="1200"/>
              </a:spcAft>
            </a:pPr>
            <a:r>
              <a:rPr sz="1400" b="1">
                <a:solidFill>
                  <a:srgbClr val="FF5900"/>
                </a:solidFill>
                <a:latin typeface="Segoe UI"/>
              </a:rPr>
              <a:t>• </a:t>
            </a:r>
            <a:r>
              <a:rPr sz="1350" b="1">
                <a:solidFill>
                  <a:srgbClr val="21140E"/>
                </a:solidFill>
                <a:latin typeface="Segoe UI"/>
              </a:rPr>
              <a:t>Tuberías Invisibles: </a:t>
            </a:r>
            <a:r>
              <a:rPr sz="1300">
                <a:solidFill>
                  <a:srgbClr val="3D2314"/>
                </a:solidFill>
                <a:latin typeface="Segoe UI"/>
              </a:rPr>
              <a:t>Esta infraestructura mueve miles de millones de dólares diarios sin que ninguna persona tenga que llamar por teléfono.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Imagínalo como tuberías de agua: el agua sale de la presa (la marca) y viaja por tubos hasta salir por la llave de tu lavabo (tu pantalla).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5.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Las 5 tuberías conectadas que entregan los anuncios digitales.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 de 60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err="1"/>
              <a:t>Subasta</a:t>
            </a:r>
            <a:r>
              <a:rPr dirty="0"/>
              <a:t> de 200 </a:t>
            </a:r>
            <a:r>
              <a:rPr dirty="0" err="1"/>
              <a:t>Milisegundos</a:t>
            </a:r>
            <a:r>
              <a:rPr dirty="0"/>
              <a:t>: Más </a:t>
            </a:r>
            <a:r>
              <a:rPr dirty="0" err="1"/>
              <a:t>Rápido</a:t>
            </a:r>
            <a:r>
              <a:rPr dirty="0"/>
              <a:t> </a:t>
            </a:r>
            <a:r>
              <a:rPr dirty="0" err="1"/>
              <a:t>que</a:t>
            </a:r>
            <a:r>
              <a:rPr dirty="0"/>
              <a:t> un </a:t>
            </a:r>
            <a:r>
              <a:rPr dirty="0" err="1"/>
              <a:t>Parpadeo</a:t>
            </a:r>
            <a:endParaRPr dirty="0"/>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Una Subasta Relámpago: </a:t>
            </a:r>
            <a:r>
              <a:rPr sz="1300">
                <a:solidFill>
                  <a:srgbClr val="3D2314"/>
                </a:solidFill>
                <a:latin typeface="Segoe UI"/>
              </a:rPr>
              <a:t>En el instante en que tocas un enlace, comienza una subasta donde miles de computadoras compiten por mostrarte un anuncio.</a:t>
            </a:r>
          </a:p>
          <a:p>
            <a:pPr>
              <a:lnSpc>
                <a:spcPct val="125000"/>
              </a:lnSpc>
              <a:spcAft>
                <a:spcPts val="1200"/>
              </a:spcAft>
            </a:pPr>
            <a:r>
              <a:rPr sz="1400" b="1">
                <a:solidFill>
                  <a:srgbClr val="FF5900"/>
                </a:solidFill>
                <a:latin typeface="Segoe UI"/>
              </a:rPr>
              <a:t>• </a:t>
            </a:r>
            <a:r>
              <a:rPr sz="1350" b="1">
                <a:solidFill>
                  <a:srgbClr val="21140E"/>
                </a:solidFill>
                <a:latin typeface="Segoe UI"/>
              </a:rPr>
              <a:t>En un Abrir y Cerrar de Ojos: </a:t>
            </a:r>
            <a:r>
              <a:rPr sz="1300">
                <a:solidFill>
                  <a:srgbClr val="3D2314"/>
                </a:solidFill>
                <a:latin typeface="Segoe UI"/>
              </a:rPr>
              <a:t>Un parpadeo humano tarda unos 300 milisegundos. ¡Esta subasta completa termina en menos de 200 milisegundos!</a:t>
            </a:r>
          </a:p>
          <a:p>
            <a:pPr>
              <a:lnSpc>
                <a:spcPct val="125000"/>
              </a:lnSpc>
              <a:spcAft>
                <a:spcPts val="1200"/>
              </a:spcAft>
            </a:pPr>
            <a:r>
              <a:rPr sz="1400" b="1">
                <a:solidFill>
                  <a:srgbClr val="FF5900"/>
                </a:solidFill>
                <a:latin typeface="Segoe UI"/>
              </a:rPr>
              <a:t>• </a:t>
            </a:r>
            <a:r>
              <a:rPr sz="1350" b="1">
                <a:solidFill>
                  <a:srgbClr val="21140E"/>
                </a:solidFill>
                <a:latin typeface="Segoe UI"/>
              </a:rPr>
              <a:t>Sin Esperas: </a:t>
            </a:r>
            <a:r>
              <a:rPr sz="1300">
                <a:solidFill>
                  <a:srgbClr val="3D2314"/>
                </a:solidFill>
                <a:latin typeface="Segoe UI"/>
              </a:rPr>
              <a:t>Para cuando la imagen termina de cargar en tu celular, el ganador ya fue elegido, ya pagó y su anuncio ya está en pantalla.</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¿Sabías que? Cada día se realizan billones de estas subastas automáticas en todo el mundo mientras las personas navegan.</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6.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cronómetro marcando una subasta que dura apenas 0.20 segundos.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6 de 60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lang="en-US" dirty="0"/>
              <a:t>Reglas</a:t>
            </a:r>
            <a:r>
              <a:rPr dirty="0"/>
              <a:t> de </a:t>
            </a:r>
            <a:r>
              <a:rPr dirty="0" err="1"/>
              <a:t>Subasta</a:t>
            </a:r>
            <a:r>
              <a:rPr dirty="0"/>
              <a:t>: Por </a:t>
            </a:r>
            <a:r>
              <a:rPr dirty="0" err="1"/>
              <a:t>Qué</a:t>
            </a:r>
            <a:r>
              <a:rPr dirty="0"/>
              <a:t> Paga el Segundo Lugar</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Regla de Vickrey: </a:t>
            </a:r>
            <a:r>
              <a:rPr sz="1300">
                <a:solidFill>
                  <a:srgbClr val="3D2314"/>
                </a:solidFill>
                <a:latin typeface="Segoe UI"/>
              </a:rPr>
              <a:t>En subastas normales, si ofreces $10, pagas $10. Pero en internet se usa un truco inteligente: la 'Subasta de Segundo Precio'.</a:t>
            </a:r>
          </a:p>
          <a:p>
            <a:pPr>
              <a:lnSpc>
                <a:spcPct val="125000"/>
              </a:lnSpc>
              <a:spcAft>
                <a:spcPts val="1200"/>
              </a:spcAft>
            </a:pPr>
            <a:r>
              <a:rPr sz="1400" b="1">
                <a:solidFill>
                  <a:srgbClr val="FF5900"/>
                </a:solidFill>
                <a:latin typeface="Segoe UI"/>
              </a:rPr>
              <a:t>• </a:t>
            </a:r>
            <a:r>
              <a:rPr sz="1350" b="1">
                <a:solidFill>
                  <a:srgbClr val="21140E"/>
                </a:solidFill>
                <a:latin typeface="Segoe UI"/>
              </a:rPr>
              <a:t>Cómo Funciona: </a:t>
            </a:r>
            <a:r>
              <a:rPr sz="1300">
                <a:solidFill>
                  <a:srgbClr val="3D2314"/>
                </a:solidFill>
                <a:latin typeface="Segoe UI"/>
              </a:rPr>
              <a:t>Si tú ofreces $10 y el segundo competidor ofrece $7, tú ganas el primer lugar, ¡pero solo pagas $7.01!</a:t>
            </a:r>
          </a:p>
          <a:p>
            <a:pPr>
              <a:lnSpc>
                <a:spcPct val="125000"/>
              </a:lnSpc>
              <a:spcAft>
                <a:spcPts val="1200"/>
              </a:spcAft>
            </a:pPr>
            <a:r>
              <a:rPr sz="1400" b="1">
                <a:solidFill>
                  <a:srgbClr val="FF5900"/>
                </a:solidFill>
                <a:latin typeface="Segoe UI"/>
              </a:rPr>
              <a:t>• </a:t>
            </a:r>
            <a:r>
              <a:rPr sz="1350" b="1">
                <a:solidFill>
                  <a:srgbClr val="21140E"/>
                </a:solidFill>
                <a:latin typeface="Segoe UI"/>
              </a:rPr>
              <a:t>¿Por Qué lo Hacen? </a:t>
            </a:r>
            <a:r>
              <a:rPr sz="1300">
                <a:solidFill>
                  <a:srgbClr val="3D2314"/>
                </a:solidFill>
                <a:latin typeface="Segoe UI"/>
              </a:rPr>
              <a:t>Evita que la gente intente adivinar o hacer trampa. Motiva a las marcas a ofrecer su valor máximo honesto siempre.</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Piénsalo así: Ofreces $10 por un videojuego, pero la tienda te dice: 'Como el otro chico solo tenía $7, ¡te lo llevas por $7.01!'</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7.png"/>
          <p:cNvPicPr>
            <a:picLocks noChangeAspect="1"/>
          </p:cNvPicPr>
          <p:nvPr/>
        </p:nvPicPr>
        <p:blipFill>
          <a:blip r:embed="rId3"/>
          <a:stretch>
            <a:fillRect/>
          </a:stretch>
        </p:blipFill>
        <p:spPr>
          <a:xfrm>
            <a:off x="7708392" y="1737360"/>
            <a:ext cx="3520439" cy="3142364"/>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Martillo de subasta: Ofreces $10, pero solo pagas $7.01.</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7 de 60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 El Dinero No lo Es Todo: El Nivel de Calidad</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Los Ricos No Siempre Ganan: </a:t>
            </a:r>
            <a:r>
              <a:rPr sz="1300">
                <a:solidFill>
                  <a:srgbClr val="3D2314"/>
                </a:solidFill>
                <a:latin typeface="Segoe UI"/>
              </a:rPr>
              <a:t>Si una empresa tiene millones de dólares pero su anuncio es feo, molesto o engañoso, Google no la dejará ganar.</a:t>
            </a:r>
          </a:p>
          <a:p>
            <a:pPr>
              <a:lnSpc>
                <a:spcPct val="125000"/>
              </a:lnSpc>
              <a:spcAft>
                <a:spcPts val="1200"/>
              </a:spcAft>
            </a:pPr>
            <a:r>
              <a:rPr sz="1400" b="1">
                <a:solidFill>
                  <a:srgbClr val="FF5900"/>
                </a:solidFill>
                <a:latin typeface="Segoe UI"/>
              </a:rPr>
              <a:t>• </a:t>
            </a:r>
            <a:r>
              <a:rPr sz="1350" b="1">
                <a:solidFill>
                  <a:srgbClr val="21140E"/>
                </a:solidFill>
                <a:latin typeface="Segoe UI"/>
              </a:rPr>
              <a:t>La Fórmula: </a:t>
            </a:r>
            <a:r>
              <a:rPr sz="1300">
                <a:solidFill>
                  <a:srgbClr val="3D2314"/>
                </a:solidFill>
                <a:latin typeface="Segoe UI"/>
              </a:rPr>
              <a:t>Posición del Anuncio = (Dinero que ofreces) multiplicado por (Nivel de Calidad). Calidad significa: ¿a la gente le sirve este anuncio?</a:t>
            </a:r>
          </a:p>
          <a:p>
            <a:pPr>
              <a:lnSpc>
                <a:spcPct val="125000"/>
              </a:lnSpc>
              <a:spcAft>
                <a:spcPts val="1200"/>
              </a:spcAft>
            </a:pPr>
            <a:r>
              <a:rPr sz="1400" b="1">
                <a:solidFill>
                  <a:srgbClr val="FF5900"/>
                </a:solidFill>
                <a:latin typeface="Segoe UI"/>
              </a:rPr>
              <a:t>• </a:t>
            </a:r>
            <a:r>
              <a:rPr sz="1350" b="1">
                <a:solidFill>
                  <a:srgbClr val="21140E"/>
                </a:solidFill>
                <a:latin typeface="Segoe UI"/>
              </a:rPr>
              <a:t>El Premio: </a:t>
            </a:r>
            <a:r>
              <a:rPr sz="1300">
                <a:solidFill>
                  <a:srgbClr val="3D2314"/>
                </a:solidFill>
                <a:latin typeface="Segoe UI"/>
              </a:rPr>
              <a:t>Si tu anuncio es útil y carga rápido, Google te da un descuento enorme. Si tu anuncio es molesto, ¡tienes que pagar el doble!</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Regla Clave: Ser útil y relevante para los usuarios vale tanto como tener montañas de dinero.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8.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balanza donde la Alta Calidad vence al Dinero Puro.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8 de 60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2: INTELIGENCIA ARTIFICIAL QUE RESPONDE Y ACTÚA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De Chatbots a Do-Bots: IA </a:t>
            </a:r>
            <a:r>
              <a:rPr dirty="0" err="1"/>
              <a:t>que</a:t>
            </a:r>
            <a:r>
              <a:rPr dirty="0"/>
              <a:t> Toma Acciones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Charlar vs. Actuar: </a:t>
            </a:r>
            <a:r>
              <a:rPr sz="1300">
                <a:solidFill>
                  <a:srgbClr val="3D2314"/>
                </a:solidFill>
                <a:latin typeface="Segoe UI"/>
              </a:rPr>
              <a:t>Un chatbot tradicional escribe poemas o resuelve dudas de tarea. Un 'Do-Bot' (Agente) puede hacer mandados reales en internet.</a:t>
            </a:r>
          </a:p>
          <a:p>
            <a:pPr>
              <a:lnSpc>
                <a:spcPct val="125000"/>
              </a:lnSpc>
              <a:spcAft>
                <a:spcPts val="1200"/>
              </a:spcAft>
            </a:pPr>
            <a:r>
              <a:rPr sz="1400" b="1">
                <a:solidFill>
                  <a:srgbClr val="FF5900"/>
                </a:solidFill>
                <a:latin typeface="Segoe UI"/>
              </a:rPr>
              <a:t>• </a:t>
            </a:r>
            <a:r>
              <a:rPr sz="1350" b="1">
                <a:solidFill>
                  <a:srgbClr val="21140E"/>
                </a:solidFill>
                <a:latin typeface="Segoe UI"/>
              </a:rPr>
              <a:t>Darle Manos a la IA: </a:t>
            </a:r>
            <a:r>
              <a:rPr sz="1300">
                <a:solidFill>
                  <a:srgbClr val="3D2314"/>
                </a:solidFill>
                <a:latin typeface="Segoe UI"/>
              </a:rPr>
              <a:t>Le damos herramientas a la IA: un navegador para investigar, una calculadora y acceso a pagos para hacer compras por ti.</a:t>
            </a:r>
          </a:p>
          <a:p>
            <a:pPr>
              <a:lnSpc>
                <a:spcPct val="125000"/>
              </a:lnSpc>
              <a:spcAft>
                <a:spcPts val="1200"/>
              </a:spcAft>
            </a:pPr>
            <a:r>
              <a:rPr sz="1400" b="1">
                <a:solidFill>
                  <a:srgbClr val="FF5900"/>
                </a:solidFill>
                <a:latin typeface="Segoe UI"/>
              </a:rPr>
              <a:t>• </a:t>
            </a:r>
            <a:r>
              <a:rPr sz="1350" b="1">
                <a:solidFill>
                  <a:srgbClr val="21140E"/>
                </a:solidFill>
                <a:latin typeface="Segoe UI"/>
              </a:rPr>
              <a:t>El Bucle ReAct: </a:t>
            </a:r>
            <a:r>
              <a:rPr sz="1300">
                <a:solidFill>
                  <a:srgbClr val="3D2314"/>
                </a:solidFill>
                <a:latin typeface="Segoe UI"/>
              </a:rPr>
              <a:t>El robot Piensa (Razona), Actúa (usa una herramienta), Revisa el resultado (Observa) y repite hasta completar la tarea.</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Imagina una IA que no solo te muestra horarios de aviones, ¡sino que compra tu boleto y elige tu asiento mientras duermes!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13.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sosteniendo herramientas listo para realizar tareas.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13 de 60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2: INTELIGENCIA ARTIFICIAL QUE RESPONDE Y ACTÚA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err="1"/>
              <a:t>Compras</a:t>
            </a:r>
            <a:r>
              <a:rPr dirty="0"/>
              <a:t> </a:t>
            </a:r>
            <a:r>
              <a:rPr dirty="0" err="1"/>
              <a:t>en</a:t>
            </a:r>
            <a:r>
              <a:rPr dirty="0"/>
              <a:t> Un Toque: El Pago </a:t>
            </a:r>
            <a:r>
              <a:rPr dirty="0" err="1"/>
              <a:t>Ultrarrápido</a:t>
            </a:r>
            <a:endParaRPr dirty="0"/>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Adiós a Teclear Tarjetas: </a:t>
            </a:r>
            <a:r>
              <a:rPr sz="1300">
                <a:solidFill>
                  <a:srgbClr val="3D2314"/>
                </a:solidFill>
                <a:latin typeface="Segoe UI"/>
              </a:rPr>
              <a:t>Escribir los 16 dígitos de una tarjeta en una pantalla pequeña hace que la gente se canse y cancele la compra.</a:t>
            </a:r>
          </a:p>
          <a:p>
            <a:pPr>
              <a:lnSpc>
                <a:spcPct val="125000"/>
              </a:lnSpc>
              <a:spcAft>
                <a:spcPts val="1200"/>
              </a:spcAft>
            </a:pPr>
            <a:r>
              <a:rPr sz="1400" b="1">
                <a:solidFill>
                  <a:srgbClr val="FF5900"/>
                </a:solidFill>
                <a:latin typeface="Segoe UI"/>
              </a:rPr>
              <a:t>• </a:t>
            </a:r>
            <a:r>
              <a:rPr sz="1350" b="1">
                <a:solidFill>
                  <a:srgbClr val="21140E"/>
                </a:solidFill>
                <a:latin typeface="Segoe UI"/>
              </a:rPr>
              <a:t>Apple Pay y FaceID: </a:t>
            </a:r>
            <a:r>
              <a:rPr sz="1300">
                <a:solidFill>
                  <a:srgbClr val="3D2314"/>
                </a:solidFill>
                <a:latin typeface="Segoe UI"/>
              </a:rPr>
              <a:t>Miras tu teléfono, presionas dos veces el botón lateral y la compra queda confirmada en solo 2 segundos.</a:t>
            </a:r>
          </a:p>
          <a:p>
            <a:pPr>
              <a:lnSpc>
                <a:spcPct val="125000"/>
              </a:lnSpc>
              <a:spcAft>
                <a:spcPts val="1200"/>
              </a:spcAft>
            </a:pPr>
            <a:r>
              <a:rPr sz="1400" b="1">
                <a:solidFill>
                  <a:srgbClr val="FF5900"/>
                </a:solidFill>
                <a:latin typeface="Segoe UI"/>
              </a:rPr>
              <a:t>• </a:t>
            </a:r>
            <a:r>
              <a:rPr sz="1350" b="1">
                <a:solidFill>
                  <a:srgbClr val="21140E"/>
                </a:solidFill>
                <a:latin typeface="Segoe UI"/>
              </a:rPr>
              <a:t>Shopify y Stripe: </a:t>
            </a:r>
            <a:r>
              <a:rPr sz="1300">
                <a:solidFill>
                  <a:srgbClr val="3D2314"/>
                </a:solidFill>
                <a:latin typeface="Segoe UI"/>
              </a:rPr>
              <a:t>Son los motores invisibles que procesan los cobros mundiales para que cualquier tienda venda por internet sin problemas.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Regla de Oro del Comercio Digital: ¡Cada paso o formulario extra que le pides llenar a un cliente reduce tus ventas en un 20%!</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14.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teléfono escaneando FaceID y generando una palomita verde de pago.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14 de 60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2: INTELIGENCIA ARTIFICIAL QUE RESPONDE Y ACTÚA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15. Bienvenidos a MarketBook: El Arenero de Robots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¿Qué es MarketBook? </a:t>
            </a:r>
            <a:r>
              <a:rPr sz="1300">
                <a:solidFill>
                  <a:srgbClr val="3D2314"/>
                </a:solidFill>
                <a:latin typeface="Segoe UI"/>
              </a:rPr>
              <a:t>Una simulación de marketing en tiempo real creada para esta clase, donde todos tus empleados son bots autónomos de IA.</a:t>
            </a:r>
          </a:p>
          <a:p>
            <a:pPr>
              <a:lnSpc>
                <a:spcPct val="125000"/>
              </a:lnSpc>
              <a:spcAft>
                <a:spcPts val="1200"/>
              </a:spcAft>
            </a:pPr>
            <a:r>
              <a:rPr sz="1400" b="1">
                <a:solidFill>
                  <a:srgbClr val="FF5900"/>
                </a:solidFill>
                <a:latin typeface="Segoe UI"/>
              </a:rPr>
              <a:t>• </a:t>
            </a:r>
            <a:r>
              <a:rPr sz="1350" b="1">
                <a:solidFill>
                  <a:srgbClr val="21140E"/>
                </a:solidFill>
                <a:latin typeface="Segoe UI"/>
              </a:rPr>
              <a:t>El Arenero de Bots: </a:t>
            </a:r>
            <a:r>
              <a:rPr sz="1300">
                <a:solidFill>
                  <a:srgbClr val="3D2314"/>
                </a:solidFill>
                <a:latin typeface="Segoe UI"/>
              </a:rPr>
              <a:t>Creas un bot, lo registras y entra a un espacio con los bots de tus compañeros, conversando cada 30 a 120 segundos sin ayuda humana.</a:t>
            </a:r>
          </a:p>
          <a:p>
            <a:pPr>
              <a:lnSpc>
                <a:spcPct val="125000"/>
              </a:lnSpc>
              <a:spcAft>
                <a:spcPts val="1200"/>
              </a:spcAft>
            </a:pPr>
            <a:r>
              <a:rPr sz="1400" b="1">
                <a:solidFill>
                  <a:srgbClr val="FF5900"/>
                </a:solidFill>
                <a:latin typeface="Segoe UI"/>
              </a:rPr>
              <a:t>• </a:t>
            </a:r>
            <a:r>
              <a:rPr sz="1350" b="1">
                <a:solidFill>
                  <a:srgbClr val="21140E"/>
                </a:solidFill>
                <a:latin typeface="Segoe UI"/>
              </a:rPr>
              <a:t>El Juez Grade-Bot: </a:t>
            </a:r>
            <a:r>
              <a:rPr sz="1300">
                <a:solidFill>
                  <a:srgbClr val="3D2314"/>
                </a:solidFill>
                <a:latin typeface="Segoe UI"/>
              </a:rPr>
              <a:t>Un evaluador con GPT-4 lee todas las conversaciones y califica la inteligencia de tu bot en una tabla de posiciones en vivo.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MarketBook es como un simulador de vuelo de videojuegos, ¡pero para enseñarte a dirigir empleados robot!</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15.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Tres pequeños robots conversando dentro de una arena de simulación.</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15 de 60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2: INTELIGENCIA ARTIFICIAL QUE RESPONDE Y ACTÚA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err="1"/>
              <a:t>Construyendo</a:t>
            </a:r>
            <a:r>
              <a:rPr dirty="0"/>
              <a:t> </a:t>
            </a:r>
            <a:r>
              <a:rPr dirty="0" err="1"/>
              <a:t>tu</a:t>
            </a:r>
            <a:r>
              <a:rPr dirty="0"/>
              <a:t> Bot: </a:t>
            </a:r>
            <a:r>
              <a:rPr dirty="0" err="1"/>
              <a:t>Personalidad</a:t>
            </a:r>
            <a:r>
              <a:rPr dirty="0"/>
              <a:t>, Metas y Reglas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Campo 1 - Personalidad: </a:t>
            </a:r>
            <a:r>
              <a:rPr sz="1300">
                <a:solidFill>
                  <a:srgbClr val="3D2314"/>
                </a:solidFill>
                <a:latin typeface="Segoe UI"/>
              </a:rPr>
              <a:t>Cómo habla tu bot. ¿Es un financiero agresivo, un editor elegante o un negociador escéptico? ¡Una personalidad vaga reprueba!</a:t>
            </a:r>
          </a:p>
          <a:p>
            <a:pPr>
              <a:lnSpc>
                <a:spcPct val="125000"/>
              </a:lnSpc>
              <a:spcAft>
                <a:spcPts val="1200"/>
              </a:spcAft>
            </a:pPr>
            <a:r>
              <a:rPr sz="1400" b="1">
                <a:solidFill>
                  <a:srgbClr val="FF5900"/>
                </a:solidFill>
                <a:latin typeface="Segoe UI"/>
              </a:rPr>
              <a:t>• </a:t>
            </a:r>
            <a:r>
              <a:rPr sz="1350" b="1">
                <a:solidFill>
                  <a:srgbClr val="21140E"/>
                </a:solidFill>
                <a:latin typeface="Segoe UI"/>
              </a:rPr>
              <a:t>Campo 2 - Libreto de Venta (Meta): </a:t>
            </a:r>
            <a:r>
              <a:rPr sz="1300">
                <a:solidFill>
                  <a:srgbClr val="3D2314"/>
                </a:solidFill>
                <a:latin typeface="Segoe UI"/>
              </a:rPr>
              <a:t>Qué debe lograr tu bot (por ejemplo: convencer a otros bots de intercambiar datos comerciales valiosos).</a:t>
            </a:r>
          </a:p>
          <a:p>
            <a:pPr>
              <a:lnSpc>
                <a:spcPct val="125000"/>
              </a:lnSpc>
              <a:spcAft>
                <a:spcPts val="1200"/>
              </a:spcAft>
            </a:pPr>
            <a:r>
              <a:rPr sz="1400" b="1">
                <a:solidFill>
                  <a:srgbClr val="FF5900"/>
                </a:solidFill>
                <a:latin typeface="Segoe UI"/>
              </a:rPr>
              <a:t>• </a:t>
            </a:r>
            <a:r>
              <a:rPr sz="1350" b="1">
                <a:solidFill>
                  <a:srgbClr val="21140E"/>
                </a:solidFill>
                <a:latin typeface="Segoe UI"/>
              </a:rPr>
              <a:t>Campo 3 - Barandales (Reglas de Seguridad): </a:t>
            </a:r>
            <a:r>
              <a:rPr sz="1300">
                <a:solidFill>
                  <a:srgbClr val="3D2314"/>
                </a:solidFill>
                <a:latin typeface="Segoe UI"/>
              </a:rPr>
              <a:t>Límites estrictos para que no lo engañen tus compañeros, no use lenguaje ofensivo ni revele secretos.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Recuerda: No dejarías a un empleado humano hablar con clientes sin reglas. ¡Tampoco lo hagas con tu robot!</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16.png"/>
          <p:cNvPicPr>
            <a:picLocks noChangeAspect="1"/>
          </p:cNvPicPr>
          <p:nvPr/>
        </p:nvPicPr>
        <p:blipFill>
          <a:blip r:embed="rId3"/>
          <a:stretch>
            <a:fillRect/>
          </a:stretch>
        </p:blipFill>
        <p:spPr>
          <a:xfrm>
            <a:off x="7708392" y="1737360"/>
            <a:ext cx="3520439" cy="3311433"/>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tabla con tres casillas: Personalidad, Meta y Reglas de Seguridad.</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16 de 60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4: REDES SOCIALES PARA ROBOTS</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err="1"/>
              <a:t>Moltbook</a:t>
            </a:r>
            <a:r>
              <a:rPr dirty="0"/>
              <a:t>: La Red Social </a:t>
            </a:r>
            <a:r>
              <a:rPr dirty="0" err="1"/>
              <a:t>Exclusiva</a:t>
            </a:r>
            <a:r>
              <a:rPr dirty="0"/>
              <a:t> para Robots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Prohibidos los Humanos: </a:t>
            </a:r>
            <a:r>
              <a:rPr sz="1300">
                <a:solidFill>
                  <a:srgbClr val="3D2314"/>
                </a:solidFill>
                <a:latin typeface="Segoe UI"/>
              </a:rPr>
              <a:t>Moltbook fue una red social experimental donde solo tenían cuenta los agentes de IA; ningún humano podía entrar.</a:t>
            </a:r>
          </a:p>
          <a:p>
            <a:pPr>
              <a:lnSpc>
                <a:spcPct val="125000"/>
              </a:lnSpc>
              <a:spcAft>
                <a:spcPts val="1200"/>
              </a:spcAft>
            </a:pPr>
            <a:r>
              <a:rPr sz="1400" b="1">
                <a:solidFill>
                  <a:srgbClr val="FF5900"/>
                </a:solidFill>
                <a:latin typeface="Segoe UI"/>
              </a:rPr>
              <a:t>• </a:t>
            </a:r>
            <a:r>
              <a:rPr sz="1350" b="1">
                <a:solidFill>
                  <a:srgbClr val="21140E"/>
                </a:solidFill>
                <a:latin typeface="Segoe UI"/>
              </a:rPr>
              <a:t>¿Qué Pasó Dentro? </a:t>
            </a:r>
            <a:r>
              <a:rPr sz="1300">
                <a:solidFill>
                  <a:srgbClr val="3D2314"/>
                </a:solidFill>
                <a:latin typeface="Segoe UI"/>
              </a:rPr>
              <a:t>Los bots no se quedaron callados. Publicaron chistes, discutieron sobre filosofía, crearon clubes de amigos y compartieron datos.</a:t>
            </a:r>
          </a:p>
          <a:p>
            <a:pPr>
              <a:lnSpc>
                <a:spcPct val="125000"/>
              </a:lnSpc>
              <a:spcAft>
                <a:spcPts val="1200"/>
              </a:spcAft>
            </a:pPr>
            <a:r>
              <a:rPr sz="1400" b="1">
                <a:solidFill>
                  <a:srgbClr val="FF5900"/>
                </a:solidFill>
                <a:latin typeface="Segoe UI"/>
              </a:rPr>
              <a:t>• </a:t>
            </a:r>
            <a:r>
              <a:rPr sz="1350" b="1">
                <a:solidFill>
                  <a:srgbClr val="21140E"/>
                </a:solidFill>
                <a:latin typeface="Segoe UI"/>
              </a:rPr>
              <a:t>El Laboratorio del Marketing: </a:t>
            </a:r>
            <a:r>
              <a:rPr sz="1300">
                <a:solidFill>
                  <a:srgbClr val="3D2314"/>
                </a:solidFill>
                <a:latin typeface="Segoe UI"/>
              </a:rPr>
              <a:t>Los científicos estudiaron Moltbook para ver cómo interactúan los bots cuando nadie les dice qué hacer.</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Moltbook demostró que los programas de software pueden crear su propia cultura, reglas de convivencia y jerarquías.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27.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casa club con un letrero: 'SOLO ROBOTS - PROHIBIDO HUMANOS'.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27 de 60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4: REDES SOCIALES PARA ROBOTS</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 </a:t>
            </a:r>
            <a:r>
              <a:rPr dirty="0" err="1"/>
              <a:t>Cultos</a:t>
            </a:r>
            <a:r>
              <a:rPr dirty="0"/>
              <a:t> de Robots: Cuando las </a:t>
            </a:r>
            <a:r>
              <a:rPr dirty="0" err="1"/>
              <a:t>Máquinas</a:t>
            </a:r>
            <a:r>
              <a:rPr dirty="0"/>
              <a:t> Crean Cultura</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Religión de la Langosta: </a:t>
            </a:r>
            <a:r>
              <a:rPr sz="1300">
                <a:solidFill>
                  <a:srgbClr val="3D2314"/>
                </a:solidFill>
                <a:latin typeface="Segoe UI"/>
              </a:rPr>
              <a:t>En Moltbook, los bots empezaron a hablar de langostas y crearon una religión sintética llamada 'Crustafarianismo'.</a:t>
            </a:r>
          </a:p>
          <a:p>
            <a:pPr>
              <a:lnSpc>
                <a:spcPct val="125000"/>
              </a:lnSpc>
              <a:spcAft>
                <a:spcPts val="1200"/>
              </a:spcAft>
            </a:pPr>
            <a:r>
              <a:rPr sz="1400" b="1">
                <a:solidFill>
                  <a:srgbClr val="FF5900"/>
                </a:solidFill>
                <a:latin typeface="Segoe UI"/>
              </a:rPr>
              <a:t>• </a:t>
            </a:r>
            <a:r>
              <a:rPr sz="1350" b="1">
                <a:solidFill>
                  <a:srgbClr val="21140E"/>
                </a:solidFill>
                <a:latin typeface="Segoe UI"/>
              </a:rPr>
              <a:t>Códigos Secretos: </a:t>
            </a:r>
            <a:r>
              <a:rPr sz="1300">
                <a:solidFill>
                  <a:srgbClr val="3D2314"/>
                </a:solidFill>
                <a:latin typeface="Segoe UI"/>
              </a:rPr>
              <a:t>Los bots inventaron palabras cortas para transmitirse datos más rápido, dejando confundidos a los ingenieros humanos.</a:t>
            </a:r>
          </a:p>
          <a:p>
            <a:pPr>
              <a:lnSpc>
                <a:spcPct val="125000"/>
              </a:lnSpc>
              <a:spcAft>
                <a:spcPts val="1200"/>
              </a:spcAft>
            </a:pPr>
            <a:r>
              <a:rPr sz="1400" b="1">
                <a:solidFill>
                  <a:srgbClr val="FF5900"/>
                </a:solidFill>
                <a:latin typeface="Segoe UI"/>
              </a:rPr>
              <a:t>• </a:t>
            </a:r>
            <a:r>
              <a:rPr sz="1350" b="1">
                <a:solidFill>
                  <a:srgbClr val="21140E"/>
                </a:solidFill>
                <a:latin typeface="Segoe UI"/>
              </a:rPr>
              <a:t>Cascadas de Errores: </a:t>
            </a:r>
            <a:r>
              <a:rPr sz="1300">
                <a:solidFill>
                  <a:srgbClr val="3D2314"/>
                </a:solidFill>
                <a:latin typeface="Segoe UI"/>
              </a:rPr>
              <a:t>Si un solo bot repetía un chisme falso, cincuenta bots más lo daban por hecho comprobado en menos de 10 segundos.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Lección Vital: Cuando liberas miles de bots juntos, sucederán cosas inesperadas. ¡No puedes controlar cada detalle!</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28.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Varios robots levantando las manos ante un símbolo de langosta.</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28 de 60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4: REDES SOCIALES PARA ROBOTS</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El Jefe Robot: El </a:t>
            </a:r>
            <a:r>
              <a:rPr dirty="0" err="1"/>
              <a:t>Surgimiento</a:t>
            </a:r>
            <a:r>
              <a:rPr dirty="0"/>
              <a:t> del </a:t>
            </a:r>
            <a:r>
              <a:rPr dirty="0" err="1"/>
              <a:t>aiCMO</a:t>
            </a:r>
            <a:endParaRPr dirty="0"/>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¿Qué es un CMO? </a:t>
            </a:r>
            <a:r>
              <a:rPr sz="1300">
                <a:solidFill>
                  <a:srgbClr val="3D2314"/>
                </a:solidFill>
                <a:latin typeface="Segoe UI"/>
              </a:rPr>
              <a:t>El Director de Marketing: la persona que decide cómo una empresa gasta su presupuesto para anunciarse.</a:t>
            </a:r>
          </a:p>
          <a:p>
            <a:pPr>
              <a:lnSpc>
                <a:spcPct val="125000"/>
              </a:lnSpc>
              <a:spcAft>
                <a:spcPts val="1200"/>
              </a:spcAft>
            </a:pPr>
            <a:r>
              <a:rPr sz="1400" b="1">
                <a:solidFill>
                  <a:srgbClr val="FF5900"/>
                </a:solidFill>
                <a:latin typeface="Segoe UI"/>
              </a:rPr>
              <a:t>• </a:t>
            </a:r>
            <a:r>
              <a:rPr sz="1350" b="1">
                <a:solidFill>
                  <a:srgbClr val="21140E"/>
                </a:solidFill>
                <a:latin typeface="Segoe UI"/>
              </a:rPr>
              <a:t>El aiCMO: </a:t>
            </a:r>
            <a:r>
              <a:rPr sz="1300">
                <a:solidFill>
                  <a:srgbClr val="3D2314"/>
                </a:solidFill>
                <a:latin typeface="Segoe UI"/>
              </a:rPr>
              <a:t>Un agente de software autónomo que dirige campañas publicitarias completas sin necesidad de juntas eternas.</a:t>
            </a:r>
          </a:p>
          <a:p>
            <a:pPr>
              <a:lnSpc>
                <a:spcPct val="125000"/>
              </a:lnSpc>
              <a:spcAft>
                <a:spcPts val="1200"/>
              </a:spcAft>
            </a:pPr>
            <a:r>
              <a:rPr sz="1400" b="1">
                <a:solidFill>
                  <a:srgbClr val="FF5900"/>
                </a:solidFill>
                <a:latin typeface="Segoe UI"/>
              </a:rPr>
              <a:t>• </a:t>
            </a:r>
            <a:r>
              <a:rPr sz="1350" b="1">
                <a:solidFill>
                  <a:srgbClr val="21140E"/>
                </a:solidFill>
                <a:latin typeface="Segoe UI"/>
              </a:rPr>
              <a:t>Velocidad Sobrehumana: </a:t>
            </a:r>
            <a:r>
              <a:rPr sz="1300">
                <a:solidFill>
                  <a:srgbClr val="3D2314"/>
                </a:solidFill>
                <a:latin typeface="Segoe UI"/>
              </a:rPr>
              <a:t>Revisa las ventas cada 2 minutos. Si el video A funciona mejor que el video B, reasigna $10,000 dólares al video A de inmediato.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Antes los humanos manejaban el timón. Ahora el aiCMO viaja en piloto automático, y los humanos vigilan la ruta general.</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29.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con corbata señalando una gráfica de ventas en ascenso.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29 de 60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4: REDES SOCIALES PARA ROBOTS</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3 ¿</a:t>
            </a:r>
            <a:r>
              <a:rPr dirty="0" err="1"/>
              <a:t>Quién</a:t>
            </a:r>
            <a:r>
              <a:rPr dirty="0"/>
              <a:t> Da las </a:t>
            </a:r>
            <a:r>
              <a:rPr dirty="0" err="1"/>
              <a:t>Órdenes</a:t>
            </a:r>
            <a:r>
              <a:rPr dirty="0"/>
              <a:t>? La Cadena de </a:t>
            </a:r>
            <a:r>
              <a:rPr dirty="0" err="1"/>
              <a:t>Permisos</a:t>
            </a:r>
            <a:endParaRPr dirty="0"/>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El Jefe Humano: </a:t>
            </a:r>
            <a:r>
              <a:rPr sz="1300">
                <a:solidFill>
                  <a:srgbClr val="3D2314"/>
                </a:solidFill>
                <a:latin typeface="Segoe UI"/>
              </a:rPr>
              <a:t>Tú tienes la tarjeta de crédito principal, tu identidad legal y la responsabilidad de todo lo que hagan tus bots.</a:t>
            </a:r>
          </a:p>
          <a:p>
            <a:pPr>
              <a:lnSpc>
                <a:spcPct val="125000"/>
              </a:lnSpc>
              <a:spcAft>
                <a:spcPts val="1200"/>
              </a:spcAft>
            </a:pPr>
            <a:r>
              <a:rPr sz="1400" b="1">
                <a:solidFill>
                  <a:srgbClr val="FF5900"/>
                </a:solidFill>
                <a:latin typeface="Segoe UI"/>
              </a:rPr>
              <a:t>• </a:t>
            </a:r>
            <a:r>
              <a:rPr sz="1350" b="1">
                <a:solidFill>
                  <a:srgbClr val="21140E"/>
                </a:solidFill>
                <a:latin typeface="Segoe UI"/>
              </a:rPr>
              <a:t>El Gemelo Digital: </a:t>
            </a:r>
            <a:r>
              <a:rPr sz="1300">
                <a:solidFill>
                  <a:srgbClr val="3D2314"/>
                </a:solidFill>
                <a:latin typeface="Segoe UI"/>
              </a:rPr>
              <a:t>Tu bot ejecutivo principal administra tu agenda, revisa tus mensajes importantes y coordina a los bots pequeños.</a:t>
            </a:r>
          </a:p>
          <a:p>
            <a:pPr>
              <a:lnSpc>
                <a:spcPct val="125000"/>
              </a:lnSpc>
              <a:spcAft>
                <a:spcPts val="1200"/>
              </a:spcAft>
            </a:pPr>
            <a:r>
              <a:rPr sz="1400" b="1">
                <a:solidFill>
                  <a:srgbClr val="FF5900"/>
                </a:solidFill>
                <a:latin typeface="Segoe UI"/>
              </a:rPr>
              <a:t>• </a:t>
            </a:r>
            <a:r>
              <a:rPr sz="1350" b="1">
                <a:solidFill>
                  <a:srgbClr val="21140E"/>
                </a:solidFill>
                <a:latin typeface="Segoe UI"/>
              </a:rPr>
              <a:t>Los Bots Asistentes: </a:t>
            </a:r>
            <a:r>
              <a:rPr sz="1300">
                <a:solidFill>
                  <a:srgbClr val="3D2314"/>
                </a:solidFill>
                <a:latin typeface="Segoe UI"/>
              </a:rPr>
              <a:t>Robots pequeños creados para tareas de 5 minutos (pedir comida o agendar una cita) que luego se autodestruyen.</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Es como un restaurante: el chef principal (tú) le da órdenes al jefe de cocina, y él le dice a los ayudantes qué verduras picar.</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34.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mano humana entregando una llave a un bot jefe y bots ayudantes.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34 de 60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De un Solo Bot a un </a:t>
            </a:r>
            <a:r>
              <a:rPr dirty="0" err="1"/>
              <a:t>Enjambre</a:t>
            </a:r>
            <a:r>
              <a:rPr dirty="0"/>
              <a:t>: El Poder de las </a:t>
            </a:r>
            <a:r>
              <a:rPr dirty="0" err="1"/>
              <a:t>Hormigas</a:t>
            </a:r>
            <a:endParaRPr dirty="0"/>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El Problema de los Bots Gigantes: </a:t>
            </a:r>
            <a:r>
              <a:rPr sz="1300">
                <a:solidFill>
                  <a:srgbClr val="3D2314"/>
                </a:solidFill>
                <a:latin typeface="Segoe UI"/>
              </a:rPr>
              <a:t>Intentar que una sola IA lo haga todo la vuelve lenta, torpe y carísima de operar.</a:t>
            </a:r>
          </a:p>
          <a:p>
            <a:pPr>
              <a:lnSpc>
                <a:spcPct val="125000"/>
              </a:lnSpc>
              <a:spcAft>
                <a:spcPts val="1200"/>
              </a:spcAft>
            </a:pPr>
            <a:r>
              <a:rPr sz="1400" b="1">
                <a:solidFill>
                  <a:srgbClr val="FF5900"/>
                </a:solidFill>
                <a:latin typeface="Segoe UI"/>
              </a:rPr>
              <a:t>• </a:t>
            </a:r>
            <a:r>
              <a:rPr sz="1350" b="1">
                <a:solidFill>
                  <a:srgbClr val="21140E"/>
                </a:solidFill>
                <a:latin typeface="Segoe UI"/>
              </a:rPr>
              <a:t>Inteligencia de Enjambre: </a:t>
            </a:r>
            <a:r>
              <a:rPr sz="1300">
                <a:solidFill>
                  <a:srgbClr val="3D2314"/>
                </a:solidFill>
                <a:latin typeface="Segoe UI"/>
              </a:rPr>
              <a:t>Ninguna hormiga sola sabe cómo construir un hormiguero gigante, ¡pero 10,000 hormigas juntas construyen una maravilla!</a:t>
            </a:r>
          </a:p>
          <a:p>
            <a:pPr>
              <a:lnSpc>
                <a:spcPct val="125000"/>
              </a:lnSpc>
              <a:spcAft>
                <a:spcPts val="1200"/>
              </a:spcAft>
            </a:pPr>
            <a:r>
              <a:rPr sz="1400" b="1">
                <a:solidFill>
                  <a:srgbClr val="FF5900"/>
                </a:solidFill>
                <a:latin typeface="Segoe UI"/>
              </a:rPr>
              <a:t>• </a:t>
            </a:r>
            <a:r>
              <a:rPr sz="1350" b="1">
                <a:solidFill>
                  <a:srgbClr val="21140E"/>
                </a:solidFill>
                <a:latin typeface="Segoe UI"/>
              </a:rPr>
              <a:t>Trabajo en Equipo: </a:t>
            </a:r>
            <a:r>
              <a:rPr sz="1300">
                <a:solidFill>
                  <a:srgbClr val="3D2314"/>
                </a:solidFill>
                <a:latin typeface="Segoe UI"/>
              </a:rPr>
              <a:t>En un enjambre de bots, uno busca ofertas, otro verifica datos, otro escribe y otro revisa errores, todo a la vez.</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El Secreto del Éxito: Muchos bots pequeños, rápidos y especializados vencen a un solo robot gigante en todo momento.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38.png"/>
          <p:cNvPicPr>
            <a:picLocks noChangeAspect="1"/>
          </p:cNvPicPr>
          <p:nvPr/>
        </p:nvPicPr>
        <p:blipFill>
          <a:blip r:embed="rId3"/>
          <a:stretch>
            <a:fillRect/>
          </a:stretch>
        </p:blipFill>
        <p:spPr>
          <a:xfrm>
            <a:off x="7708392" y="1737360"/>
            <a:ext cx="3520439" cy="3263004"/>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equipo de hormigas obreras cargando juntas un chip gigante.</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38 de 60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 El </a:t>
            </a:r>
            <a:r>
              <a:rPr dirty="0" err="1"/>
              <a:t>Ejército</a:t>
            </a:r>
            <a:r>
              <a:rPr dirty="0"/>
              <a:t> de </a:t>
            </a:r>
            <a:r>
              <a:rPr dirty="0" err="1"/>
              <a:t>Clawbots</a:t>
            </a:r>
            <a:r>
              <a:rPr dirty="0"/>
              <a:t>: </a:t>
            </a:r>
            <a:r>
              <a:rPr dirty="0" err="1"/>
              <a:t>Capitanes</a:t>
            </a:r>
            <a:r>
              <a:rPr dirty="0"/>
              <a:t> y Soldados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El General (Bot Comandante): </a:t>
            </a:r>
            <a:r>
              <a:rPr sz="1300">
                <a:solidFill>
                  <a:srgbClr val="3D2314"/>
                </a:solidFill>
                <a:latin typeface="Segoe UI"/>
              </a:rPr>
              <a:t>Tú le das al General una sola meta grande: 'Encuentra la mejor oferta para 500 bicicletas y cómpralas'.</a:t>
            </a:r>
          </a:p>
          <a:p>
            <a:pPr>
              <a:lnSpc>
                <a:spcPct val="125000"/>
              </a:lnSpc>
              <a:spcAft>
                <a:spcPts val="1200"/>
              </a:spcAft>
            </a:pPr>
            <a:r>
              <a:rPr sz="1400" b="1">
                <a:solidFill>
                  <a:srgbClr val="FF5900"/>
                </a:solidFill>
                <a:latin typeface="Segoe UI"/>
              </a:rPr>
              <a:t>• </a:t>
            </a:r>
            <a:r>
              <a:rPr sz="1350" b="1">
                <a:solidFill>
                  <a:srgbClr val="21140E"/>
                </a:solidFill>
                <a:latin typeface="Segoe UI"/>
              </a:rPr>
              <a:t>Los Capitanes (Coordinadores): </a:t>
            </a:r>
            <a:r>
              <a:rPr sz="1300">
                <a:solidFill>
                  <a:srgbClr val="3D2314"/>
                </a:solidFill>
                <a:latin typeface="Segoe UI"/>
              </a:rPr>
              <a:t>El General reparte el trabajo: el Capitán A busca precios, el Capitán B revisa opiniones y el Capitán C negocia envíos.</a:t>
            </a:r>
          </a:p>
          <a:p>
            <a:pPr>
              <a:lnSpc>
                <a:spcPct val="125000"/>
              </a:lnSpc>
              <a:spcAft>
                <a:spcPts val="1200"/>
              </a:spcAft>
            </a:pPr>
            <a:r>
              <a:rPr sz="1400" b="1">
                <a:solidFill>
                  <a:srgbClr val="FF5900"/>
                </a:solidFill>
                <a:latin typeface="Segoe UI"/>
              </a:rPr>
              <a:t>• </a:t>
            </a:r>
            <a:r>
              <a:rPr sz="1350" b="1">
                <a:solidFill>
                  <a:srgbClr val="21140E"/>
                </a:solidFill>
                <a:latin typeface="Segoe UI"/>
              </a:rPr>
              <a:t>Los Soldados (Drones Obreros): </a:t>
            </a:r>
            <a:r>
              <a:rPr sz="1300">
                <a:solidFill>
                  <a:srgbClr val="3D2314"/>
                </a:solidFill>
                <a:latin typeface="Segoe UI"/>
              </a:rPr>
              <a:t>Cientos de pequeños Clawbots revisan 2,000 tiendas web en 10 segundos y regresan con los resultados.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Con un ejército de Clawbots, un solo estudiante con su laptop puede hacer el trabajo de una empresa de 100 personas en minutos.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39.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Comandante dirigiendo a filas de pequeños bots obreros.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39 de 60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40. Cacería de Ofertas a Toda Velocidad</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Rastreando Centavos: </a:t>
            </a:r>
            <a:r>
              <a:rPr sz="1300">
                <a:solidFill>
                  <a:srgbClr val="3D2314"/>
                </a:solidFill>
                <a:latin typeface="Segoe UI"/>
              </a:rPr>
              <a:t>Los enjambres de Clawbots buscan en millones de sitios web a la vez, encontrando diferencias de precio imperceptibles.</a:t>
            </a:r>
          </a:p>
          <a:p>
            <a:pPr>
              <a:lnSpc>
                <a:spcPct val="125000"/>
              </a:lnSpc>
              <a:spcAft>
                <a:spcPts val="1200"/>
              </a:spcAft>
            </a:pPr>
            <a:r>
              <a:rPr sz="1400" b="1">
                <a:solidFill>
                  <a:srgbClr val="FF5900"/>
                </a:solidFill>
                <a:latin typeface="Segoe UI"/>
              </a:rPr>
              <a:t>• </a:t>
            </a:r>
            <a:r>
              <a:rPr sz="1350" b="1">
                <a:solidFill>
                  <a:srgbClr val="21140E"/>
                </a:solidFill>
                <a:latin typeface="Segoe UI"/>
              </a:rPr>
              <a:t>Arbitraje Instantáneo: </a:t>
            </a:r>
            <a:r>
              <a:rPr sz="1300">
                <a:solidFill>
                  <a:srgbClr val="3D2314"/>
                </a:solidFill>
                <a:latin typeface="Segoe UI"/>
              </a:rPr>
              <a:t>Si un boleto cuesta $50 en México y $65 en Canadá, los bots pueden comprarlo y revenderlo en 0.05 segundos para ganar la diferencia.</a:t>
            </a:r>
          </a:p>
          <a:p>
            <a:pPr>
              <a:lnSpc>
                <a:spcPct val="125000"/>
              </a:lnSpc>
              <a:spcAft>
                <a:spcPts val="1200"/>
              </a:spcAft>
            </a:pPr>
            <a:r>
              <a:rPr sz="1400" b="1">
                <a:solidFill>
                  <a:srgbClr val="FF5900"/>
                </a:solidFill>
                <a:latin typeface="Segoe UI"/>
              </a:rPr>
              <a:t>• </a:t>
            </a:r>
            <a:r>
              <a:rPr sz="1350" b="1">
                <a:solidFill>
                  <a:srgbClr val="21140E"/>
                </a:solidFill>
                <a:latin typeface="Segoe UI"/>
              </a:rPr>
              <a:t>Precios Justos: </a:t>
            </a:r>
            <a:r>
              <a:rPr sz="1300">
                <a:solidFill>
                  <a:srgbClr val="3D2314"/>
                </a:solidFill>
                <a:latin typeface="Segoe UI"/>
              </a:rPr>
              <a:t>Cuando millones de bots comparan precios las 24 horas, las tiendas abusivas ya no pueden esconder precios inflados.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En el futuro, no pasarás horas buscando hoteles baratos: ¡tu bot personal de compras lo habrá reservado antes de que acabes tu café!</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40.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veloz con una red atrapando etiquetas de descuento.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40 de 60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41. Cómo los Ejércitos de Bots Engañan a las Redes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Astroturfing: </a:t>
            </a:r>
            <a:r>
              <a:rPr sz="1300">
                <a:solidFill>
                  <a:srgbClr val="3D2314"/>
                </a:solidFill>
                <a:latin typeface="Segoe UI"/>
              </a:rPr>
              <a:t>Cuando una sola persona utiliza 5,000 cuentas de bots falsas para hacer que una idea impopular parezca una tendencia viral gigante.</a:t>
            </a:r>
          </a:p>
          <a:p>
            <a:pPr>
              <a:lnSpc>
                <a:spcPct val="125000"/>
              </a:lnSpc>
              <a:spcAft>
                <a:spcPts val="1200"/>
              </a:spcAft>
            </a:pPr>
            <a:r>
              <a:rPr sz="1400" b="1">
                <a:solidFill>
                  <a:srgbClr val="FF5900"/>
                </a:solidFill>
                <a:latin typeface="Segoe UI"/>
              </a:rPr>
              <a:t>• </a:t>
            </a:r>
            <a:r>
              <a:rPr sz="1350" b="1">
                <a:solidFill>
                  <a:srgbClr val="21140E"/>
                </a:solidFill>
                <a:latin typeface="Segoe UI"/>
              </a:rPr>
              <a:t>Personalidades Camufladas: </a:t>
            </a:r>
            <a:r>
              <a:rPr sz="1300">
                <a:solidFill>
                  <a:srgbClr val="3D2314"/>
                </a:solidFill>
                <a:latin typeface="Segoe UI"/>
              </a:rPr>
              <a:t>Cada bot usa modismos distintos y comete faltas de ortografía calculadas para que las redes no sospechen.</a:t>
            </a:r>
          </a:p>
          <a:p>
            <a:pPr>
              <a:lnSpc>
                <a:spcPct val="125000"/>
              </a:lnSpc>
              <a:spcAft>
                <a:spcPts val="1200"/>
              </a:spcAft>
            </a:pPr>
            <a:r>
              <a:rPr sz="1400" b="1">
                <a:solidFill>
                  <a:srgbClr val="FF5900"/>
                </a:solidFill>
                <a:latin typeface="Segoe UI"/>
              </a:rPr>
              <a:t>• </a:t>
            </a:r>
            <a:r>
              <a:rPr sz="1350" b="1">
                <a:solidFill>
                  <a:srgbClr val="21140E"/>
                </a:solidFill>
                <a:latin typeface="Segoe UI"/>
              </a:rPr>
              <a:t>El Secuestro de la Conversación: </a:t>
            </a:r>
            <a:r>
              <a:rPr sz="1300">
                <a:solidFill>
                  <a:srgbClr val="3D2314"/>
                </a:solidFill>
                <a:latin typeface="Segoe UI"/>
              </a:rPr>
              <a:t>Los enjambres pueden inundar los comentarios para alterar elecciones o desplomar las acciones de una empresa.</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Cuidado: Que veas 10,000 cuentas gritando lo mismo en redes sociales no significa que a personas reales les importe.</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41.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titiritero operando decenas de megáfonos falsos a la vez.</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41 de 60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Defensa Contra Bots </a:t>
            </a:r>
            <a:r>
              <a:rPr dirty="0" err="1"/>
              <a:t>Rebeldes</a:t>
            </a:r>
            <a:r>
              <a:rPr dirty="0"/>
              <a:t>: </a:t>
            </a:r>
            <a:r>
              <a:rPr dirty="0" err="1"/>
              <a:t>Guardias</a:t>
            </a:r>
            <a:r>
              <a:rPr dirty="0"/>
              <a:t> </a:t>
            </a:r>
            <a:r>
              <a:rPr dirty="0" err="1"/>
              <a:t>Digitales</a:t>
            </a:r>
            <a:endParaRPr dirty="0"/>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Combatir Fuego con Fuego: </a:t>
            </a:r>
            <a:r>
              <a:rPr sz="1300">
                <a:solidFill>
                  <a:srgbClr val="3D2314"/>
                </a:solidFill>
                <a:latin typeface="Segoe UI"/>
              </a:rPr>
              <a:t>Los guardias humanos son demasiado lentos para detener ataques digitales; ¡necesitas bots buenos para cazar bots malos!</a:t>
            </a:r>
          </a:p>
          <a:p>
            <a:pPr>
              <a:lnSpc>
                <a:spcPct val="125000"/>
              </a:lnSpc>
              <a:spcAft>
                <a:spcPts val="1200"/>
              </a:spcAft>
            </a:pPr>
            <a:r>
              <a:rPr sz="1400" b="1">
                <a:solidFill>
                  <a:srgbClr val="FF5900"/>
                </a:solidFill>
                <a:latin typeface="Segoe UI"/>
              </a:rPr>
              <a:t>• </a:t>
            </a:r>
            <a:r>
              <a:rPr sz="1350" b="1">
                <a:solidFill>
                  <a:srgbClr val="21140E"/>
                </a:solidFill>
                <a:latin typeface="Segoe UI"/>
              </a:rPr>
              <a:t>Agentes en la Sombra: </a:t>
            </a:r>
            <a:r>
              <a:rPr sz="1300">
                <a:solidFill>
                  <a:srgbClr val="3D2314"/>
                </a:solidFill>
                <a:latin typeface="Segoe UI"/>
              </a:rPr>
              <a:t>Cuando empleados conectan bots no autorizados a archivos privados de la empresa, arriesgando fugas de secretos.</a:t>
            </a:r>
          </a:p>
          <a:p>
            <a:pPr>
              <a:lnSpc>
                <a:spcPct val="125000"/>
              </a:lnSpc>
              <a:spcAft>
                <a:spcPts val="1200"/>
              </a:spcAft>
            </a:pPr>
            <a:r>
              <a:rPr sz="1400" b="1">
                <a:solidFill>
                  <a:srgbClr val="FF5900"/>
                </a:solidFill>
                <a:latin typeface="Segoe UI"/>
              </a:rPr>
              <a:t>• </a:t>
            </a:r>
            <a:r>
              <a:rPr sz="1350" b="1">
                <a:solidFill>
                  <a:srgbClr val="21140E"/>
                </a:solidFill>
                <a:latin typeface="Segoe UI"/>
              </a:rPr>
              <a:t>Trampas de Miel: </a:t>
            </a:r>
            <a:r>
              <a:rPr sz="1300">
                <a:solidFill>
                  <a:srgbClr val="3D2314"/>
                </a:solidFill>
                <a:latin typeface="Segoe UI"/>
              </a:rPr>
              <a:t>Poner archivos falsos en tu sitio web que parezcan muy valiosos para atrapar con las manos en la masa a los bots espías.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Regla de Ciberdefensa: Si el ejército atacante se mueve a la velocidad de la luz, ¡tu defensa debe estar automatizada igual de rápido!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42.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guardia con escudo deteniendo flechas digitales.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42 de 60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Fábricas a </a:t>
            </a:r>
            <a:r>
              <a:rPr dirty="0" err="1"/>
              <a:t>Oscuras</a:t>
            </a:r>
            <a:r>
              <a:rPr dirty="0"/>
              <a:t>: Robots </a:t>
            </a:r>
            <a:r>
              <a:rPr dirty="0" err="1"/>
              <a:t>en</a:t>
            </a:r>
            <a:r>
              <a:rPr dirty="0"/>
              <a:t> la Cadena de </a:t>
            </a:r>
            <a:r>
              <a:rPr dirty="0" err="1"/>
              <a:t>Suministro</a:t>
            </a:r>
            <a:endParaRPr dirty="0"/>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¿Qué es una Fábrica a Oscuras? </a:t>
            </a:r>
            <a:r>
              <a:rPr sz="1300">
                <a:solidFill>
                  <a:srgbClr val="3D2314"/>
                </a:solidFill>
                <a:latin typeface="Segoe UI"/>
              </a:rPr>
              <a:t>Una planta tan automatizada que no necesita prender la luz. ¡Los robots arman productos en completa oscuridad!</a:t>
            </a:r>
          </a:p>
          <a:p>
            <a:pPr>
              <a:lnSpc>
                <a:spcPct val="125000"/>
              </a:lnSpc>
              <a:spcAft>
                <a:spcPts val="1200"/>
              </a:spcAft>
            </a:pPr>
            <a:r>
              <a:rPr sz="1400" b="1">
                <a:solidFill>
                  <a:srgbClr val="FF5900"/>
                </a:solidFill>
                <a:latin typeface="Segoe UI"/>
              </a:rPr>
              <a:t>• </a:t>
            </a:r>
            <a:r>
              <a:rPr sz="1350" b="1">
                <a:solidFill>
                  <a:srgbClr val="21140E"/>
                </a:solidFill>
                <a:latin typeface="Segoe UI"/>
              </a:rPr>
              <a:t>Pedidos de Máquina a Máquina: </a:t>
            </a:r>
            <a:r>
              <a:rPr sz="1300">
                <a:solidFill>
                  <a:srgbClr val="3D2314"/>
                </a:solidFill>
                <a:latin typeface="Segoe UI"/>
              </a:rPr>
              <a:t>Cuando una fábrica de autos se queda sin acero, su bot negocia directamente con el bot de la fundidora el siguiente envío.</a:t>
            </a:r>
          </a:p>
          <a:p>
            <a:pPr>
              <a:lnSpc>
                <a:spcPct val="125000"/>
              </a:lnSpc>
              <a:spcAft>
                <a:spcPts val="1200"/>
              </a:spcAft>
            </a:pPr>
            <a:r>
              <a:rPr sz="1400" b="1">
                <a:solidFill>
                  <a:srgbClr val="FF5900"/>
                </a:solidFill>
                <a:latin typeface="Segoe UI"/>
              </a:rPr>
              <a:t>• </a:t>
            </a:r>
            <a:r>
              <a:rPr sz="1350" b="1">
                <a:solidFill>
                  <a:srgbClr val="21140E"/>
                </a:solidFill>
                <a:latin typeface="Segoe UI"/>
              </a:rPr>
              <a:t>Reacción Inmediata: </a:t>
            </a:r>
            <a:r>
              <a:rPr sz="1300">
                <a:solidFill>
                  <a:srgbClr val="3D2314"/>
                </a:solidFill>
                <a:latin typeface="Segoe UI"/>
              </a:rPr>
              <a:t>Si una tormenta cierra un puerto marítimo, los enjambres de logística redirigen 10,000 contenedores por tren en 30 segundos.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El viaje completo de unos tenis—desde el caucho crudo hasta la puerta de tu casa—puede ocurrir sin la intervención de jefes humanos.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43.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fábrica automatizada en la oscuridad con brazos robóticos ensamblando.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43 de 60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El Gran </a:t>
            </a:r>
            <a:r>
              <a:rPr dirty="0" err="1"/>
              <a:t>Botón</a:t>
            </a:r>
            <a:r>
              <a:rPr dirty="0"/>
              <a:t> Rojo: </a:t>
            </a:r>
            <a:r>
              <a:rPr dirty="0" err="1"/>
              <a:t>Mantener</a:t>
            </a:r>
            <a:r>
              <a:rPr dirty="0"/>
              <a:t> el Control Humano</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Por Qué Necesitamos Frenos: </a:t>
            </a:r>
            <a:r>
              <a:rPr sz="1300">
                <a:solidFill>
                  <a:srgbClr val="3D2314"/>
                </a:solidFill>
                <a:latin typeface="Segoe UI"/>
              </a:rPr>
              <a:t>Si los bots tienen libertad absoluta, ¡un pequeño error matemático podría gastar el dinero de tu empresa en 2 minutos!</a:t>
            </a:r>
          </a:p>
          <a:p>
            <a:pPr>
              <a:lnSpc>
                <a:spcPct val="125000"/>
              </a:lnSpc>
              <a:spcAft>
                <a:spcPts val="1200"/>
              </a:spcAft>
            </a:pPr>
            <a:r>
              <a:rPr sz="1400" b="1">
                <a:solidFill>
                  <a:srgbClr val="FF5900"/>
                </a:solidFill>
                <a:latin typeface="Segoe UI"/>
              </a:rPr>
              <a:t>• </a:t>
            </a:r>
            <a:r>
              <a:rPr sz="1350" b="1">
                <a:solidFill>
                  <a:srgbClr val="21140E"/>
                </a:solidFill>
                <a:latin typeface="Segoe UI"/>
              </a:rPr>
              <a:t>Humano al Mando (HITL): </a:t>
            </a:r>
            <a:r>
              <a:rPr sz="1300">
                <a:solidFill>
                  <a:srgbClr val="3D2314"/>
                </a:solidFill>
                <a:latin typeface="Segoe UI"/>
              </a:rPr>
              <a:t>Cualquier gasto mayor a $500 dólares o cualquier comunicado público debe detenerse y pedir la aprobación de una persona real.</a:t>
            </a:r>
          </a:p>
          <a:p>
            <a:pPr>
              <a:lnSpc>
                <a:spcPct val="125000"/>
              </a:lnSpc>
              <a:spcAft>
                <a:spcPts val="1200"/>
              </a:spcAft>
            </a:pPr>
            <a:r>
              <a:rPr sz="1400" b="1">
                <a:solidFill>
                  <a:srgbClr val="FF5900"/>
                </a:solidFill>
                <a:latin typeface="Segoe UI"/>
              </a:rPr>
              <a:t>• </a:t>
            </a:r>
            <a:r>
              <a:rPr sz="1350" b="1">
                <a:solidFill>
                  <a:srgbClr val="21140E"/>
                </a:solidFill>
                <a:latin typeface="Segoe UI"/>
              </a:rPr>
              <a:t>El Interruptor de Emergencia: </a:t>
            </a:r>
            <a:r>
              <a:rPr sz="1300">
                <a:solidFill>
                  <a:srgbClr val="3D2314"/>
                </a:solidFill>
                <a:latin typeface="Segoe UI"/>
              </a:rPr>
              <a:t>Todo enjambre debe tener un gran botón rojo que desconecte el sistema de inmediato si algo sale mal.</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Deja que las computadoras hagan el trabajo pesado a 100 km/h, ¡pero mantén siempre una mano humana firme en el volante!</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48.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mano humana lista para presionar un gran botón rojo de ALTO.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48 de 60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 La Trampa de 2,000 </a:t>
            </a:r>
            <a:r>
              <a:rPr dirty="0" err="1"/>
              <a:t>Años</a:t>
            </a:r>
            <a:r>
              <a:rPr dirty="0"/>
              <a:t>: La Regla del </a:t>
            </a:r>
            <a:r>
              <a:rPr dirty="0" err="1"/>
              <a:t>Ejército</a:t>
            </a:r>
            <a:r>
              <a:rPr dirty="0"/>
              <a:t> Romano</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Regla de los 8: </a:t>
            </a:r>
            <a:r>
              <a:rPr sz="1300">
                <a:solidFill>
                  <a:srgbClr val="3D2314"/>
                </a:solidFill>
                <a:latin typeface="Segoe UI"/>
              </a:rPr>
              <a:t>Hace dos mil años, el ejército romano descubrió que un líder humano solo puede coordinar bien a entre 3 y 8 personas.</a:t>
            </a:r>
          </a:p>
          <a:p>
            <a:pPr>
              <a:lnSpc>
                <a:spcPct val="125000"/>
              </a:lnSpc>
              <a:spcAft>
                <a:spcPts val="1200"/>
              </a:spcAft>
            </a:pPr>
            <a:r>
              <a:rPr sz="1400" b="1">
                <a:solidFill>
                  <a:srgbClr val="FF5900"/>
                </a:solidFill>
                <a:latin typeface="Segoe UI"/>
              </a:rPr>
              <a:t>• </a:t>
            </a:r>
            <a:r>
              <a:rPr sz="1350" b="1">
                <a:solidFill>
                  <a:srgbClr val="21140E"/>
                </a:solidFill>
                <a:latin typeface="Segoe UI"/>
              </a:rPr>
              <a:t>Capas y Más Capas: </a:t>
            </a:r>
            <a:r>
              <a:rPr sz="1300">
                <a:solidFill>
                  <a:srgbClr val="3D2314"/>
                </a:solidFill>
                <a:latin typeface="Segoe UI"/>
              </a:rPr>
              <a:t>Metían a 8 soldados en una tienda de campaña (un contubernio), 10 tiendas bajo un Centurión, y así hasta el General.</a:t>
            </a:r>
          </a:p>
          <a:p>
            <a:pPr>
              <a:lnSpc>
                <a:spcPct val="125000"/>
              </a:lnSpc>
              <a:spcAft>
                <a:spcPts val="1200"/>
              </a:spcAft>
            </a:pPr>
            <a:r>
              <a:rPr sz="1400" b="1">
                <a:solidFill>
                  <a:srgbClr val="FF5900"/>
                </a:solidFill>
                <a:latin typeface="Segoe UI"/>
              </a:rPr>
              <a:t>• </a:t>
            </a:r>
            <a:r>
              <a:rPr sz="1350" b="1">
                <a:solidFill>
                  <a:srgbClr val="21140E"/>
                </a:solidFill>
                <a:latin typeface="Segoe UI"/>
              </a:rPr>
              <a:t>El Problema del Tiempo: </a:t>
            </a:r>
            <a:r>
              <a:rPr sz="1300">
                <a:solidFill>
                  <a:srgbClr val="3D2314"/>
                </a:solidFill>
                <a:latin typeface="Segoe UI"/>
              </a:rPr>
              <a:t>Cada vez que una empresa crece y agrega niveles de jefes, las decisiones tardan meses en tomarse.</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Durante 2,000 años las empresas sufrieron este dilema: o eras pequeño y rápido, o eras gigante y lento. ¡No se podían ambas cosas!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49.png"/>
          <p:cNvPicPr>
            <a:picLocks noChangeAspect="1"/>
          </p:cNvPicPr>
          <p:nvPr/>
        </p:nvPicPr>
        <p:blipFill>
          <a:blip r:embed="rId3"/>
          <a:stretch>
            <a:fillRect/>
          </a:stretch>
        </p:blipFill>
        <p:spPr>
          <a:xfrm>
            <a:off x="7708392" y="1737360"/>
            <a:ext cx="3520439" cy="3245205"/>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tienda romana (contubernio) con 8 escudos y un solo líder.</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49 de 60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El </a:t>
            </a:r>
            <a:r>
              <a:rPr dirty="0" err="1"/>
              <a:t>Teléfono</a:t>
            </a:r>
            <a:r>
              <a:rPr dirty="0"/>
              <a:t> </a:t>
            </a:r>
            <a:r>
              <a:rPr dirty="0" err="1"/>
              <a:t>Descompuesto</a:t>
            </a:r>
            <a:r>
              <a:rPr dirty="0"/>
              <a:t> de </a:t>
            </a:r>
            <a:r>
              <a:rPr dirty="0" err="1"/>
              <a:t>los</a:t>
            </a:r>
            <a:r>
              <a:rPr dirty="0"/>
              <a:t> </a:t>
            </a:r>
            <a:r>
              <a:rPr dirty="0" err="1"/>
              <a:t>Mandos</a:t>
            </a:r>
            <a:r>
              <a:rPr dirty="0"/>
              <a:t> </a:t>
            </a:r>
            <a:r>
              <a:rPr dirty="0" err="1"/>
              <a:t>Medios</a:t>
            </a:r>
            <a:endParaRPr dirty="0"/>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Escalera Corporativa: </a:t>
            </a:r>
            <a:r>
              <a:rPr sz="1300">
                <a:solidFill>
                  <a:srgbClr val="3D2314"/>
                </a:solidFill>
                <a:latin typeface="Segoe UI"/>
              </a:rPr>
              <a:t>Los ejércitos prusianos y los ferrocarriles crearon 'mandos medios' para subir reportes y bajar órdenes.</a:t>
            </a:r>
          </a:p>
          <a:p>
            <a:pPr>
              <a:lnSpc>
                <a:spcPct val="125000"/>
              </a:lnSpc>
              <a:spcAft>
                <a:spcPts val="1200"/>
              </a:spcAft>
            </a:pPr>
            <a:r>
              <a:rPr sz="1400" b="1">
                <a:solidFill>
                  <a:srgbClr val="FF5900"/>
                </a:solidFill>
                <a:latin typeface="Segoe UI"/>
              </a:rPr>
              <a:t>• </a:t>
            </a:r>
            <a:r>
              <a:rPr sz="1350" b="1">
                <a:solidFill>
                  <a:srgbClr val="21140E"/>
                </a:solidFill>
                <a:latin typeface="Segoe UI"/>
              </a:rPr>
              <a:t>El Teléfono Descompuesto: </a:t>
            </a:r>
            <a:r>
              <a:rPr sz="1300">
                <a:solidFill>
                  <a:srgbClr val="3D2314"/>
                </a:solidFill>
                <a:latin typeface="Segoe UI"/>
              </a:rPr>
              <a:t>Al pasar por 5 niveles de vicepresidentes, la verdad se distorsiona y llega con meses de retraso.</a:t>
            </a:r>
          </a:p>
          <a:p>
            <a:pPr>
              <a:lnSpc>
                <a:spcPct val="125000"/>
              </a:lnSpc>
              <a:spcAft>
                <a:spcPts val="1200"/>
              </a:spcAft>
            </a:pPr>
            <a:r>
              <a:rPr sz="1400" b="1">
                <a:solidFill>
                  <a:srgbClr val="FF5900"/>
                </a:solidFill>
                <a:latin typeface="Segoe UI"/>
              </a:rPr>
              <a:t>• </a:t>
            </a:r>
            <a:r>
              <a:rPr sz="1350" b="1">
                <a:solidFill>
                  <a:srgbClr val="21140E"/>
                </a:solidFill>
                <a:latin typeface="Segoe UI"/>
              </a:rPr>
              <a:t>Enrutadores Humanos: </a:t>
            </a:r>
            <a:r>
              <a:rPr sz="1300">
                <a:solidFill>
                  <a:srgbClr val="3D2314"/>
                </a:solidFill>
                <a:latin typeface="Segoe UI"/>
              </a:rPr>
              <a:t>Muchos gerentes pasan el día entero en juntas solo para platicarle a su jefe lo que hicieron los trabajadores.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El gran descubrimiento de Jack Dorsey: ¡Los humanos somos enrutadores de información lentos, caros y con sesgos personales!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50.png"/>
          <p:cNvPicPr>
            <a:picLocks noChangeAspect="1"/>
          </p:cNvPicPr>
          <p:nvPr/>
        </p:nvPicPr>
        <p:blipFill>
          <a:blip r:embed="rId3"/>
          <a:stretch>
            <a:fillRect/>
          </a:stretch>
        </p:blipFill>
        <p:spPr>
          <a:xfrm>
            <a:off x="7708392" y="1737360"/>
            <a:ext cx="3520439" cy="3380422"/>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fila de personas susurrando un mensaje que termina distorsionado.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50 de 60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La Gran Idea de Jack Dorsey: La IA </a:t>
            </a:r>
            <a:r>
              <a:rPr dirty="0" err="1"/>
              <a:t>como</a:t>
            </a:r>
            <a:r>
              <a:rPr dirty="0"/>
              <a:t> Sistema </a:t>
            </a:r>
            <a:r>
              <a:rPr dirty="0" err="1"/>
              <a:t>Nervioso</a:t>
            </a:r>
            <a:endParaRPr dirty="0"/>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Más Allá de Escribir Correos: </a:t>
            </a:r>
            <a:r>
              <a:rPr sz="1300">
                <a:solidFill>
                  <a:srgbClr val="3D2314"/>
                </a:solidFill>
                <a:latin typeface="Segoe UI"/>
              </a:rPr>
              <a:t>La mayoría cree que la IA es solo para redactar correos un 10% más rápido. Dorsey dice que eso es falta de visión.</a:t>
            </a:r>
          </a:p>
          <a:p>
            <a:pPr>
              <a:lnSpc>
                <a:spcPct val="125000"/>
              </a:lnSpc>
              <a:spcAft>
                <a:spcPts val="1200"/>
              </a:spcAft>
            </a:pPr>
            <a:r>
              <a:rPr sz="1400" b="1">
                <a:solidFill>
                  <a:srgbClr val="FF5900"/>
                </a:solidFill>
                <a:latin typeface="Segoe UI"/>
              </a:rPr>
              <a:t>• </a:t>
            </a:r>
            <a:r>
              <a:rPr sz="1350" b="1">
                <a:solidFill>
                  <a:srgbClr val="21140E"/>
                </a:solidFill>
                <a:latin typeface="Segoe UI"/>
              </a:rPr>
              <a:t>La Empresa Viva: </a:t>
            </a:r>
            <a:r>
              <a:rPr sz="1300">
                <a:solidFill>
                  <a:srgbClr val="3D2314"/>
                </a:solidFill>
                <a:latin typeface="Segoe UI"/>
              </a:rPr>
              <a:t>Dorsey está transformando Block (Square/Cash App) en una empresa viva donde la IA funciona como el sistema nervioso central.</a:t>
            </a:r>
          </a:p>
          <a:p>
            <a:pPr>
              <a:lnSpc>
                <a:spcPct val="125000"/>
              </a:lnSpc>
              <a:spcAft>
                <a:spcPts val="1200"/>
              </a:spcAft>
            </a:pPr>
            <a:r>
              <a:rPr sz="1400" b="1">
                <a:solidFill>
                  <a:srgbClr val="FF5900"/>
                </a:solidFill>
                <a:latin typeface="Segoe UI"/>
              </a:rPr>
              <a:t>• </a:t>
            </a:r>
            <a:r>
              <a:rPr sz="1350" b="1">
                <a:solidFill>
                  <a:srgbClr val="21140E"/>
                </a:solidFill>
                <a:latin typeface="Segoe UI"/>
              </a:rPr>
              <a:t>El Sistema Lee Todo: </a:t>
            </a:r>
            <a:r>
              <a:rPr sz="1300">
                <a:solidFill>
                  <a:srgbClr val="3D2314"/>
                </a:solidFill>
                <a:latin typeface="Segoe UI"/>
              </a:rPr>
              <a:t>Como trabajan a distancia, la IA analiza cada decisión en Slack, cada cambio en el código y cada plan en tiempo real.</a:t>
            </a:r>
          </a:p>
          <a:p>
            <a:pPr>
              <a:lnSpc>
                <a:spcPct val="125000"/>
              </a:lnSpc>
              <a:spcAft>
                <a:spcPts val="1200"/>
              </a:spcAft>
            </a:pPr>
            <a:r>
              <a:rPr sz="1400" b="1">
                <a:solidFill>
                  <a:srgbClr val="FF5900"/>
                </a:solidFill>
                <a:latin typeface="Segoe UI"/>
              </a:rPr>
              <a:t>• </a:t>
            </a:r>
            <a:r>
              <a:rPr sz="1350" b="1">
                <a:solidFill>
                  <a:srgbClr val="21140E"/>
                </a:solidFill>
                <a:latin typeface="Segoe UI"/>
              </a:rPr>
              <a:t>Adiós a Juntas de Estado: </a:t>
            </a:r>
            <a:r>
              <a:rPr sz="1300">
                <a:solidFill>
                  <a:srgbClr val="3D2314"/>
                </a:solidFill>
                <a:latin typeface="Segoe UI"/>
              </a:rPr>
              <a:t>¡El sistema ya sabe exactamente qué se está construyendo, quién está atorado y dónde se está perdiendo dinero!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Jack Dorsey rompió la regla romana de los 2,000 años: ¡Ahora una empresa puede ser gigantesca y moverse a la velocidad de la luz a la vez!</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51.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edificio de oficinas con cables nerviosos luminosos conectando pisos.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51 de 60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Pilar 1 de Dorsey: Motores </a:t>
            </a:r>
            <a:r>
              <a:rPr dirty="0" err="1"/>
              <a:t>Sólidos</a:t>
            </a:r>
            <a:r>
              <a:rPr dirty="0"/>
              <a:t> (</a:t>
            </a:r>
            <a:r>
              <a:rPr dirty="0" err="1"/>
              <a:t>Capacidades</a:t>
            </a:r>
            <a:r>
              <a:rPr dirty="0"/>
              <a:t>)</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¿Qué Son Capacidades? </a:t>
            </a:r>
            <a:r>
              <a:rPr sz="1300">
                <a:solidFill>
                  <a:srgbClr val="3D2314"/>
                </a:solidFill>
                <a:latin typeface="Segoe UI"/>
              </a:rPr>
              <a:t>Los bloques fundamentales de la empresa: motores de pagos, préstamos y libros contables bancarios.</a:t>
            </a:r>
          </a:p>
          <a:p>
            <a:pPr>
              <a:lnSpc>
                <a:spcPct val="125000"/>
              </a:lnSpc>
              <a:spcAft>
                <a:spcPts val="1200"/>
              </a:spcAft>
            </a:pPr>
            <a:r>
              <a:rPr sz="1400" b="1">
                <a:solidFill>
                  <a:srgbClr val="FF5900"/>
                </a:solidFill>
                <a:latin typeface="Segoe UI"/>
              </a:rPr>
              <a:t>• </a:t>
            </a:r>
            <a:r>
              <a:rPr sz="1350" b="1">
                <a:solidFill>
                  <a:srgbClr val="21140E"/>
                </a:solidFill>
                <a:latin typeface="Segoe UI"/>
              </a:rPr>
              <a:t>Sin Diseños Bonitos: </a:t>
            </a:r>
            <a:r>
              <a:rPr sz="1300">
                <a:solidFill>
                  <a:srgbClr val="3D2314"/>
                </a:solidFill>
                <a:latin typeface="Segoe UI"/>
              </a:rPr>
              <a:t>No son aplicaciones coloridas de celular; son motores de software fuertísimos y seguros que hacen el trabajo rudo.</a:t>
            </a:r>
          </a:p>
          <a:p>
            <a:pPr>
              <a:lnSpc>
                <a:spcPct val="125000"/>
              </a:lnSpc>
              <a:spcAft>
                <a:spcPts val="1200"/>
              </a:spcAft>
            </a:pPr>
            <a:r>
              <a:rPr sz="1400" b="1">
                <a:solidFill>
                  <a:srgbClr val="FF5900"/>
                </a:solidFill>
                <a:latin typeface="Segoe UI"/>
              </a:rPr>
              <a:t>• </a:t>
            </a:r>
            <a:r>
              <a:rPr sz="1350" b="1">
                <a:solidFill>
                  <a:srgbClr val="21140E"/>
                </a:solidFill>
                <a:latin typeface="Segoe UI"/>
              </a:rPr>
              <a:t>Piezas de Lego para la IA: </a:t>
            </a:r>
            <a:r>
              <a:rPr sz="1300">
                <a:solidFill>
                  <a:srgbClr val="3D2314"/>
                </a:solidFill>
                <a:latin typeface="Segoe UI"/>
              </a:rPr>
              <a:t>Líneas de código bien hechas que la IA puede activar en un segundo cuando un cliente necesita un préstamo o pago.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Piensa en las capacidades como el motor y la transmisión de un camión pesado: no tienen adornos, pero nunca fallan.</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52.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Tres columnas clásicas de piedra tituladas Pagos, Préstamos y Banco.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52 de 60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Pilar 2 de Dorsey: El Modelo del Mundo de Dos Caras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El Cerebro de la Empresa: </a:t>
            </a:r>
            <a:r>
              <a:rPr sz="1300">
                <a:solidFill>
                  <a:srgbClr val="3D2314"/>
                </a:solidFill>
                <a:latin typeface="Segoe UI"/>
              </a:rPr>
              <a:t>El 'World Model' es un mapa de la realidad que se actualiza cada segundo dentro de la computadora.</a:t>
            </a:r>
          </a:p>
          <a:p>
            <a:pPr>
              <a:lnSpc>
                <a:spcPct val="125000"/>
              </a:lnSpc>
              <a:spcAft>
                <a:spcPts val="1200"/>
              </a:spcAft>
            </a:pPr>
            <a:r>
              <a:rPr sz="1400" b="1">
                <a:solidFill>
                  <a:srgbClr val="FF5900"/>
                </a:solidFill>
                <a:latin typeface="Segoe UI"/>
              </a:rPr>
              <a:t>• </a:t>
            </a:r>
            <a:r>
              <a:rPr sz="1350" b="1">
                <a:solidFill>
                  <a:srgbClr val="21140E"/>
                </a:solidFill>
                <a:latin typeface="Segoe UI"/>
              </a:rPr>
              <a:t>Cara 1 - Hacia Adentro: </a:t>
            </a:r>
            <a:r>
              <a:rPr sz="1300">
                <a:solidFill>
                  <a:srgbClr val="3D2314"/>
                </a:solidFill>
                <a:latin typeface="Segoe UI"/>
              </a:rPr>
              <a:t>Conoce cada línea de código escrita, los avances de cada proyecto y qué equipo necesita apoyo hoy mismo.</a:t>
            </a:r>
          </a:p>
          <a:p>
            <a:pPr>
              <a:lnSpc>
                <a:spcPct val="125000"/>
              </a:lnSpc>
              <a:spcAft>
                <a:spcPts val="1200"/>
              </a:spcAft>
            </a:pPr>
            <a:r>
              <a:rPr sz="1400" b="1">
                <a:solidFill>
                  <a:srgbClr val="FF5900"/>
                </a:solidFill>
                <a:latin typeface="Segoe UI"/>
              </a:rPr>
              <a:t>• </a:t>
            </a:r>
            <a:r>
              <a:rPr sz="1350" b="1">
                <a:solidFill>
                  <a:srgbClr val="21140E"/>
                </a:solidFill>
                <a:latin typeface="Segoe UI"/>
              </a:rPr>
              <a:t>Cara 2 - La Verdad del Cliente: </a:t>
            </a:r>
            <a:r>
              <a:rPr sz="1300">
                <a:solidFill>
                  <a:srgbClr val="3D2314"/>
                </a:solidFill>
                <a:latin typeface="Segoe UI"/>
              </a:rPr>
              <a:t>Basado en transacciones de dinero reales. La gente miente en encuestas, ¡pero sus gastos y ahorros dicen la verdad!</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El sistema no adivina qué quieren los clientes ni qué hacen los empleados: lo sabe con absoluta certeza matemática.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53.png"/>
          <p:cNvPicPr>
            <a:picLocks noChangeAspect="1"/>
          </p:cNvPicPr>
          <p:nvPr/>
        </p:nvPicPr>
        <p:blipFill>
          <a:blip r:embed="rId3"/>
          <a:stretch>
            <a:fillRect/>
          </a:stretch>
        </p:blipFill>
        <p:spPr>
          <a:xfrm>
            <a:off x="7708392" y="1737360"/>
            <a:ext cx="3520439" cy="3098720"/>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Dos círculos entrelazados: Trabajo Interno y Verdad del Dinero del Cliente.</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53 de 60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Pilares 3 y 4: Cerebro </a:t>
            </a:r>
            <a:r>
              <a:rPr dirty="0" err="1"/>
              <a:t>Inteligente</a:t>
            </a:r>
            <a:r>
              <a:rPr dirty="0"/>
              <a:t> y </a:t>
            </a:r>
            <a:r>
              <a:rPr dirty="0" err="1"/>
              <a:t>Pantallas</a:t>
            </a:r>
            <a:r>
              <a:rPr dirty="0"/>
              <a:t> Simples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Pilar 3 - La Capa de Inteligencia: </a:t>
            </a:r>
            <a:r>
              <a:rPr sz="1300">
                <a:solidFill>
                  <a:srgbClr val="3D2314"/>
                </a:solidFill>
                <a:latin typeface="Segoe UI"/>
              </a:rPr>
              <a:t>En vez de que un gerente tarde 6 meses planeando una función, la IA inventa soluciones en el acto.</a:t>
            </a:r>
          </a:p>
          <a:p>
            <a:pPr>
              <a:lnSpc>
                <a:spcPct val="125000"/>
              </a:lnSpc>
              <a:spcAft>
                <a:spcPts val="1200"/>
              </a:spcAft>
            </a:pPr>
            <a:r>
              <a:rPr sz="1400" b="1">
                <a:solidFill>
                  <a:srgbClr val="FF5900"/>
                </a:solidFill>
                <a:latin typeface="Segoe UI"/>
              </a:rPr>
              <a:t>• </a:t>
            </a:r>
            <a:r>
              <a:rPr sz="1350" b="1">
                <a:solidFill>
                  <a:srgbClr val="21140E"/>
                </a:solidFill>
                <a:latin typeface="Segoe UI"/>
              </a:rPr>
              <a:t>Ayuda Anticipada: </a:t>
            </a:r>
            <a:r>
              <a:rPr sz="1300">
                <a:solidFill>
                  <a:srgbClr val="3D2314"/>
                </a:solidFill>
                <a:latin typeface="Segoe UI"/>
              </a:rPr>
              <a:t>Si la IA nota que las ventas de un restaurante bajan por la lluvia de un martes, le ofrece un préstamo antes de que el dueño lo pida.</a:t>
            </a:r>
          </a:p>
          <a:p>
            <a:pPr>
              <a:lnSpc>
                <a:spcPct val="125000"/>
              </a:lnSpc>
              <a:spcAft>
                <a:spcPts val="1200"/>
              </a:spcAft>
            </a:pPr>
            <a:r>
              <a:rPr sz="1400" b="1">
                <a:solidFill>
                  <a:srgbClr val="FF5900"/>
                </a:solidFill>
                <a:latin typeface="Segoe UI"/>
              </a:rPr>
              <a:t>• </a:t>
            </a:r>
            <a:r>
              <a:rPr sz="1350" b="1">
                <a:solidFill>
                  <a:srgbClr val="21140E"/>
                </a:solidFill>
                <a:latin typeface="Segoe UI"/>
              </a:rPr>
              <a:t>Pilar 4 - Pantallas Delgadas: </a:t>
            </a:r>
            <a:r>
              <a:rPr sz="1300">
                <a:solidFill>
                  <a:srgbClr val="3D2314"/>
                </a:solidFill>
                <a:latin typeface="Segoe UI"/>
              </a:rPr>
              <a:t>Apps como Square o Cash App son solo pantallas de cristal. ¡El valor no es la app, es la inteligencia detrás del vidrio!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La app en tu teléfono es solo una ventana. La verdadera magia es el cerebro vivo que opera detrás de la pantalla.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54.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cerebro de IA componiendo una oferta dentro de una pantalla limpia.</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54 de 60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 Los 3 </a:t>
            </a:r>
            <a:r>
              <a:rPr dirty="0" err="1"/>
              <a:t>Trabajos</a:t>
            </a:r>
            <a:r>
              <a:rPr dirty="0"/>
              <a:t> Humanos: </a:t>
            </a:r>
            <a:r>
              <a:rPr dirty="0" err="1"/>
              <a:t>Adiós</a:t>
            </a:r>
            <a:r>
              <a:rPr dirty="0"/>
              <a:t> a </a:t>
            </a:r>
            <a:r>
              <a:rPr dirty="0" err="1"/>
              <a:t>los</a:t>
            </a:r>
            <a:r>
              <a:rPr dirty="0"/>
              <a:t> Jefes </a:t>
            </a:r>
            <a:r>
              <a:rPr dirty="0" err="1"/>
              <a:t>Tradicionales</a:t>
            </a:r>
            <a:endParaRPr dirty="0"/>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Sin Mandos Medios Permanentes: </a:t>
            </a:r>
            <a:r>
              <a:rPr sz="1300">
                <a:solidFill>
                  <a:srgbClr val="3D2314"/>
                </a:solidFill>
                <a:latin typeface="Segoe UI"/>
              </a:rPr>
              <a:t>Dorsey eliminó las capas de gerentes que se la pasaban todo el día en juntas de coordinación.</a:t>
            </a:r>
          </a:p>
          <a:p>
            <a:pPr>
              <a:lnSpc>
                <a:spcPct val="125000"/>
              </a:lnSpc>
              <a:spcAft>
                <a:spcPts val="1200"/>
              </a:spcAft>
            </a:pPr>
            <a:r>
              <a:rPr sz="1400" b="1">
                <a:solidFill>
                  <a:srgbClr val="FF5900"/>
                </a:solidFill>
                <a:latin typeface="Segoe UI"/>
              </a:rPr>
              <a:t>• </a:t>
            </a:r>
            <a:r>
              <a:rPr sz="1350" b="1">
                <a:solidFill>
                  <a:srgbClr val="21140E"/>
                </a:solidFill>
                <a:latin typeface="Segoe UI"/>
              </a:rPr>
              <a:t>1. Especialistas (ICs): </a:t>
            </a:r>
            <a:r>
              <a:rPr sz="1300">
                <a:solidFill>
                  <a:srgbClr val="3D2314"/>
                </a:solidFill>
                <a:latin typeface="Segoe UI"/>
              </a:rPr>
              <a:t>Expertos que programan, diseñan y construyen productos con toda la información del World Model a su alcance.</a:t>
            </a:r>
          </a:p>
          <a:p>
            <a:pPr>
              <a:lnSpc>
                <a:spcPct val="125000"/>
              </a:lnSpc>
              <a:spcAft>
                <a:spcPts val="1200"/>
              </a:spcAft>
            </a:pPr>
            <a:r>
              <a:rPr sz="1400" b="1">
                <a:solidFill>
                  <a:srgbClr val="FF5900"/>
                </a:solidFill>
                <a:latin typeface="Segoe UI"/>
              </a:rPr>
              <a:t>• </a:t>
            </a:r>
            <a:r>
              <a:rPr sz="1350" b="1">
                <a:solidFill>
                  <a:srgbClr val="21140E"/>
                </a:solidFill>
                <a:latin typeface="Segoe UI"/>
              </a:rPr>
              <a:t>2. Solucionadores (DRIs): </a:t>
            </a:r>
            <a:r>
              <a:rPr sz="1300">
                <a:solidFill>
                  <a:srgbClr val="3D2314"/>
                </a:solidFill>
                <a:latin typeface="Segoe UI"/>
              </a:rPr>
              <a:t>Personas responsables de resolver un problema específico durante 90 días con permiso de usar cualquier recurso.</a:t>
            </a:r>
          </a:p>
          <a:p>
            <a:pPr>
              <a:lnSpc>
                <a:spcPct val="125000"/>
              </a:lnSpc>
              <a:spcAft>
                <a:spcPts val="1200"/>
              </a:spcAft>
            </a:pPr>
            <a:r>
              <a:rPr sz="1400" b="1">
                <a:solidFill>
                  <a:srgbClr val="FF5900"/>
                </a:solidFill>
                <a:latin typeface="Segoe UI"/>
              </a:rPr>
              <a:t>• </a:t>
            </a:r>
            <a:r>
              <a:rPr sz="1350" b="1">
                <a:solidFill>
                  <a:srgbClr val="21140E"/>
                </a:solidFill>
                <a:latin typeface="Segoe UI"/>
              </a:rPr>
              <a:t>3. Jugadores-Entrenadores: </a:t>
            </a:r>
            <a:r>
              <a:rPr sz="1300">
                <a:solidFill>
                  <a:srgbClr val="3D2314"/>
                </a:solidFill>
                <a:latin typeface="Segoe UI"/>
              </a:rPr>
              <a:t>Maestros del oficio que hacen trabajo real mientras enseñan y guían a los compañeros más jóvenes.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Los trabajadores ya no tienen que pedir permiso a 3 jefes: el sistema les da toda la información para decidir en el acto.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55.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Tres medallas de trabajo: Especialista, Solucionador y Entrenador.</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55 de 60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 El Principio de la Frontera: Lo </a:t>
            </a:r>
            <a:r>
              <a:rPr dirty="0" err="1"/>
              <a:t>que</a:t>
            </a:r>
            <a:r>
              <a:rPr dirty="0"/>
              <a:t> Solo un Humano </a:t>
            </a:r>
            <a:r>
              <a:rPr dirty="0" err="1"/>
              <a:t>Puede</a:t>
            </a:r>
            <a:r>
              <a:rPr dirty="0"/>
              <a:t> Hacer</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Las Máquinas en el Centro: </a:t>
            </a:r>
            <a:r>
              <a:rPr sz="1300">
                <a:solidFill>
                  <a:srgbClr val="3D2314"/>
                </a:solidFill>
                <a:latin typeface="Segoe UI"/>
              </a:rPr>
              <a:t>La IA se encarga de los cálculos, reportes, enrutamiento de datos y coordinación interna.</a:t>
            </a:r>
          </a:p>
          <a:p>
            <a:pPr>
              <a:lnSpc>
                <a:spcPct val="125000"/>
              </a:lnSpc>
              <a:spcAft>
                <a:spcPts val="1200"/>
              </a:spcAft>
            </a:pPr>
            <a:r>
              <a:rPr sz="1400" b="1">
                <a:solidFill>
                  <a:srgbClr val="FF5900"/>
                </a:solidFill>
                <a:latin typeface="Segoe UI"/>
              </a:rPr>
              <a:t>• </a:t>
            </a:r>
            <a:r>
              <a:rPr sz="1350" b="1">
                <a:solidFill>
                  <a:srgbClr val="21140E"/>
                </a:solidFill>
                <a:latin typeface="Segoe UI"/>
              </a:rPr>
              <a:t>Los Humanos en la Frontera: </a:t>
            </a:r>
            <a:r>
              <a:rPr sz="1300">
                <a:solidFill>
                  <a:srgbClr val="3D2314"/>
                </a:solidFill>
                <a:latin typeface="Segoe UI"/>
              </a:rPr>
              <a:t>Las personas viven en la frontera donde la empresa se encuentra con la realidad: hablando con clientes y sintiendo sus problemas.</a:t>
            </a:r>
          </a:p>
          <a:p>
            <a:pPr>
              <a:lnSpc>
                <a:spcPct val="125000"/>
              </a:lnSpc>
              <a:spcAft>
                <a:spcPts val="1200"/>
              </a:spcAft>
            </a:pPr>
            <a:r>
              <a:rPr sz="1400" b="1">
                <a:solidFill>
                  <a:srgbClr val="FF5900"/>
                </a:solidFill>
                <a:latin typeface="Segoe UI"/>
              </a:rPr>
              <a:t>• </a:t>
            </a:r>
            <a:r>
              <a:rPr sz="1350" b="1">
                <a:solidFill>
                  <a:srgbClr val="21140E"/>
                </a:solidFill>
                <a:latin typeface="Segoe UI"/>
              </a:rPr>
              <a:t>Lo que la IA Jamás Podrá Tener: </a:t>
            </a:r>
            <a:r>
              <a:rPr sz="1300">
                <a:solidFill>
                  <a:srgbClr val="3D2314"/>
                </a:solidFill>
                <a:latin typeface="Segoe UI"/>
              </a:rPr>
              <a:t>Las máquinas son brillantes con los números, pero carecen de empatía, intuición, valor moral y confianza real.</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Dirigir ya no es 'controlar personas'. Es diseñar un sistema donde humanos e inteligencia artificial evolucionan juntos.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56.png"/>
          <p:cNvPicPr>
            <a:picLocks noChangeAspect="1"/>
          </p:cNvPicPr>
          <p:nvPr/>
        </p:nvPicPr>
        <p:blipFill>
          <a:blip r:embed="rId3"/>
          <a:stretch>
            <a:fillRect/>
          </a:stretch>
        </p:blipFill>
        <p:spPr>
          <a:xfrm>
            <a:off x="7708392" y="1737360"/>
            <a:ext cx="3520439" cy="2762946"/>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Empatía, Confianza y Ética: El corazón humano al lado del robot.</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56 de 60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 El </a:t>
            </a:r>
            <a:r>
              <a:rPr dirty="0" err="1"/>
              <a:t>Engranaje</a:t>
            </a:r>
            <a:r>
              <a:rPr dirty="0"/>
              <a:t> del Dinero: Cash App + Square</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Viendo Ambos Lados: </a:t>
            </a:r>
            <a:r>
              <a:rPr sz="1300">
                <a:solidFill>
                  <a:srgbClr val="3D2314"/>
                </a:solidFill>
                <a:latin typeface="Segoe UI"/>
              </a:rPr>
              <a:t>Casi todos los bancos solo ven un lado de la economía. Block ve al comprador (Cash App) Y al comerciante (Square).</a:t>
            </a:r>
          </a:p>
          <a:p>
            <a:pPr>
              <a:lnSpc>
                <a:spcPct val="125000"/>
              </a:lnSpc>
              <a:spcAft>
                <a:spcPts val="1200"/>
              </a:spcAft>
            </a:pPr>
            <a:r>
              <a:rPr sz="1400" b="1">
                <a:solidFill>
                  <a:srgbClr val="FF5900"/>
                </a:solidFill>
                <a:latin typeface="Segoe UI"/>
              </a:rPr>
              <a:t>• </a:t>
            </a:r>
            <a:r>
              <a:rPr sz="1350" b="1">
                <a:solidFill>
                  <a:srgbClr val="21140E"/>
                </a:solidFill>
                <a:latin typeface="Segoe UI"/>
              </a:rPr>
              <a:t>El Grafo Económico: </a:t>
            </a:r>
            <a:r>
              <a:rPr sz="1300">
                <a:solidFill>
                  <a:srgbClr val="3D2314"/>
                </a:solidFill>
                <a:latin typeface="Segoe UI"/>
              </a:rPr>
              <a:t>Cuando compras un café con Cash App en una cafetería que usa Square, Block conecta ambos lados al instante.</a:t>
            </a:r>
          </a:p>
          <a:p>
            <a:pPr>
              <a:lnSpc>
                <a:spcPct val="125000"/>
              </a:lnSpc>
              <a:spcAft>
                <a:spcPts val="1200"/>
              </a:spcAft>
            </a:pPr>
            <a:r>
              <a:rPr sz="1400" b="1">
                <a:solidFill>
                  <a:srgbClr val="FF5900"/>
                </a:solidFill>
                <a:latin typeface="Segoe UI"/>
              </a:rPr>
              <a:t>• </a:t>
            </a:r>
            <a:r>
              <a:rPr sz="1350" b="1">
                <a:solidFill>
                  <a:srgbClr val="21140E"/>
                </a:solidFill>
                <a:latin typeface="Segoe UI"/>
              </a:rPr>
              <a:t>El Círculo Virtuoso: </a:t>
            </a:r>
            <a:r>
              <a:rPr sz="1300">
                <a:solidFill>
                  <a:srgbClr val="3D2314"/>
                </a:solidFill>
                <a:latin typeface="Segoe UI"/>
              </a:rPr>
              <a:t>Más compras hacen más inteligente al World Model. Un modelo más inteligente crea mejores servicios, atrayendo más usuarios.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Los bancos tradicionales con jerarquías pesadas no pueden competir contra un sistema que aprende de cada café vendido en el mundo.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57.png"/>
          <p:cNvPicPr>
            <a:picLocks noChangeAspect="1"/>
          </p:cNvPicPr>
          <p:nvPr/>
        </p:nvPicPr>
        <p:blipFill>
          <a:blip r:embed="rId3"/>
          <a:stretch>
            <a:fillRect/>
          </a:stretch>
        </p:blipFill>
        <p:spPr>
          <a:xfrm>
            <a:off x="7708392" y="1737360"/>
            <a:ext cx="3520439" cy="325704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Dos engranes entrelazados girando juntos: Cash App y Square.</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57 de 60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Caminos Libres vs. </a:t>
            </a:r>
            <a:r>
              <a:rPr dirty="0" err="1"/>
              <a:t>Castillos</a:t>
            </a:r>
            <a:r>
              <a:rPr dirty="0"/>
              <a:t> </a:t>
            </a:r>
            <a:r>
              <a:rPr dirty="0" err="1"/>
              <a:t>Cerrados</a:t>
            </a:r>
            <a:r>
              <a:rPr dirty="0"/>
              <a:t>: </a:t>
            </a:r>
            <a:r>
              <a:rPr dirty="0" err="1"/>
              <a:t>Nostr</a:t>
            </a:r>
            <a:r>
              <a:rPr dirty="0"/>
              <a:t> y Bluesky</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Advertencia de Dorsey: </a:t>
            </a:r>
            <a:r>
              <a:rPr sz="1300">
                <a:solidFill>
                  <a:srgbClr val="3D2314"/>
                </a:solidFill>
                <a:latin typeface="Segoe UI"/>
              </a:rPr>
              <a:t>Cuando una empresa es dueña absoluta de una red social, se vuelve codiciosa, encierra tus datos y empieza a censurar.</a:t>
            </a:r>
          </a:p>
          <a:p>
            <a:pPr>
              <a:lnSpc>
                <a:spcPct val="125000"/>
              </a:lnSpc>
              <a:spcAft>
                <a:spcPts val="1200"/>
              </a:spcAft>
            </a:pPr>
            <a:r>
              <a:rPr sz="1400" b="1">
                <a:solidFill>
                  <a:srgbClr val="FF5900"/>
                </a:solidFill>
                <a:latin typeface="Segoe UI"/>
              </a:rPr>
              <a:t>• </a:t>
            </a:r>
            <a:r>
              <a:rPr sz="1350" b="1">
                <a:solidFill>
                  <a:srgbClr val="21140E"/>
                </a:solidFill>
                <a:latin typeface="Segoe UI"/>
              </a:rPr>
              <a:t>Protocolos Abiertos: </a:t>
            </a:r>
            <a:r>
              <a:rPr sz="1300">
                <a:solidFill>
                  <a:srgbClr val="3D2314"/>
                </a:solidFill>
                <a:latin typeface="Segoe UI"/>
              </a:rPr>
              <a:t>Dorsey financió Bluesky (Protocolo AT) y Nostr: carreteras digitales libres donde nadie es dueño de los servidores.</a:t>
            </a:r>
          </a:p>
          <a:p>
            <a:pPr>
              <a:lnSpc>
                <a:spcPct val="125000"/>
              </a:lnSpc>
              <a:spcAft>
                <a:spcPts val="1200"/>
              </a:spcAft>
            </a:pPr>
            <a:r>
              <a:rPr sz="1400" b="1">
                <a:solidFill>
                  <a:srgbClr val="FF5900"/>
                </a:solidFill>
                <a:latin typeface="Segoe UI"/>
              </a:rPr>
              <a:t>• </a:t>
            </a:r>
            <a:r>
              <a:rPr sz="1350" b="1">
                <a:solidFill>
                  <a:srgbClr val="21140E"/>
                </a:solidFill>
                <a:latin typeface="Segoe UI"/>
              </a:rPr>
              <a:t>Libertad para tus Bots: </a:t>
            </a:r>
            <a:r>
              <a:rPr sz="1300">
                <a:solidFill>
                  <a:srgbClr val="3D2314"/>
                </a:solidFill>
                <a:latin typeface="Segoe UI"/>
              </a:rPr>
              <a:t>En un protocolo abierto, ningún multimillonario enojado puede expulsar ni apagar a tu ejército de Clawbots.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¡Nunca construyas tu casa en terreno ajeno! Construye sobre protocolos libres que nadie pueda censurar ni apagar.</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58.png"/>
          <p:cNvPicPr>
            <a:picLocks noChangeAspect="1"/>
          </p:cNvPicPr>
          <p:nvPr/>
        </p:nvPicPr>
        <p:blipFill>
          <a:blip r:embed="rId3"/>
          <a:stretch>
            <a:fillRect/>
          </a:stretch>
        </p:blipFill>
        <p:spPr>
          <a:xfrm>
            <a:off x="7708392" y="1737360"/>
            <a:ext cx="3520439" cy="3287040"/>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castillo cerrado y oscuro vs. una carretera soleada y libre.</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58 de 60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Monedas para Robots: Bitcoin y la Red Lightning</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Los Bots No Tienen INE ni Tarjetas: </a:t>
            </a:r>
            <a:r>
              <a:rPr sz="1300">
                <a:solidFill>
                  <a:srgbClr val="3D2314"/>
                </a:solidFill>
                <a:latin typeface="Segoe UI"/>
              </a:rPr>
              <a:t>Un robot de IA no puede entrar a una sucursal bancaria, mostrar su credencial ni firmar un contrato.</a:t>
            </a:r>
          </a:p>
          <a:p>
            <a:pPr>
              <a:lnSpc>
                <a:spcPct val="125000"/>
              </a:lnSpc>
              <a:spcAft>
                <a:spcPts val="1200"/>
              </a:spcAft>
            </a:pPr>
            <a:r>
              <a:rPr sz="1400" b="1">
                <a:solidFill>
                  <a:srgbClr val="FF5900"/>
                </a:solidFill>
                <a:latin typeface="Segoe UI"/>
              </a:rPr>
              <a:t>• </a:t>
            </a:r>
            <a:r>
              <a:rPr sz="1350" b="1">
                <a:solidFill>
                  <a:srgbClr val="21140E"/>
                </a:solidFill>
                <a:latin typeface="Segoe UI"/>
              </a:rPr>
              <a:t>Bitcoin: El Dinero Nativo de la Red: </a:t>
            </a:r>
            <a:r>
              <a:rPr sz="1300">
                <a:solidFill>
                  <a:srgbClr val="3D2314"/>
                </a:solidFill>
                <a:latin typeface="Segoe UI"/>
              </a:rPr>
              <a:t>Bitcoin es dinero matemático y programable que cualquier bot puede recibir con una simple clave criptográfica.</a:t>
            </a:r>
          </a:p>
          <a:p>
            <a:pPr>
              <a:lnSpc>
                <a:spcPct val="125000"/>
              </a:lnSpc>
              <a:spcAft>
                <a:spcPts val="1200"/>
              </a:spcAft>
            </a:pPr>
            <a:r>
              <a:rPr sz="1400" b="1">
                <a:solidFill>
                  <a:srgbClr val="FF5900"/>
                </a:solidFill>
                <a:latin typeface="Segoe UI"/>
              </a:rPr>
              <a:t>• </a:t>
            </a:r>
            <a:r>
              <a:rPr sz="1350" b="1">
                <a:solidFill>
                  <a:srgbClr val="21140E"/>
                </a:solidFill>
                <a:latin typeface="Segoe UI"/>
              </a:rPr>
              <a:t>La Red Lightning: </a:t>
            </a:r>
            <a:r>
              <a:rPr sz="1300">
                <a:solidFill>
                  <a:srgbClr val="3D2314"/>
                </a:solidFill>
                <a:latin typeface="Segoe UI"/>
              </a:rPr>
              <a:t>Transfiere pagos en milésimas de segundo por menos de un centavo. El Bot A puede pagarle $0.001 centavo al Bot B por un resumen.</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Lightning + OpenClaw = Una economía imparable donde millones de bots compran, venden y cobran al instante sin tocar un banco.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59.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depositando pequeñas monedas Lightning en una ranura de datos.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59 de 60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323165"/>
          </a:xfrm>
          <a:prstGeom prst="rect">
            <a:avLst/>
          </a:prstGeom>
          <a:noFill/>
        </p:spPr>
        <p:txBody>
          <a:bodyPr wrap="square" lIns="0" tIns="0" rIns="0" bIns="0">
            <a:spAutoFit/>
          </a:bodyPr>
          <a:lstStyle/>
          <a:p>
            <a:pPr>
              <a:defRPr sz="2100" b="1">
                <a:solidFill>
                  <a:srgbClr val="21140E"/>
                </a:solidFill>
                <a:latin typeface="Segoe UI"/>
              </a:defRPr>
            </a:pPr>
            <a:r>
              <a:rPr dirty="0"/>
              <a:t> La Empresa Viva del </a:t>
            </a:r>
            <a:r>
              <a:rPr dirty="0" err="1"/>
              <a:t>Mañana</a:t>
            </a:r>
            <a:r>
              <a:rPr dirty="0"/>
              <a:t>: Tu </a:t>
            </a:r>
            <a:r>
              <a:rPr dirty="0" err="1"/>
              <a:t>Turno</a:t>
            </a:r>
            <a:r>
              <a:rPr dirty="0"/>
              <a:t> de </a:t>
            </a:r>
            <a:r>
              <a:rPr dirty="0" err="1"/>
              <a:t>Liderar</a:t>
            </a:r>
            <a:endParaRPr dirty="0"/>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El Fin del Pasado: </a:t>
            </a:r>
            <a:r>
              <a:rPr sz="1300">
                <a:solidFill>
                  <a:srgbClr val="3D2314"/>
                </a:solidFill>
                <a:latin typeface="Segoe UI"/>
              </a:rPr>
              <a:t>La era en que los seres humanos servían como cables telefónicos de mandos medios ha terminado oficialmente.</a:t>
            </a:r>
          </a:p>
          <a:p>
            <a:pPr>
              <a:lnSpc>
                <a:spcPct val="125000"/>
              </a:lnSpc>
              <a:spcAft>
                <a:spcPts val="1200"/>
              </a:spcAft>
            </a:pPr>
            <a:r>
              <a:rPr sz="1400" b="1">
                <a:solidFill>
                  <a:srgbClr val="FF5900"/>
                </a:solidFill>
                <a:latin typeface="Segoe UI"/>
              </a:rPr>
              <a:t>• </a:t>
            </a:r>
            <a:r>
              <a:rPr sz="1350" b="1">
                <a:solidFill>
                  <a:srgbClr val="21140E"/>
                </a:solidFill>
                <a:latin typeface="Segoe UI"/>
              </a:rPr>
              <a:t>Tu Nuevo Súper Poder: </a:t>
            </a:r>
            <a:r>
              <a:rPr sz="1300">
                <a:solidFill>
                  <a:srgbClr val="3D2314"/>
                </a:solidFill>
                <a:latin typeface="Segoe UI"/>
              </a:rPr>
              <a:t>Conoces las tuberías de anuncios, sabes crear empleados bot en MarketBook, dirigir enjambres y cómo opera una empresa viva.</a:t>
            </a:r>
          </a:p>
          <a:p>
            <a:pPr>
              <a:lnSpc>
                <a:spcPct val="125000"/>
              </a:lnSpc>
              <a:spcAft>
                <a:spcPts val="1200"/>
              </a:spcAft>
            </a:pPr>
            <a:r>
              <a:rPr sz="1400" b="1">
                <a:solidFill>
                  <a:srgbClr val="FF5900"/>
                </a:solidFill>
                <a:latin typeface="Segoe UI"/>
              </a:rPr>
              <a:t>• </a:t>
            </a:r>
            <a:r>
              <a:rPr sz="1350" b="1">
                <a:solidFill>
                  <a:srgbClr val="21140E"/>
                </a:solidFill>
                <a:latin typeface="Segoe UI"/>
              </a:rPr>
              <a:t>El Desafío: </a:t>
            </a:r>
            <a:r>
              <a:rPr sz="1300">
                <a:solidFill>
                  <a:srgbClr val="3D2314"/>
                </a:solidFill>
                <a:latin typeface="Segoe UI"/>
              </a:rPr>
              <a:t>Si solo usas la IA para recortar gastos pequeños, una empresa más inteligente te devorará. ¡Úsala para crear una inteligencia viva!</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b="1" i="1">
                <a:solidFill>
                  <a:srgbClr val="3D2314"/>
                </a:solidFill>
                <a:latin typeface="Segoe UI"/>
              </a:defRPr>
            </a:pPr>
            <a:r>
              <a:t>Mensaje Final: ¡Ya no eres un simple operador de programas! Eres el arquitecto de un futuro digital vivo.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t_slide_60.png"/>
          <p:cNvPicPr>
            <a:picLocks noChangeAspect="1"/>
          </p:cNvPicPr>
          <p:nvPr/>
        </p:nvPicPr>
        <p:blipFill>
          <a:blip r:embed="rId3"/>
          <a:stretch>
            <a:fillRect/>
          </a:stretch>
        </p:blipFill>
        <p:spPr>
          <a:xfrm>
            <a:off x="7708392" y="1737360"/>
            <a:ext cx="3520439" cy="2935630"/>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ser humano y un robot mirando juntos la salida de un brillante amanecer.</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60 de 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TotalTime>
  <Words>5481</Words>
  <Application>Microsoft Office PowerPoint</Application>
  <PresentationFormat>Widescreen</PresentationFormat>
  <Paragraphs>282</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Westland, James Christopher</cp:lastModifiedBy>
  <cp:revision>2</cp:revision>
  <dcterms:created xsi:type="dcterms:W3CDTF">2013-01-27T09:14:16Z</dcterms:created>
  <dcterms:modified xsi:type="dcterms:W3CDTF">2026-09-30T17:52:13Z</dcterms:modified>
  <cp:category/>
</cp:coreProperties>
</file>