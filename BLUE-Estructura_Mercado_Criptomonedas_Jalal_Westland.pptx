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business.uic.edu/profiles/westland-james-christopher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658368"/>
            <a:ext cx="9997135" cy="559612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0" y="896112"/>
            <a:ext cx="2011680" cy="6400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960120"/>
            <a:ext cx="1828800" cy="5193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463040" y="932688"/>
            <a:ext cx="4114800" cy="347472"/>
          </a:xfrm>
          <a:prstGeom prst="roundRect">
            <a:avLst/>
          </a:prstGeom>
          <a:solidFill>
            <a:srgbClr val="0C4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CURSO DE FINANZAS Y TECNOLOGÍA (FINTECH)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89888"/>
            <a:ext cx="9235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8FAFC"/>
                </a:solidFill>
                <a:latin typeface="Segoe UI"/>
              </a:defRPr>
            </a:pPr>
            <a:r>
              <a:t>Estructura del Mercado de Criptomonedas</a:t>
            </a:r>
          </a:p>
          <a:p>
            <a:pPr>
              <a:spcAft>
                <a:spcPts val="800"/>
              </a:spcAft>
              <a:defRPr sz="1650">
                <a:solidFill>
                  <a:srgbClr val="38BDF8"/>
                </a:solidFill>
                <a:latin typeface="Segoe UI"/>
              </a:defRPr>
            </a:pPr>
            <a:r>
              <a:t>Microestructura, Derivados, Stablecoins y Límites de la Gobernanza Forense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Un análisis exhaustivo del funcionamiento del mercado de activos digitales: mecanismos de consenso, billeteras, liquidez en libros de órdenes, hegemonía de derivados, desplazamiento de flujos ilícitos a stablecoins, y los hallazgos empíricos del artículo de Jalal &amp; Westland sobre la falacia de la tasa base en la detección de lavado de dinero.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246120"/>
            <a:ext cx="9357055" cy="27889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3364992"/>
            <a:ext cx="5577840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F8FAFC"/>
                </a:solidFill>
                <a:latin typeface="Segoe UI"/>
              </a:rPr>
              <a:t>J. Christopher Westland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Fulbright-García Robles U.S. Scholar (Science and Technology)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2E8F0"/>
                </a:solidFill>
                <a:latin typeface="Segoe UI"/>
              </a:rPr>
              <a:t>hosted by Universidad Anáhuac Mayab | Mérida, México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2E8F0"/>
                </a:solidFill>
                <a:latin typeface="Segoe UI"/>
              </a:rPr>
              <a:t>Professor, Information &amp; Decision Sciences | University of Illinois Chicago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Editor-in-Chief: Electronic Commerce Research (Springer)</a:t>
            </a:r>
          </a:p>
          <a:p>
            <a:r>
              <a:rPr sz="950">
                <a:solidFill>
                  <a:srgbClr val="94A3B8"/>
                </a:solidFill>
                <a:latin typeface="Segoe UI"/>
              </a:rPr>
              <a:t>Perfil Académico (Faculty Profile): </a:t>
            </a:r>
            <a:r>
              <a:rPr sz="950" u="sng">
                <a:solidFill>
                  <a:srgbClr val="38BDF8"/>
                </a:solidFill>
                <a:latin typeface="Segoe UI"/>
                <a:hlinkClick r:id="rId3"/>
              </a:rPr>
              <a:t>business.uic.edu/profiles/westland-james-christopher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3429000"/>
            <a:ext cx="18288" cy="242316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3364992"/>
            <a:ext cx="3108960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38BDF8"/>
                </a:solidFill>
                <a:latin typeface="Segoe UI"/>
              </a:rPr>
              <a:t>INVESTIGACIÓN EMPÍRICA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Basado en la investigación empírica de: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F8FAFC"/>
                </a:solidFill>
                <a:latin typeface="Segoe UI"/>
              </a:rPr>
              <a:t>Fabiha Jalal &amp; J. Christopher Westland</a:t>
            </a:r>
          </a:p>
          <a:p>
            <a:pPr>
              <a:spcAft>
                <a:spcPts val="800"/>
              </a:spcAft>
            </a:pPr>
            <a:r>
              <a:rPr sz="900" i="1">
                <a:solidFill>
                  <a:srgbClr val="94A3B8"/>
                </a:solidFill>
                <a:latin typeface="Segoe UI"/>
              </a:rPr>
              <a:t>"The Limits of Blockchain Forensics: Deconstructing the Mythologies of Automated Governance"</a:t>
            </a:r>
          </a:p>
          <a:p>
            <a:r>
              <a:rPr sz="900" b="1">
                <a:solidFill>
                  <a:srgbClr val="F8FAFC"/>
                </a:solidFill>
                <a:latin typeface="Segoe UI"/>
              </a:rPr>
              <a:t>© J. Christopher Westland. Todos los derechos reservados.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VISIÓN GENERAL DEL 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Estructura de la Clase y Hoja de Ruta Temática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02/22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38BDF8"/>
                </a:solidFill>
              </a:defRPr>
            </a:pPr>
            <a:r>
              <a:t>1. Fundamentos &amp; Blockchain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La Blockchain: </a:t>
            </a:r>
            <a:r>
              <a:rPr b="0" sz="1100">
                <a:solidFill>
                  <a:srgbClr val="E2E8F0"/>
                </a:solidFill>
                <a:latin typeface="Segoe UI"/>
              </a:rPr>
              <a:t>Libro mayor distribuido (DLT), criptografía y consenso.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Adición de Bloques: </a:t>
            </a:r>
            <a:r>
              <a:rPr b="0" sz="1100">
                <a:solidFill>
                  <a:srgbClr val="E2E8F0"/>
                </a:solidFill>
                <a:latin typeface="Segoe UI"/>
              </a:rPr>
              <a:t>Mempool, árbol de Merkle, minería y validación.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Serie Precio-Volumen: </a:t>
            </a:r>
            <a:r>
              <a:rPr b="0" sz="1100">
                <a:solidFill>
                  <a:srgbClr val="E2E8F0"/>
                </a:solidFill>
                <a:latin typeface="Segoe UI"/>
              </a:rPr>
              <a:t>Lectura de velas japonesas y toma de decisiones.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Billeteras (Wallets): </a:t>
            </a:r>
            <a:r>
              <a:rPr b="0" sz="1100">
                <a:solidFill>
                  <a:srgbClr val="E2E8F0"/>
                </a:solidFill>
                <a:latin typeface="Segoe UI"/>
              </a:rPr>
              <a:t>Claves públicas/privadas, custodia y transferencias.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Rampas Fiat: </a:t>
            </a:r>
            <a:r>
              <a:rPr b="0" sz="1100">
                <a:solidFill>
                  <a:srgbClr val="E2E8F0"/>
                </a:solidFill>
                <a:latin typeface="Segoe UI"/>
              </a:rPr>
              <a:t>Mecanismos On-Ramp y Off-Ramp bancarios.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59E0B"/>
                </a:solidFill>
              </a:defRPr>
            </a:pPr>
            <a:r>
              <a:t>2. Microestructura &amp; Mercados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El Libro de Órdenes: </a:t>
            </a:r>
            <a:r>
              <a:rPr b="0" sz="1100">
                <a:solidFill>
                  <a:srgbClr val="E2E8F0"/>
                </a:solidFill>
                <a:latin typeface="Segoe UI"/>
              </a:rPr>
              <a:t>Bids, asks, profundidad y emparejamiento CEX/DEX.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Bid-Ask Spread: </a:t>
            </a:r>
            <a:r>
              <a:rPr b="0" sz="1100">
                <a:solidFill>
                  <a:srgbClr val="E2E8F0"/>
                </a:solidFill>
                <a:latin typeface="Segoe UI"/>
              </a:rPr>
              <a:t>Medición de liquidez y coste de transacción.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Hegemonía de Derivados: </a:t>
            </a:r>
            <a:r>
              <a:rPr b="0" sz="1100">
                <a:solidFill>
                  <a:srgbClr val="E2E8F0"/>
                </a:solidFill>
                <a:latin typeface="Segoe UI"/>
              </a:rPr>
              <a:t>2/3 del volumen en futuros perpetuos y opciones.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Ecosistema Stablecoins: </a:t>
            </a:r>
            <a:r>
              <a:rPr b="0" sz="1100">
                <a:solidFill>
                  <a:srgbClr val="E2E8F0"/>
                </a:solidFill>
                <a:latin typeface="Segoe UI"/>
              </a:rPr>
              <a:t>USDT, USDC, emisores, reservas y dominancia.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El Hub de Trading: </a:t>
            </a:r>
            <a:r>
              <a:rPr b="0" sz="1100">
                <a:solidFill>
                  <a:srgbClr val="E2E8F0"/>
                </a:solidFill>
                <a:latin typeface="Segoe UI"/>
              </a:rPr>
              <a:t>Por qué se comercia en stablecoins y no en fiat.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0B981"/>
                </a:solidFill>
              </a:defRPr>
            </a:pPr>
            <a:r>
              <a:t>3. Forense &amp; Paper de Investigación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Migración del Lavado: </a:t>
            </a:r>
            <a:r>
              <a:rPr b="0" sz="1100">
                <a:solidFill>
                  <a:srgbClr val="E2E8F0"/>
                </a:solidFill>
                <a:latin typeface="Segoe UI"/>
              </a:rPr>
              <a:t>De Bitcoin volátil a stablecoins de alta liquidez.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RQ1 (Árboles vs GNNs): </a:t>
            </a:r>
            <a:r>
              <a:rPr b="0" sz="1100">
                <a:solidFill>
                  <a:srgbClr val="E2E8F0"/>
                </a:solidFill>
                <a:latin typeface="Segoe UI"/>
              </a:rPr>
              <a:t>Modelos tabulares baten a grafos neuronales.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RQ2 (The Price Null): </a:t>
            </a:r>
            <a:r>
              <a:rPr b="0" sz="1100">
                <a:solidFill>
                  <a:srgbClr val="E2E8F0"/>
                </a:solidFill>
                <a:latin typeface="Segoe UI"/>
              </a:rPr>
              <a:t>Flujos ilícitos no predicen precios ni volatilidad.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RQ3 (Tasa Base en AML): </a:t>
            </a:r>
            <a:r>
              <a:rPr b="0" sz="1100">
                <a:solidFill>
                  <a:srgbClr val="E2E8F0"/>
                </a:solidFill>
                <a:latin typeface="Segoe UI"/>
              </a:rPr>
              <a:t>40k-116k falsos positivos por captura: triaje vs alarmas.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RQ4 (Wash Trading DEX): </a:t>
            </a:r>
            <a:r>
              <a:rPr b="0" sz="1100">
                <a:solidFill>
                  <a:srgbClr val="E2E8F0"/>
                </a:solidFill>
                <a:latin typeface="Segoe UI"/>
              </a:rPr>
              <a:t>Detección conductual y métrica Wash-Discount.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FUNDAMENTOS DE CRIPTOACTIVOS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¿Qué es la Blockchain? Arquitectura de Libro Mayor Distribuido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03/22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Definición y Principios Operativos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8FAFC"/>
                </a:solidFill>
                <a:latin typeface="Segoe UI"/>
              </a:rPr>
              <a:t>• Libro Mayor Distribuido (DLT): </a:t>
            </a:r>
            <a:r>
              <a:rPr b="0" sz="1150">
                <a:solidFill>
                  <a:srgbClr val="E2E8F0"/>
                </a:solidFill>
                <a:latin typeface="Segoe UI"/>
              </a:rPr>
              <a:t>Base de datos replicada y compartida simultáneamente entre todos los participantes de una red entre pares (P2P), sin un servidor central.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8FAFC"/>
                </a:solidFill>
                <a:latin typeface="Segoe UI"/>
              </a:rPr>
              <a:t>• Inmutabilidad Criptográfica: </a:t>
            </a:r>
            <a:r>
              <a:rPr b="0" sz="1150">
                <a:solidFill>
                  <a:srgbClr val="E2E8F0"/>
                </a:solidFill>
                <a:latin typeface="Segoe UI"/>
              </a:rPr>
              <a:t>Cada bloque contiene el hash del bloque anterior. Modificar un registro histórico rompería la cadena matemática, exigiendo recalcular todo el trabajo de la red.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8FAFC"/>
                </a:solidFill>
                <a:latin typeface="Segoe UI"/>
              </a:rPr>
              <a:t>• Descentralización &amp; 'Trustless': </a:t>
            </a:r>
            <a:r>
              <a:rPr b="0" sz="1150">
                <a:solidFill>
                  <a:srgbClr val="E2E8F0"/>
                </a:solidFill>
                <a:latin typeface="Segoe UI"/>
              </a:rPr>
              <a:t>No se requiere confianza en una entidad bancaria ni en un custodio. La verdad del estado financiero se resuelve mediante consenso algorítmico.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8FAFC"/>
                </a:solidFill>
                <a:latin typeface="Segoe UI"/>
              </a:rPr>
              <a:t>• Transparencia Pseudónima: </a:t>
            </a:r>
            <a:r>
              <a:rPr b="0" sz="1150">
                <a:solidFill>
                  <a:srgbClr val="E2E8F0"/>
                </a:solidFill>
                <a:latin typeface="Segoe UI"/>
              </a:rPr>
              <a:t>Todas las transacciones y saldos son legibles en el registro público (vía exploradores como Etherscan o mempool.space), vinculados a direcciones criptográficas.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49377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Pilares Tecnológicos Esenciales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1. Criptografía Asimétrica: </a:t>
            </a:r>
            <a:r>
              <a:rPr b="0" sz="1100">
                <a:solidFill>
                  <a:srgbClr val="E2E8F0"/>
                </a:solidFill>
                <a:latin typeface="Segoe UI"/>
              </a:rPr>
              <a:t>Pares de clave pública (identidad/cuenta) y clave privada (autorización y firma de transacciones con ECDSA).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2. Funciones Hash Unidireccionales: </a:t>
            </a:r>
            <a:r>
              <a:rPr b="0" sz="1100">
                <a:solidFill>
                  <a:srgbClr val="E2E8F0"/>
                </a:solidFill>
                <a:latin typeface="Segoe UI"/>
              </a:rPr>
              <a:t>Algoritmos deterministas (SHA-256 en BTC, Keccak-256 en ETH) que comprimen cualquier volumen de datos en una cadena de longitud fija.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3. Mecanismo de Consenso: </a:t>
            </a:r>
            <a:r>
              <a:rPr b="0" sz="1100">
                <a:solidFill>
                  <a:srgbClr val="E2E8F0"/>
                </a:solidFill>
                <a:latin typeface="Segoe UI"/>
              </a:rPr>
              <a:t>Reglas de acuerdo distribuido para acordar el estado único del libro (Proof of Work en Bitcoin, Proof of Stake en Ethereum).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4. Protocolo P2P y Nodos: </a:t>
            </a:r>
            <a:r>
              <a:rPr b="0" sz="1100">
                <a:solidFill>
                  <a:srgbClr val="E2E8F0"/>
                </a:solidFill>
                <a:latin typeface="Segoe UI"/>
              </a:rPr>
              <a:t>Red distribuida de nodos completos que verifican de forma independiente cada transacción según las reglas del protocolo.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MECÁNICA DEL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¿Cómo se Añade un Bloque a la Blockchain? Ciclo de Vida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04/22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3054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1. Emisión y Firma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El usuario crea la transacción y la firma criptográficamente con su clave privada, enviándola a nodos locales.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691640"/>
            <a:ext cx="3054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2. Entrada al Mempool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Las transacciones no confirmadas esperan en la 'piscina de memoria' (mempool), priorizadas por su tarifa de gas.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691640"/>
            <a:ext cx="3054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3. Empaquetado en Bloque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Los mineros/validadores seleccionan transacciones y calculan el Árbol de Merkle (Merkle Root) en la cabecera.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3054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4. Proceso de Consenso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PoW resuelve el puzzle criptográfico (Nonce); PoS selecciona un validador ponderado por su depósito de garantía.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93192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4069080"/>
            <a:ext cx="3054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5. Enlace Criptográfico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Se incluye el Hash del Bloque Anterior (H_{t-1}), vinculando formalmente el nuevo bloque con el historial.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393192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4069080"/>
            <a:ext cx="3054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6. Difusión y Confirmación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El bloque se transmite a la red. Cada nodo valida las firmas y añade el bloque a su copia local del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ANÁLISIS TÉCNICO Y TOMA DE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Series de Precio y Volumen: El Núcleo de la Decisión del Inversor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05/22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475488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Lectura del Comportamiento del Mercado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Velas Japonesas (OHLCV): </a:t>
            </a:r>
            <a:r>
              <a:rPr b="0" sz="1100">
                <a:solidFill>
                  <a:srgbClr val="E2E8F0"/>
                </a:solidFill>
                <a:latin typeface="Segoe UI"/>
              </a:rPr>
              <a:t>Sintetizan la batalla intradiaria entre compradores y vendedores mediante cuatro precios: Apertura, Máximo, Mínimo y Cierre.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Validación por Volumen: </a:t>
            </a:r>
            <a:r>
              <a:rPr b="0" sz="1100">
                <a:solidFill>
                  <a:srgbClr val="E2E8F0"/>
                </a:solidFill>
                <a:latin typeface="Segoe UI"/>
              </a:rPr>
              <a:t>'El precio es lo que pagas, el volumen es la fuerza que lo respalda'. Las subidas con volumen creciente confirman interés institucional genuino.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Detección de Divergencias: </a:t>
            </a:r>
            <a:r>
              <a:rPr b="0" sz="1100">
                <a:solidFill>
                  <a:srgbClr val="E2E8F0"/>
                </a:solidFill>
                <a:latin typeface="Segoe UI"/>
              </a:rPr>
              <a:t>Un nuevo máximo de precio acompañado de volumen decreciente es una alerta crítica de agotamiento de compradores y potencial reversión.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Rupturas (Breakouts): </a:t>
            </a:r>
            <a:r>
              <a:rPr b="0" sz="1100">
                <a:solidFill>
                  <a:srgbClr val="E2E8F0"/>
                </a:solidFill>
                <a:latin typeface="Segoe UI"/>
              </a:rPr>
              <a:t>La superación de resistencias clave sin volumen suele ser un 'fakeout' (trampa alcista); con alto volumen indica cambio estructural de tendencia.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Limitaciones Esenciales: </a:t>
            </a:r>
            <a:r>
              <a:rPr b="0" sz="1100">
                <a:solidFill>
                  <a:srgbClr val="E2E8F0"/>
                </a:solidFill>
                <a:latin typeface="Segoe UI"/>
              </a:rPr>
              <a:t>El volumen reportado en exchanges puede incluir wash trading o internalización y no registra operaciones institucionales extrabursátiles (OTC).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554480"/>
            <a:ext cx="566928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_price_volume_candlest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48640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MICROESTRUCTURA DEL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El Libro de Órdenes (Order Book) y Profundidad de Mercado (DOM)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06/22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66928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order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486400" cy="2743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75120" y="1554480"/>
            <a:ext cx="475488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7373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Dinámica del Libro de Órdenes (CLOB)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Lado de Compra (Bids): </a:t>
            </a:r>
            <a:r>
              <a:rPr b="0" sz="1100">
                <a:solidFill>
                  <a:srgbClr val="E2E8F0"/>
                </a:solidFill>
                <a:latin typeface="Segoe UI"/>
              </a:rPr>
              <a:t>Órdenes límite de compradores ordenadas de mayor a menor precio. La más alta es el 'Best Bid'.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Lado de Venta (Asks / Offers): </a:t>
            </a:r>
            <a:r>
              <a:rPr b="0" sz="1100">
                <a:solidFill>
                  <a:srgbClr val="E2E8F0"/>
                </a:solidFill>
                <a:latin typeface="Segoe UI"/>
              </a:rPr>
              <a:t>Órdenes límite de vendedores ordenadas de menor a mayor precio. La más baja es el 'Best Ask'.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Profundidad de Mercado (DOM): </a:t>
            </a:r>
            <a:r>
              <a:rPr b="0" sz="1100">
                <a:solidFill>
                  <a:srgbClr val="E2E8F0"/>
                </a:solidFill>
                <a:latin typeface="Segoe UI"/>
              </a:rPr>
              <a:t>Volumen acumulado disponible en múltiples niveles de precio. Una mayor profundidad absorbe grandes órdenes sin mover bruscamente la cotización.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Makers vs. Takers: </a:t>
            </a:r>
            <a:r>
              <a:rPr b="0" sz="1100">
                <a:solidFill>
                  <a:srgbClr val="E2E8F0"/>
                </a:solidFill>
                <a:latin typeface="Segoe UI"/>
              </a:rPr>
              <a:t>Los *Market Makers* aportan liquidez colocando órdenes límite (reciben rebate); los *Takers* consumen liquidez con órdenes a mercado (pagan mayor comisión).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Deslizamiento (Slippage): </a:t>
            </a:r>
            <a:r>
              <a:rPr b="0" sz="1100">
                <a:solidFill>
                  <a:srgbClr val="E2E8F0"/>
                </a:solidFill>
                <a:latin typeface="Segoe UI"/>
              </a:rPr>
              <a:t>Ocurre cuando una orden a mercado es mayor que la liquidez del mejor precio disponible y debe consumir niveles sucesivos del libro.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MICROESTRUCTURA DEL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El Spread Bid-Ask y la Medición Cuantitativa de la Liquidez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07/22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Anatomía del Spread Bid-Ask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8FAFC"/>
                </a:solidFill>
                <a:latin typeface="Segoe UI"/>
              </a:rPr>
              <a:t>• Spread Absoluto: </a:t>
            </a:r>
            <a:r>
              <a:rPr b="0" sz="1150">
                <a:solidFill>
                  <a:srgbClr val="E2E8F0"/>
                </a:solidFill>
                <a:latin typeface="Segoe UI"/>
              </a:rPr>
              <a:t>Diferencia entre el precio de venta más bajo y el precio de compra más alto:
Spread = P_{ask} - P_{bid}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8FAFC"/>
                </a:solidFill>
                <a:latin typeface="Segoe UI"/>
              </a:rPr>
              <a:t>• Spread Relativo (%): </a:t>
            </a:r>
            <a:r>
              <a:rPr b="0" sz="1150">
                <a:solidFill>
                  <a:srgbClr val="E2E8F0"/>
                </a:solidFill>
                <a:latin typeface="Segoe UI"/>
              </a:rPr>
              <a:t>Normalizado por el precio medio (Mid-Price):
Spread % = [(P_{ask} - P_{bid}) / P_{mid}] × 100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8FAFC"/>
                </a:solidFill>
                <a:latin typeface="Segoe UI"/>
              </a:rPr>
              <a:t>• Coste Inmediato de Fricción: </a:t>
            </a:r>
            <a:r>
              <a:rPr b="0" sz="1150">
                <a:solidFill>
                  <a:srgbClr val="E2E8F0"/>
                </a:solidFill>
                <a:latin typeface="Segoe UI"/>
              </a:rPr>
              <a:t>Es el peaje instantáneo que paga cualquier operador que ejecuta una orden de mercado ('crossing the spread').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8FAFC"/>
                </a:solidFill>
                <a:latin typeface="Segoe UI"/>
              </a:rPr>
              <a:t>• Compensación del Creador: </a:t>
            </a:r>
            <a:r>
              <a:rPr b="0" sz="1150">
                <a:solidFill>
                  <a:srgbClr val="E2E8F0"/>
                </a:solidFill>
                <a:latin typeface="Segoe UI"/>
              </a:rPr>
              <a:t>Retribuye al Market Maker por tres riesgos fundamentales: riesgo de inventario, riesgo de selección adversa (traders informados) y costes operativos.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Métricas Financieras de Iliquidez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Ratio de Iliquidez de Amihud (2002): </a:t>
            </a:r>
            <a:r>
              <a:rPr b="0" sz="1100">
                <a:solidFill>
                  <a:srgbClr val="E2E8F0"/>
                </a:solidFill>
                <a:latin typeface="Segoe UI"/>
              </a:rPr>
              <a:t>Mide el impacto de precio por cada unidad monetaria negociada:
ILLIQ_t = |r_t| / Volumen_t
(Un ratio alto indica un mercado frágil y poco líquido).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Estimador de Corwin-Schultz (2012): </a:t>
            </a:r>
            <a:r>
              <a:rPr b="0" sz="1100">
                <a:solidFill>
                  <a:srgbClr val="E2E8F0"/>
                </a:solidFill>
                <a:latin typeface="Segoe UI"/>
              </a:rPr>
              <a:t>Calcula el spread efectivo bid-ask a partir de los precios máximos y mínimos de dos días consecutivos (utilizado en el paper de Jalal &amp; Westland).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Desequilibrio del Flujo de Órdenes (OFI): </a:t>
            </a:r>
            <a:r>
              <a:rPr b="0" sz="1100">
                <a:solidFill>
                  <a:srgbClr val="E2E8F0"/>
                </a:solidFill>
                <a:latin typeface="Segoe UI"/>
              </a:rPr>
              <a:t>Diferencia entre el volumen que presiona en el lado del bid y del ask; predice el movimiento de precios a horizontes de segundos.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ESTRUCTURA GLOBAL DE NEGOCIACIÓN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La Hegemonía de los Derivados: ~2/3 del Volumen Total en Cripto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08/22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8521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derivatives_vs_sp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669280" cy="25769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55448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¿Por qué Dominan los Derivados?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1. Eficiencia de Capital y Margen: </a:t>
            </a:r>
            <a:r>
              <a:rPr b="0" sz="1100">
                <a:solidFill>
                  <a:srgbClr val="E2E8F0"/>
                </a:solidFill>
                <a:latin typeface="Segoe UI"/>
              </a:rPr>
              <a:t>Los operadores no necesitan inmovilizar el 100% del valor del activo; pueden acceder a posiciones apalancadas (5x, 20x, 50x) con un margen inicial reducido.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2. Posiciones en Corto (Shorting): </a:t>
            </a:r>
            <a:r>
              <a:rPr b="0" sz="1100">
                <a:solidFill>
                  <a:srgbClr val="E2E8F0"/>
                </a:solidFill>
                <a:latin typeface="Segoe UI"/>
              </a:rPr>
              <a:t>Permite cubrir carteras existentes o especular con caídas de mercado de forma directa y sintética, sin necesidad de pedir prestado el token físico.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3. Ausencia de Fricciones On-Chain: </a:t>
            </a:r>
            <a:r>
              <a:rPr b="0" sz="1100">
                <a:solidFill>
                  <a:srgbClr val="E2E8F0"/>
                </a:solidFill>
                <a:latin typeface="Segoe UI"/>
              </a:rPr>
              <a:t>Operar derivados en CEX no requiere pagar comisiones de gas blockchain ni lidiar con demoras de confirmación de bloques en cada trade.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4. Formación Central de Precios: </a:t>
            </a:r>
            <a:r>
              <a:rPr b="0" sz="1100">
                <a:solidFill>
                  <a:srgbClr val="E2E8F0"/>
                </a:solidFill>
                <a:latin typeface="Segoe UI"/>
              </a:rPr>
              <a:t>El descubrimiento de precios ocurre predominantemente en los mercados de futuros perpetuos, transmitiéndose luego al mercado spot.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INSTRUMENTOS FINANCIEROS AVANZADOS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Anatomía de los Criptoderivados: Futuros Perpetuos, Opciones y Riesgos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09/22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Futuros Perpetuos (Perps)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Sin Fecha de Vencimiento: </a:t>
            </a:r>
            <a:r>
              <a:rPr b="0" sz="1050">
                <a:solidFill>
                  <a:srgbClr val="E2E8F0"/>
                </a:solidFill>
                <a:latin typeface="Segoe UI"/>
              </a:rPr>
              <a:t>Contratos creados por BitMEX que pueden mantenerse indefinidamente.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Tasa de Financiación (Funding Rate): </a:t>
            </a:r>
            <a:r>
              <a:rPr b="0" sz="1050">
                <a:solidFill>
                  <a:srgbClr val="E2E8F0"/>
                </a:solidFill>
                <a:latin typeface="Segoe UI"/>
              </a:rPr>
              <a:t>Mecanismo que fuerza la convergencia al precio spot cada 8h. Si Perp &gt; Spot, los largos pagan a los cortos; si Perp &lt; Spot, los cortos pagan a los largos.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Márgenes USDT vs Coin-M: </a:t>
            </a:r>
            <a:r>
              <a:rPr b="0" sz="1050">
                <a:solidFill>
                  <a:srgbClr val="E2E8F0"/>
                </a:solidFill>
                <a:latin typeface="Segoe UI"/>
              </a:rPr>
              <a:t>Margen colateralizado en stablecoins (USDT) o en la propia criptomoneda (inverso).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Futuros Tradicionales &amp; Opciones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Futuros Fechados (Dated): </a:t>
            </a:r>
            <a:r>
              <a:rPr b="0" sz="1050">
                <a:solidFill>
                  <a:srgbClr val="E2E8F0"/>
                </a:solidFill>
                <a:latin typeface="Segoe UI"/>
              </a:rPr>
              <a:t>Contratos con liquidación trimestral/mensual (CME, Binance). Presentan 'Basis' (Contango o Backwardation).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Opciones Vanilla (Deribit): </a:t>
            </a:r>
            <a:r>
              <a:rPr b="0" sz="1050">
                <a:solidFill>
                  <a:srgbClr val="E2E8F0"/>
                </a:solidFill>
                <a:latin typeface="Segoe UI"/>
              </a:rPr>
              <a:t>Contratos Call/Put europeos para estructurar coberturas asimétricas y volatilidad.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Superficie de Volatilidad (IV): </a:t>
            </a:r>
            <a:r>
              <a:rPr b="0" sz="1050">
                <a:solidFill>
                  <a:srgbClr val="E2E8F0"/>
                </a:solidFill>
                <a:latin typeface="Segoe UI"/>
              </a:rPr>
              <a:t>El índice DVOL mide las expectativas del mercado de movimientos futuros a 30 días.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F4444"/>
                </a:solidFill>
              </a:defRPr>
            </a:pPr>
            <a:r>
              <a:t>Liquidaciones en Cascada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Margen de Mantenimiento: </a:t>
            </a:r>
            <a:r>
              <a:rPr b="0" sz="1050">
                <a:solidFill>
                  <a:srgbClr val="E2E8F0"/>
                </a:solidFill>
                <a:latin typeface="Segoe UI"/>
              </a:rPr>
              <a:t>Si el balance cae por debajo de este umbral, el motor de liquidación cierra la posición a mercado.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Desapalancamiento Automático: </a:t>
            </a:r>
            <a:r>
              <a:rPr b="0" sz="1050">
                <a:solidFill>
                  <a:srgbClr val="E2E8F0"/>
                </a:solidFill>
                <a:latin typeface="Segoe UI"/>
              </a:rPr>
              <a:t>Ventas forzadas masivas en el libro de órdenes empujan el precio aún más abajo, provocando liquidaciones sucesivas ('long squeeze').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Fondos de Seguro (Insurance Funds): </a:t>
            </a:r>
            <a:r>
              <a:rPr b="0" sz="1050">
                <a:solidFill>
                  <a:srgbClr val="E2E8F0"/>
                </a:solidFill>
                <a:latin typeface="Segoe UI"/>
              </a:rPr>
              <a:t>Colchón de capital del exchange para absorber pérdidas en quiebras antes de socializarlas.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LA ESPINA DORSAL DE LA LIQUIDEZ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Stablecoins: Tipos, Mecanismos de Anclaje y Rol Sistémico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10/22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1. Respaldadas por Fiat (Off-Chain)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Mecanismo 1:1: </a:t>
            </a:r>
            <a:r>
              <a:rPr b="0" sz="1050">
                <a:solidFill>
                  <a:srgbClr val="E2E8F0"/>
                </a:solidFill>
                <a:latin typeface="Segoe UI"/>
              </a:rPr>
              <a:t>Por cada token emitido, el emisor mantiene $1 USD en activos líquidos (efectivo y bonos del Tesoro de EE.UU.).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Ejemplos Clave: </a:t>
            </a:r>
            <a:r>
              <a:rPr b="0" sz="1050">
                <a:solidFill>
                  <a:srgbClr val="E2E8F0"/>
                </a:solidFill>
                <a:latin typeface="Segoe UI"/>
              </a:rPr>
              <a:t>Tether (USDT), USD Coin (Circle USDC), FDUSD, PayPal USD (PYUSD).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Riesgo Principal: </a:t>
            </a:r>
            <a:r>
              <a:rPr b="0" sz="1050">
                <a:solidFill>
                  <a:srgbClr val="E2E8F0"/>
                </a:solidFill>
                <a:latin typeface="Segoe UI"/>
              </a:rPr>
              <a:t>Riesgo de contraparte, congelamiento regulatorio y opacidad en las reservas.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2. Sobrecolateralizadas (On-Chain)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Colateral Excedente: </a:t>
            </a:r>
            <a:r>
              <a:rPr b="0" sz="1050">
                <a:solidFill>
                  <a:srgbClr val="E2E8F0"/>
                </a:solidFill>
                <a:latin typeface="Segoe UI"/>
              </a:rPr>
              <a:t>Se emiten bloqueando criptoactivos (ETH, WBTC) en smart contracts con ratios del 130%-150%.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Ejemplos Clave: </a:t>
            </a:r>
            <a:r>
              <a:rPr b="0" sz="1050">
                <a:solidFill>
                  <a:srgbClr val="E2E8F0"/>
                </a:solidFill>
                <a:latin typeface="Segoe UI"/>
              </a:rPr>
              <a:t>USDS / DAI (MakerDAO / Sky), LUSD (Liquity).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Estabilidad: </a:t>
            </a:r>
            <a:r>
              <a:rPr b="0" sz="1050">
                <a:solidFill>
                  <a:srgbClr val="E2E8F0"/>
                </a:solidFill>
                <a:latin typeface="Segoe UI"/>
              </a:rPr>
              <a:t>Gobernanza descentralizada mediante tokens (MKR/SKY) y liquidaciones automáticas on-chain.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A855F7"/>
                </a:solidFill>
              </a:defRPr>
            </a:pPr>
            <a:r>
              <a:t>3. Sintéticas &amp; Algorítmicas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Delta-Neutral (Ethena USDe): </a:t>
            </a:r>
            <a:r>
              <a:rPr b="0" sz="1050">
                <a:solidFill>
                  <a:srgbClr val="E2E8F0"/>
                </a:solidFill>
                <a:latin typeface="Segoe UI"/>
              </a:rPr>
              <a:t>Respalda el dólar sintético combinando ETH al contado con una posición corta en futuros perpetuos para capturar la tasa de financiación.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El Colapso de UST / Terra: </a:t>
            </a:r>
            <a:r>
              <a:rPr b="0" sz="1050">
                <a:solidFill>
                  <a:srgbClr val="E2E8F0"/>
                </a:solidFill>
                <a:latin typeface="Segoe UI"/>
              </a:rPr>
              <a:t>Lección histórica: modelos algorítmicos sin respaldo externo sufren 'espirales de la muerte'.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Relevancia Sistémica: </a:t>
            </a:r>
            <a:r>
              <a:rPr b="0" sz="1050">
                <a:solidFill>
                  <a:srgbClr val="E2E8F0"/>
                </a:solidFill>
                <a:latin typeface="Segoe UI"/>
              </a:rPr>
              <a:t>Las stablecoins son el 'dólar de internet', actuando como unidad de cuenta y puente cambiario primario.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DISTRIBUCIÓN DE MERCADO 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Histograma de las Principales Stablecoins y Quién las Opera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11/22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603504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stablecoins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852160" cy="321868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49440" y="1554480"/>
            <a:ext cx="44805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¿Quién Posee y Administra las Stablecoins?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8FAFC"/>
                </a:solidFill>
                <a:latin typeface="Segoe UI"/>
              </a:rPr>
              <a:t>• Tether (USDT - ~$118.5B): </a:t>
            </a:r>
            <a:r>
              <a:rPr b="0" sz="1000">
                <a:solidFill>
                  <a:srgbClr val="E2E8F0"/>
                </a:solidFill>
                <a:latin typeface="Segoe UI"/>
              </a:rPr>
              <a:t>Operada por Tether Holdings Ltd. (subsidiaria de iFinex Inc., matriz del exchange Bitfinex). Liderada por Paolo Ardoino (CEO) y Giancarlo Devasini (CFO). Respaldada por &gt;$80B en letras del Tesoro de EE.UU.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8FAFC"/>
                </a:solidFill>
                <a:latin typeface="Segoe UI"/>
              </a:rPr>
              <a:t>• USD Coin (USDC - ~$35.2B): </a:t>
            </a:r>
            <a:r>
              <a:rPr b="0" sz="1000">
                <a:solidFill>
                  <a:srgbClr val="E2E8F0"/>
                </a:solidFill>
                <a:latin typeface="Segoe UI"/>
              </a:rPr>
              <a:t>Emitida por Circle Internet Financial (CEO: Jeremy Allaire). Entidad regulada en EE.UU. y Europa (MiCA), con reservas custodiadas en BNY Mellon y auditadas mensualmente por Deloitte.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8FAFC"/>
                </a:solidFill>
                <a:latin typeface="Segoe UI"/>
              </a:rPr>
              <a:t>• USDS / DAI (~$5.4B): </a:t>
            </a:r>
            <a:r>
              <a:rPr b="0" sz="1000">
                <a:solidFill>
                  <a:srgbClr val="E2E8F0"/>
                </a:solidFill>
                <a:latin typeface="Segoe UI"/>
              </a:rPr>
              <a:t>Protocolo Sky (anteriormente MakerDAO, fundado por Rune Christensen). Gobernado de forma descentralizada por tenedores de tokens MKR/SKY.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8FAFC"/>
                </a:solidFill>
                <a:latin typeface="Segoe UI"/>
              </a:rPr>
              <a:t>• First Digital USD (FDUSD - ~$2.8B): </a:t>
            </a:r>
            <a:r>
              <a:rPr b="0" sz="1000">
                <a:solidFill>
                  <a:srgbClr val="E2E8F0"/>
                </a:solidFill>
                <a:latin typeface="Segoe UI"/>
              </a:rPr>
              <a:t>Emitida por FD121 Limited (Hong Kong Trust, filial de First Digital Labs). Adoptada fuertemente por Binance tras el cierre de BUSD.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IDENTIDAD Y CRIPTOGRAFÍA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¿Qué son las Billeteras Criptográficas? Claves, Custodia y Direcciones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12/22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La Tríada Criptográfica de la Billetera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La Billetera no contiene monedas: </a:t>
            </a:r>
            <a:r>
              <a:rPr b="0" sz="1100">
                <a:solidFill>
                  <a:srgbClr val="E2E8F0"/>
                </a:solidFill>
                <a:latin typeface="Segoe UI"/>
              </a:rPr>
              <a:t>Las monedas residen en la blockchain pública; la wallet almacena únicamente las llaves criptográficas para autorizar movimientos.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1. Clave Privada (Private Key): </a:t>
            </a:r>
            <a:r>
              <a:rPr b="0" sz="1100">
                <a:solidFill>
                  <a:srgbClr val="E2E8F0"/>
                </a:solidFill>
                <a:latin typeface="Segoe UI"/>
              </a:rPr>
              <a:t>Número aleatorio de 256 bits mantenido en secreto absoluto. Es la firma autorizada que gasta y transfiere los fondos.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2. Clave Pública (Public Key): </a:t>
            </a:r>
            <a:r>
              <a:rPr b="0" sz="1100">
                <a:solidFill>
                  <a:srgbClr val="E2E8F0"/>
                </a:solidFill>
                <a:latin typeface="Segoe UI"/>
              </a:rPr>
              <a:t>Derivada matemáticamente de la clave privada mediante Criptografía de Curva Elíptica (secp256k1). Imposible de revertir a la privada.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3. Dirección Pública (Address): </a:t>
            </a:r>
            <a:r>
              <a:rPr b="0" sz="1100">
                <a:solidFill>
                  <a:srgbClr val="E2E8F0"/>
                </a:solidFill>
                <a:latin typeface="Segoe UI"/>
              </a:rPr>
              <a:t>Hash de la clave pública (SHA-256 + RIPEMD-160 en BTC, Keccak-256 en ETH: '0x...'). Actúa como el número de cuenta bancaria.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Semilla de Recuperación (BIP-39): </a:t>
            </a:r>
            <a:r>
              <a:rPr b="0" sz="1100">
                <a:solidFill>
                  <a:srgbClr val="E2E8F0"/>
                </a:solidFill>
                <a:latin typeface="Segoe UI"/>
              </a:rPr>
              <a:t>Secuencia de 12 o 24 palabras legibles que permite regenerar todas las claves de forma determinista (HD Wallets).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Modelos de Custodia y Seguridad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Hot Wallets (Billeteras Calientes): </a:t>
            </a:r>
            <a:r>
              <a:rPr b="0" sz="1100">
                <a:solidFill>
                  <a:srgbClr val="E2E8F0"/>
                </a:solidFill>
                <a:latin typeface="Segoe UI"/>
              </a:rPr>
              <a:t>Conectadas a la red (MetaMask, Phantom, Trust Wallet). Rápidas y convenientes para operar a diario, pero vulnerables a phishing, malware y drenadores de billeteras.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Cold Wallets (Billeteras Frías): </a:t>
            </a:r>
            <a:r>
              <a:rPr b="0" sz="1100">
                <a:solidFill>
                  <a:srgbClr val="E2E8F0"/>
                </a:solidFill>
                <a:latin typeface="Segoe UI"/>
              </a:rPr>
              <a:t>Dispositivos aislados de internet (Hardware Wallets: Ledger, Trezor, Keystone). La clave privada nunca toca una máquina conectada; firman transacciones internamente.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Custodia Centralizada vs No-Custodial: </a:t>
            </a:r>
            <a:r>
              <a:rPr b="0" sz="1100">
                <a:solidFill>
                  <a:srgbClr val="E2E8F0"/>
                </a:solidFill>
                <a:latin typeface="Segoe UI"/>
              </a:rPr>
              <a:t>'Not your keys, not your coins'. En exchanges (Binance, Coinbase), el usuario cede la custodia técnica a una cuenta omnibus corporativa.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MECÁNICA DE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¿Cómo Ocurren los Trades y Transferencias entre Billeteras?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13/22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Transferencia On-Chain entre Billeteras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1. Construcción del Payload: </a:t>
            </a:r>
            <a:r>
              <a:rPr b="0" sz="1100">
                <a:solidFill>
                  <a:srgbClr val="E2E8F0"/>
                </a:solidFill>
                <a:latin typeface="Segoe UI"/>
              </a:rPr>
              <a:t>La billetera A especifica destino (Billetera B), monto y tarifa de comisión máxima dispuesta a pagar (gas).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2. Firma Criptográfica: </a:t>
            </a:r>
            <a:r>
              <a:rPr b="0" sz="1100">
                <a:solidFill>
                  <a:srgbClr val="E2E8F0"/>
                </a:solidFill>
                <a:latin typeface="Segoe UI"/>
              </a:rPr>
              <a:t>Se firma el hash de la transacción con la clave privada de A mediante ECDSA, demostrando propiedad de fondos sin revelar la clave.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3. Transmisión al Mempool: </a:t>
            </a:r>
            <a:r>
              <a:rPr b="0" sz="1100">
                <a:solidFill>
                  <a:srgbClr val="E2E8F0"/>
                </a:solidFill>
                <a:latin typeface="Segoe UI"/>
              </a:rPr>
              <a:t>La transacción firmada se difunde a nodos P2P y entra al mempool para validación sintáctica de saldo y nonce.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4. Inclusión en Bloque: </a:t>
            </a:r>
            <a:r>
              <a:rPr b="0" sz="1100">
                <a:solidFill>
                  <a:srgbClr val="E2E8F0"/>
                </a:solidFill>
                <a:latin typeface="Segoe UI"/>
              </a:rPr>
              <a:t>Un validador la incluye en un bloque minado; una vez confirmada, el saldo de B se actualiza en el libro mayor global de forma definitiva.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¿Cómo Ocurren los Trades? CEX vs. DEX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Negociación CEX (Off-Chain): </a:t>
            </a:r>
            <a:r>
              <a:rPr b="0" sz="1100">
                <a:solidFill>
                  <a:srgbClr val="E2E8F0"/>
                </a:solidFill>
                <a:latin typeface="Segoe UI"/>
              </a:rPr>
              <a:t>En Binance o Coinbase, los trades NO van a la blockchain. Ocurren en bases de datos internas con motores de emparejamiento ultrarrápidos (microsegundos). Solo depósitos y retiros tocan la red on-chain.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Negociación DEX (On-Chain / AMM): </a:t>
            </a:r>
            <a:r>
              <a:rPr b="0" sz="1100">
                <a:solidFill>
                  <a:srgbClr val="E2E8F0"/>
                </a:solidFill>
                <a:latin typeface="Segoe UI"/>
              </a:rPr>
              <a:t>En Uniswap o Raydium, no hay intermediario ni libro de órdenes central. Los usuarios intercambian tokens contra un Pool de Liquidez gestionado por una fórmula matemática (x · y = k).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Riesgo MEV (Miner Extractable Value): </a:t>
            </a:r>
            <a:r>
              <a:rPr b="0" sz="1100">
                <a:solidFill>
                  <a:srgbClr val="E2E8F0"/>
                </a:solidFill>
                <a:latin typeface="Segoe UI"/>
              </a:rPr>
              <a:t>En DEX, bots de arbitraje detectan órdenes en el mempool y hacen 'sandwich attacks' alterando el orden de confirmación.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PUENTE TRADFI Y CRIPTO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Entrada y Salida Fiat (On/Off-Ramp) y el Hub de Stablecoins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14/22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1645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EL FLUJO ESTRUCTURAL DE FONDOS: EL 'HUB' DE LAS STABLECOINS</a:t>
            </a:r>
          </a:p>
          <a:p>
            <a:pPr>
              <a:defRPr sz="1050">
                <a:solidFill>
                  <a:srgbClr val="F8FAFC"/>
                </a:solidFill>
                <a:latin typeface="Consolas"/>
              </a:defRPr>
            </a:pPr>
            <a:r>
              <a:t>[BANCO FIAT (USD / EUR)]  ─── On-Ramp (ACH/SEPA/Wire con KYC) ───►  [EXCHANGE REGULADO (CEX)]</a:t>
            </a:r>
            <a:br/>
            <a:r>
              <a:t>                     ▼</a:t>
            </a:r>
            <a:br/>
            <a:r>
              <a:t>        [CONVERSIÓN INMEDIATA A STABLECOINS (USDT / USDC)]  ◄─── EL NÚCLEO LÍQUIDO DEL MERCADO</a:t>
            </a:r>
            <a:br/>
            <a:r>
              <a:t>                     ▼</a:t>
            </a:r>
            <a:br/>
            <a:r>
              <a:t>[UNIVERSO DE TRADING (BTC, ETH, Altcoins, Futuros Perpetuos, Opciones, DeFi Yield)]</a:t>
            </a:r>
            <a:br/>
            <a:r>
              <a:t>                     ▼</a:t>
            </a:r>
            <a:br/>
            <a:r>
              <a:t>        [CONVERSIÓN DE RETORNO A STABLECOINS]  ─── Off-Ramp ───►  [RETIRO A CUENTA BANCARIA]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59E0B"/>
                </a:solidFill>
              </a:defRPr>
            </a:pPr>
            <a:r>
              <a:t>Pasarelas de Entrada y Salida (On/Off-Ramps)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El Cuello de Botella Regulado: </a:t>
            </a:r>
            <a:r>
              <a:rPr b="0" sz="1050">
                <a:solidFill>
                  <a:srgbClr val="E2E8F0"/>
                </a:solidFill>
                <a:latin typeface="Segoe UI"/>
              </a:rPr>
              <a:t>Los puntos donde el dinero fiduciario entra y sale son los únicos sujetos a estricta supervisión bancaria, KYC e informes SAR.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Fricción Bancaria Tradicional: </a:t>
            </a:r>
            <a:r>
              <a:rPr b="0" sz="1050">
                <a:solidFill>
                  <a:srgbClr val="E2E8F0"/>
                </a:solidFill>
                <a:latin typeface="Segoe UI"/>
              </a:rPr>
              <a:t>Los bancos no operan 24/7 y frecuentemente bloquean transferencias a plataformas cripto debido a políticas de riesgo.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338328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5204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0B981"/>
                </a:solidFill>
              </a:defRPr>
            </a:pPr>
            <a:r>
              <a:t>¿Por qué se comercia en Stablecoins y NO en Fiat?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Par de Cotización Universal: </a:t>
            </a:r>
            <a:r>
              <a:rPr b="0" sz="1050">
                <a:solidFill>
                  <a:srgbClr val="E2E8F0"/>
                </a:solidFill>
                <a:latin typeface="Segoe UI"/>
              </a:rPr>
              <a:t>&gt;85% de los pares de trading activos en CEX cotizan contra USDT o USDC (ej. BTC/USDT), no contra USD o EUR.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Disponibilidad 24/7/365: </a:t>
            </a:r>
            <a:r>
              <a:rPr b="0" sz="1050">
                <a:solidFill>
                  <a:srgbClr val="E2E8F0"/>
                </a:solidFill>
                <a:latin typeface="Segoe UI"/>
              </a:rPr>
              <a:t>Permiten mover liquidez y arbitrar precios entre exchanges en distintos husos horarios sin depender de horarios de cámaras bancarias.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Moneda Base Global: </a:t>
            </a:r>
            <a:r>
              <a:rPr b="0" sz="1050">
                <a:solidFill>
                  <a:srgbClr val="E2E8F0"/>
                </a:solidFill>
                <a:latin typeface="Segoe UI"/>
              </a:rPr>
              <a:t>Permite a inversores de todo el mundo acceder a liquidez denominada en dólares digitales eludiendo controles de cambio locales.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DINÁMICA DEL CRIMEN FINANCIERO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La Migración del Lavado de Dinero: De Criptomonedas a Stablecoins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15/22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</a:defRPr>
            </a:pPr>
            <a:r>
              <a:t>El Cambio Estructural de los Flujos Ilícitos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Pérdida de Dominancia de Bitcoin: </a:t>
            </a:r>
            <a:r>
              <a:rPr b="0" sz="1100">
                <a:solidFill>
                  <a:srgbClr val="E2E8F0"/>
                </a:solidFill>
                <a:latin typeface="Segoe UI"/>
              </a:rPr>
              <a:t>Hasta 2019-2020, Bitcoin concentraba la mayoría del volumen ilícito. En 2023-2026, más del 60-70% del valor ilícito se ha trasladado a **Stablecoins (especialmente USDT en TRON - TRC20)**.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Adopción por Sindicatos Criminales: </a:t>
            </a:r>
            <a:r>
              <a:rPr b="0" sz="1100">
                <a:solidFill>
                  <a:srgbClr val="E2E8F0"/>
                </a:solidFill>
                <a:latin typeface="Segoe UI"/>
              </a:rPr>
              <a:t>Informes de UNODC y TRM Labs confirman que el lavado a gran escala (tráfico de drogas, fraude de inversiones, evasión de sanciones de estados canallas) opera preferentemente en stablecoins.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Infraestructuras Especializadas: </a:t>
            </a:r>
            <a:r>
              <a:rPr b="0" sz="1100">
                <a:solidFill>
                  <a:srgbClr val="E2E8F0"/>
                </a:solidFill>
                <a:latin typeface="Segoe UI"/>
              </a:rPr>
              <a:t>Aparición de 'Garantor Markets' y mesas de dinero OTC no reguladas que liquidan miles de millones ilícitos exclusivamente en USDT.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4 Razones Clave de la Preferencia Ilícita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1. Eliminación del Riesgo de Precio: </a:t>
            </a:r>
            <a:r>
              <a:rPr b="0" sz="1100">
                <a:solidFill>
                  <a:srgbClr val="E2E8F0"/>
                </a:solidFill>
                <a:latin typeface="Segoe UI"/>
              </a:rPr>
              <a:t>El lavado requiere capas y tiempo (layering). Con BTC o ETH, una caída repentina del 15% devora los márgenes del criminal. Una stablecoin conserva su valor de $1.00 intacto.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2. Hiperliquidez y Camuflaje: </a:t>
            </a:r>
            <a:r>
              <a:rPr b="0" sz="1100">
                <a:solidFill>
                  <a:srgbClr val="E2E8F0"/>
                </a:solidFill>
                <a:latin typeface="Segoe UI"/>
              </a:rPr>
              <a:t>USDT mueve más de $50B diarios en transacciones legítimas. Las sumas ilícitas se diluyen fácilmente en el volumen sin generar distorsiones de spread ni alertas inmediatas.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3. Comisiones Mínimas y Transferencia Rápida: </a:t>
            </a:r>
            <a:r>
              <a:rPr b="0" sz="1100">
                <a:solidFill>
                  <a:srgbClr val="E2E8F0"/>
                </a:solidFill>
                <a:latin typeface="Segoe UI"/>
              </a:rPr>
              <a:t>En redes como TRON, transferir $1,000,000 cuesta menos de $2 USD y tarda escasos segundos en liquidar.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4. Paridad Directa con el Dólar Físico: </a:t>
            </a:r>
            <a:r>
              <a:rPr b="0" sz="1100">
                <a:solidFill>
                  <a:srgbClr val="E2E8F0"/>
                </a:solidFill>
                <a:latin typeface="Segoe UI"/>
              </a:rPr>
              <a:t>Facilidad de canje en redes informales de remesas (Hawala digital) y mercados negros transfronterizos sin pasar por el sistema bancario de EE.UU.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INVESTIGACIÓN EMPÍRICA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Paper: The Limits of Blockchain Forensics (Jalal &amp; Westland)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16/22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Deconstruyendo las Mitologías de la Gobernanza Algorítmica en Blockchain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Contexto Realista: </a:t>
            </a:r>
            <a:r>
              <a:rPr b="0" sz="1100">
                <a:solidFill>
                  <a:srgbClr val="E2E8F0"/>
                </a:solidFill>
                <a:latin typeface="Segoe UI"/>
              </a:rPr>
              <a:t>El lavado global mueve entre $800B y $2 Trillones (UNODC). El problema en cripto es de ~$24.2B (&lt;1% del volumen total). A pesar de esto, reguladores y la industria de inteligencia blockchain ($B) exigen un nivel de vigilancia automatizada que no existe en el sistema bancario tradicional.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La 'Trampa de la Complejidad': </a:t>
            </a:r>
            <a:r>
              <a:rPr b="0" sz="1100">
                <a:solidFill>
                  <a:srgbClr val="E2E8F0"/>
                </a:solidFill>
                <a:latin typeface="Segoe UI"/>
              </a:rPr>
              <a:t>Empresas forenses comercializan modelos de IA de alta complejidad (Graph Neural Networks) prometiendo 'kill-switches' automáticos y predicción de mercados. Este artículo somete a prueba empírica rigurosa las tres grandes mitologías del sector.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251460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703320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RQ1: Estructura vs Conducta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¿Las GNNs de grafos superan a simples modelos de árboles conductuales al detectar ilícitos?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3566160"/>
            <a:ext cx="251460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3703320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RQ2: Predicción de Mercado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¿Los flujos ilícitos on-chain predicen precios, volatilidad o liquidez ('alpha'), o es un espejismo?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566160"/>
            <a:ext cx="251460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703320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EF4444"/>
                </a:solidFill>
              </a:defRPr>
            </a:pPr>
            <a:r>
              <a:t>RQ3: Alarmas Autónomas &amp; Tasa Base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¿Puede una alarma automática operar de forma autónoma ante la extrema rareza de los atacantes?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3566160"/>
            <a:ext cx="251460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416" y="3703320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RQ4: Wash Trading en DEX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¿Cómo detectar manipulación de microestructura en pools de liquidez descentralizados?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PAPER JALAL &amp; WESTLAND — RQ1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Mitología Técnica: ¿Redes de Grafos (GNN) o Modelos de Árbol?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17/22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8521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model_comparison_rq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669280" cy="2834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55448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Deconstrucción de la Mitología Técnica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El Mito de la Industria: </a:t>
            </a:r>
            <a:r>
              <a:rPr b="0" sz="1050">
                <a:solidFill>
                  <a:srgbClr val="E2E8F0"/>
                </a:solidFill>
                <a:latin typeface="Segoe UI"/>
              </a:rPr>
              <a:t>Se afirma que la topología relacional de la blockchain exige redes neuronales de grafos (GCN, GraphSAGE, GATv2) para detectar billeteras ilícitas.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Emparejamiento por Grado (Fair Comparison): </a:t>
            </a:r>
            <a:r>
              <a:rPr b="0" sz="1050">
                <a:solidFill>
                  <a:srgbClr val="E2E8F0"/>
                </a:solidFill>
                <a:latin typeface="Segoe UI"/>
              </a:rPr>
              <a:t>Al emparejar cada nodo ilícito con nodos normales de volumen idéntico, se evita una falsa victoria lograda por clasificar billeteras de alto volumen.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En Bitcoin (Red Plana, 32% Top-1%): </a:t>
            </a:r>
            <a:r>
              <a:rPr b="0" sz="1050">
                <a:solidFill>
                  <a:srgbClr val="E2E8F0"/>
                </a:solidFill>
                <a:latin typeface="Segoe UI"/>
              </a:rPr>
              <a:t>Random Forest tabular sin grafos gana con F1 = 0.935 frente a GraphSAGE (0.931) y GAT (0.911). Con solo rasgos estructurales, RF alcanza 0.893 vs 0.844 conductuales.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En Shiba &amp; Doge (Redes Concentradas): </a:t>
            </a:r>
            <a:r>
              <a:rPr b="0" sz="1050">
                <a:solidFill>
                  <a:srgbClr val="E2E8F0"/>
                </a:solidFill>
                <a:latin typeface="Segoe UI"/>
              </a:rPr>
              <a:t>Los hubs gigantes de exchanges (48%-63% de conexiones) enmascaran la cercanía a nodos ilícitos. Las variables conductuales (edad de wallet, recencia, ráfaga) dominan por completo.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Conclusión: </a:t>
            </a:r>
            <a:r>
              <a:rPr b="0" sz="1050">
                <a:solidFill>
                  <a:srgbClr val="E2E8F0"/>
                </a:solidFill>
                <a:latin typeface="Segoe UI"/>
              </a:rPr>
              <a:t>No existe ventaja sistemática en GNNs; las instituciones pagan una 'prima de complejidad' sin beneficios operativos reales.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PAPER JALAL &amp; WESTLAND — RQ2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Mitología Informacional: La Nulidad Predictiva ('The Price Null')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18/22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rolling_stability_r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120640" cy="28803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La Ilusión del 'Alfa' y Trampas Forenses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El Mito de la Industria: </a:t>
            </a:r>
            <a:r>
              <a:rPr b="0" sz="1050">
                <a:solidFill>
                  <a:srgbClr val="E2E8F0"/>
                </a:solidFill>
                <a:latin typeface="Segoe UI"/>
              </a:rPr>
              <a:t>Proveedores afirman que rastrear flujos ilícitos y 'ballenas' on-chain permite anticipar caídas de precios, picos de volatilidad o presiones de venta.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Batería de 30 Pruebas Estadísticas: </a:t>
            </a:r>
            <a:r>
              <a:rPr b="0" sz="1050">
                <a:solidFill>
                  <a:srgbClr val="E2E8F0"/>
                </a:solidFill>
                <a:latin typeface="Segoe UI"/>
              </a:rPr>
              <a:t>Causalidad de Granger (lags 1-10), modelos HAR-RV-X, Toda-Yamamoto, y Temporal Fusion Transformers revelan **ausencia total de capacidad predictiva fuera de muestra (OOS)**.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Trampa 1: Look-Ahead Leak (Filtración): </a:t>
            </a:r>
            <a:r>
              <a:rPr b="0" sz="1050">
                <a:solidFill>
                  <a:srgbClr val="E2E8F0"/>
                </a:solidFill>
                <a:latin typeface="Segoe UI"/>
              </a:rPr>
              <a:t>Distribuir la actividad de una conexión hacia atrás en el tiempo creaba una ganancia ficticia del 7% en Doge (MSFE 0.934). Al reconstruir la serie causalmente en tiempo real, colapsó a 1.044 (¡mera filtración de datos futuros!).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Trampa 2: Artefactos de Feed de Precios: </a:t>
            </a:r>
            <a:r>
              <a:rPr b="0" sz="1050">
                <a:solidFill>
                  <a:srgbClr val="E2E8F0"/>
                </a:solidFill>
                <a:latin typeface="Segoe UI"/>
              </a:rPr>
              <a:t>Señales predictivas que parecían significativas en una plataforma de precios desaparecían por completo en otras.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Colapso en Calibración Rodante: </a:t>
            </a:r>
            <a:r>
              <a:rPr b="0" sz="1050">
                <a:solidFill>
                  <a:srgbClr val="E2E8F0"/>
                </a:solidFill>
                <a:latin typeface="Segoe UI"/>
              </a:rPr>
              <a:t>En ventanas móviles, la señal de liquidez (0.68) se sitúa cerca del azar (0.49) y lejos de una relación económica persistente (0.93).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PAPER JALAL &amp; WESTLAND — RQ3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Mitología Operativa: La Falacia de la Tasa Base y Sobrecarga de Alertas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19/22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8521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base_rate_fall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669280" cy="294802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55448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</a:defRPr>
            </a:pPr>
            <a:r>
              <a:t>La Realidad Matemática (Axelsson, 2000)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Prevalencia Empírica Ínfima (p): </a:t>
            </a:r>
            <a:r>
              <a:rPr b="0" sz="1050">
                <a:solidFill>
                  <a:srgbClr val="E2E8F0"/>
                </a:solidFill>
                <a:latin typeface="Segoe UI"/>
              </a:rPr>
              <a:t>En contratos inteligentes, solo existen ~150 exploits confirmados sobre 37.5M despliegues (p ≈ 4.4 × 10⁻⁶ = 4.4 por millón).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Ecuación de Revisiones por Captura: </a:t>
            </a:r>
            <a:r>
              <a:rPr b="0" sz="1050">
                <a:solidFill>
                  <a:srgbClr val="E2E8F0"/>
                </a:solidFill>
                <a:latin typeface="Segoe UI"/>
              </a:rPr>
              <a:t>Revisiones / Captura = [(1 - p) / p] · [FPR_{at recall} / recall]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Carga Operativa Inmanejable: </a:t>
            </a:r>
            <a:r>
              <a:rPr b="0" sz="1050">
                <a:solidFill>
                  <a:srgbClr val="E2E8F0"/>
                </a:solidFill>
                <a:latin typeface="Segoe UI"/>
              </a:rPr>
              <a:t>Para alcanzar un 90% de recall con el detector XGBoost (AUC 0.876), **se requieren entre 40,700 y 116,700 revisiones benignas por CADA captura real**.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Imposibilidad de 'Kill-Switches': </a:t>
            </a:r>
            <a:r>
              <a:rPr b="0" sz="1050">
                <a:solidFill>
                  <a:srgbClr val="E2E8F0"/>
                </a:solidFill>
                <a:latin typeface="Segoe UI"/>
              </a:rPr>
              <a:t>Un bloqueo automático autónomo congelaría decenas de miles de usuarios legítimos, destruyendo el negocio del exchange.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Detección como TRIAJE (Triage): </a:t>
            </a:r>
            <a:r>
              <a:rPr b="0" sz="1050">
                <a:solidFill>
                  <a:srgbClr val="E2E8F0"/>
                </a:solidFill>
                <a:latin typeface="Segoe UI"/>
              </a:rPr>
              <a:t>El modelo SÍ es valioso como filtro de priorización humana: inspeccionar el top 1% más riesgoso concentra a los atacantes 13.3 veces por encima de la tasa base (Lift = 13.3x).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PAPER JALAL &amp; WESTLAND — RQ4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Manipulación en DEX: Detección de Wash Trading y el 'Wash-Discount'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20/22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Embudo de Filtrado Conductual en Pools DEX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El Problema en Exchanges Descentralizados: </a:t>
            </a:r>
            <a:r>
              <a:rPr b="0" sz="1050">
                <a:solidFill>
                  <a:srgbClr val="E2E8F0"/>
                </a:solidFill>
                <a:latin typeface="Segoe UI"/>
              </a:rPr>
              <a:t>No existen restricciones KYC; cualquier actor puede crear múltiples billeteras e intercambiar tokens consigo mismo para simular liquidez y volumen falso.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1. Umbral de Actividad (K ≥ 4): </a:t>
            </a:r>
            <a:r>
              <a:rPr b="0" sz="1050">
                <a:solidFill>
                  <a:srgbClr val="E2E8F0"/>
                </a:solidFill>
                <a:latin typeface="Segoe UI"/>
              </a:rPr>
              <a:t>Mínimo de swaps ejecutados por la dirección dentro de la ventana de análisis semanal.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2. Balance Direccional (≥ 0.60): </a:t>
            </a:r>
            <a:r>
              <a:rPr b="0" sz="1050">
                <a:solidFill>
                  <a:srgbClr val="E2E8F0"/>
                </a:solidFill>
                <a:latin typeface="Segoe UI"/>
              </a:rPr>
              <a:t>Relación simétrica entre compras y ventas: min(buys, sells) / max(buys, sells) ≥ 0.60.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3. Participación en el Pool (≥ 30%): </a:t>
            </a:r>
            <a:r>
              <a:rPr b="0" sz="1050">
                <a:solidFill>
                  <a:srgbClr val="E2E8F0"/>
                </a:solidFill>
                <a:latin typeface="Segoe UI"/>
              </a:rPr>
              <a:t>La dirección sospechosa concentra más del 30% del volumen total de transacciones del pool.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4. Neutralidad de Inventario (&lt; 0.10): </a:t>
            </a:r>
            <a:r>
              <a:rPr b="0" sz="1050">
                <a:solidFill>
                  <a:srgbClr val="E2E8F0"/>
                </a:solidFill>
                <a:latin typeface="Segoe UI"/>
              </a:rPr>
              <a:t>Flujo neto respecto a flujo bruto inferior al 10% en ambos tokens (reciclaje de inventario sin posición neta).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La Métrica 'Wash-Discount' (WD_i)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Inspiración en el Beneish M-Score: </a:t>
            </a:r>
            <a:r>
              <a:rPr b="0" sz="1050">
                <a:solidFill>
                  <a:srgbClr val="E2E8F0"/>
                </a:solidFill>
                <a:latin typeface="Segoe UI"/>
              </a:rPr>
              <a:t>Análogo a las métricas de contabilidad forense para detectar manipulación de beneficios corporativos.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Formalización Matemática: </a:t>
            </a:r>
            <a:r>
              <a:rPr b="0" sz="1050">
                <a:solidFill>
                  <a:srgbClr val="E2E8F0"/>
                </a:solidFill>
                <a:latin typeface="Segoe UI"/>
              </a:rPr>
              <a:t>WD_i = 1 - (Volumen_organico / Volumen_reportado) = Σ_{a ∈ C_i} V_{a,i} / V_{i,reportado}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Utilidad para Agregadores y Reguladores: </a:t>
            </a:r>
            <a:r>
              <a:rPr b="0" sz="1050">
                <a:solidFill>
                  <a:srgbClr val="E2E8F0"/>
                </a:solidFill>
                <a:latin typeface="Segoe UI"/>
              </a:rPr>
              <a:t>Permite a CoinMarketCap o CoinGecko 'reexpresar' el volumen reportado, deflactando el volumen artificial para reflejar la verdadera liquidez económica del pool.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Precaución Metodológica: </a:t>
            </a:r>
            <a:r>
              <a:rPr b="0" sz="1050">
                <a:solidFill>
                  <a:srgbClr val="E2E8F0"/>
                </a:solidFill>
                <a:latin typeface="Segoe UI"/>
              </a:rPr>
              <a:t>El volumen candidato no es prueba automática de colusión criminal; debe contrastarse con actividades de arbitraje y creación de mercado legítima.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PAPER JALAL &amp; WESTLAND — IMPLICACIONES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La Crisis de Obsolescencia de Etiquetas (Staleness) y Políticas AML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21/22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F4444"/>
                </a:solidFill>
              </a:defRPr>
            </a:pPr>
            <a:r>
              <a:t>La Vida Media de las Etiquetas Públicas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Vida Media de ~2 Años en Ethereum: </a:t>
            </a:r>
            <a:r>
              <a:rPr b="0" sz="1050">
                <a:solidFill>
                  <a:srgbClr val="E2E8F0"/>
                </a:solidFill>
                <a:latin typeface="Segoe UI"/>
              </a:rPr>
              <a:t>En una cohorte de 3,279 direcciones ilícitas analizadas, la actividad cae a la mitad en solo 2 años. **Solo el 12.9% de las direcciones flagged seguían activas hacia 2024**.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Inactividad Total en Dogecoin (0%): </a:t>
            </a:r>
            <a:r>
              <a:rPr b="0" sz="1050">
                <a:solidFill>
                  <a:srgbClr val="E2E8F0"/>
                </a:solidFill>
                <a:latin typeface="Segoe UI"/>
              </a:rPr>
              <a:t>El vecindario de billeteras de estafas en Dogecoin quedó 100% inactivo / durmiente tras 2022.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OFAC vs. ScamSniffer: </a:t>
            </a:r>
            <a:r>
              <a:rPr b="0" sz="1050">
                <a:solidFill>
                  <a:srgbClr val="E2E8F0"/>
                </a:solidFill>
                <a:latin typeface="Segoe UI"/>
              </a:rPr>
              <a:t>Las direcciones sancionadas formalmente por el Tesoro de EE.UU. (OFAC) mantienen mayor longevidad (26.5%) que las billeteras de campañas de phishing efímeras (13.9%, z = 3.17).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El Fenómeno de 'Burner Wallets': </a:t>
            </a:r>
            <a:r>
              <a:rPr b="0" sz="1050">
                <a:solidFill>
                  <a:srgbClr val="E2E8F0"/>
                </a:solidFill>
                <a:latin typeface="Segoe UI"/>
              </a:rPr>
              <a:t>Los atacantes abandonan sus billeteras tras una sola campaña delictiva. Monitorear listas negras estáticas solo ofrece una ilusión de seguridad.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Recomendaciones para Stakeholders y Reguladores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1. Para Reguladores y GAFI / FATF: </a:t>
            </a:r>
            <a:r>
              <a:rPr b="0" sz="1050">
                <a:solidFill>
                  <a:srgbClr val="E2E8F0"/>
                </a:solidFill>
                <a:latin typeface="Segoe UI"/>
              </a:rPr>
              <a:t>Abandonar la exigencia de bloqueos automáticos basados en IA ('Travel Rule'). El mandato ignora la tasa base e impone un impuesto de 'teatro de seguridad'. Exigir reportes de prevalencia, recall y tasa de revisión.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2. Para Exchanges y Protocolos DEX: </a:t>
            </a:r>
            <a:r>
              <a:rPr b="0" sz="1050">
                <a:solidFill>
                  <a:srgbClr val="E2E8F0"/>
                </a:solidFill>
                <a:latin typeface="Segoe UI"/>
              </a:rPr>
              <a:t>Implementar embudos de filtrado conductual y el ratio Wash-Discount ($WD_i$) para deflactar volúmenes inflados y priorizar inspección contextual humana.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3. Para la Industria de Inteligencia Cripto: </a:t>
            </a:r>
            <a:r>
              <a:rPr b="0" sz="1050">
                <a:solidFill>
                  <a:srgbClr val="E2E8F0"/>
                </a:solidFill>
                <a:latin typeface="Segoe UI"/>
              </a:rPr>
              <a:t>Abandonar la venta de 'cajas negras' de GNNs sobrevaloradas. Demostrar desempeño en tiempo real (*point-in-time*) frente a baselines simples de árboles y transparentar la obsolescencia de datos.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CIERRE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Conclusiones Clave y Preguntas de Debate para la Clase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347472"/>
            <a:ext cx="1536192" cy="49377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048"/>
            <a:ext cx="1389888" cy="39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22/22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Síntesis Conceptual de la Sesión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Microestructura Real: </a:t>
            </a:r>
            <a:r>
              <a:rPr b="0" sz="1050">
                <a:solidFill>
                  <a:srgbClr val="E2E8F0"/>
                </a:solidFill>
                <a:latin typeface="Segoe UI"/>
              </a:rPr>
              <a:t>La liquidez no es el volumen bruto publicitario; se mide en el libro de órdenes (DOM), el spread bid-ask y el ratio de Amihud.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Dominio de Derivados: </a:t>
            </a:r>
            <a:r>
              <a:rPr b="0" sz="1050">
                <a:solidFill>
                  <a:srgbClr val="E2E8F0"/>
                </a:solidFill>
                <a:latin typeface="Segoe UI"/>
              </a:rPr>
              <a:t>2 de cada 3 dólares negociados operan en futuros perpetuos y derivados, no en la compra directa de criptomonedas al contado.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El Eje de las Stablecoins: </a:t>
            </a:r>
            <a:r>
              <a:rPr b="0" sz="1050">
                <a:solidFill>
                  <a:srgbClr val="E2E8F0"/>
                </a:solidFill>
                <a:latin typeface="Segoe UI"/>
              </a:rPr>
              <a:t>USDT y USDC son la verdadera moneda base del ecosistema comercial y, por ende, el canal preferido del lavado de capitales transfronterizo.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• Lección del Paper (Jalal &amp; Westland): </a:t>
            </a:r>
            <a:r>
              <a:rPr b="0" sz="1050">
                <a:solidFill>
                  <a:srgbClr val="E2E8F0"/>
                </a:solidFill>
                <a:latin typeface="Segoe UI"/>
              </a:rPr>
              <a:t>La gobernanza algorítmica autónoma ('kill-switches') es una quimera matemática debido a la falacia de la tasa base (40k-116k revisiones por acierto). La IA debe ser herramienta de *triage* para analistas humanos.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Preguntas para Debate en Clase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1. Riesgo Sistémico de Stablecoins: </a:t>
            </a:r>
            <a:r>
              <a:rPr b="0" sz="1050">
                <a:solidFill>
                  <a:srgbClr val="E2E8F0"/>
                </a:solidFill>
                <a:latin typeface="Segoe UI"/>
              </a:rPr>
              <a:t>¿Representa la concentración del ~70% del mercado de stablecoins en Tether (USDT) un riesgo 'Too Big To Fail' para la estabilidad de las finanzas descentralizadas?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2. Eficiencia de Mercado &amp; 'Alpha': </a:t>
            </a:r>
            <a:r>
              <a:rPr b="0" sz="1050">
                <a:solidFill>
                  <a:srgbClr val="E2E8F0"/>
                </a:solidFill>
                <a:latin typeface="Segoe UI"/>
              </a:rPr>
              <a:t>Si los flujos on-chain no aportan predictibilidad demostrable para precios y volatilidad fuera de muestra, ¿por qué los inversores siguen comprando analíticas on-chain?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F8FAFC"/>
                </a:solidFill>
                <a:latin typeface="Segoe UI"/>
              </a:rPr>
              <a:t>3. Regulación vs. Realidad Matemática: </a:t>
            </a:r>
            <a:r>
              <a:rPr b="0" sz="1050">
                <a:solidFill>
                  <a:srgbClr val="E2E8F0"/>
                </a:solidFill>
                <a:latin typeface="Segoe UI"/>
              </a:rPr>
              <a:t>¿Cómo deben los organismos reguladores (GAFI, SEC, FinCEN) reformular los mandatos de cumplimiento AML sin obligar a las instituciones a realizar 'teatro de seguridad'?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8BDF8"/>
      </a:hlink>
      <a:folHlink>
        <a:srgbClr val="38BDF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