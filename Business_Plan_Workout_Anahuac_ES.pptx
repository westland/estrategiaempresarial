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875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WORKOUT: PLAN DE NEGOCIOS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1 / 8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500">
                <a:solidFill>
                  <a:srgbClr val="231F20"/>
                </a:solidFill>
                <a:latin typeface="Segoe UI"/>
              </a:defRPr>
            </a:pPr>
            <a:r>
              <a:t>Workout: Plan de Negocios para Empresas Escalables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Conectando la empatía con el cliente con operaciones y economía unitaria rigurosa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Objetivo Central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Desarrollar un plan de negocios invertible para una nueva empresa abordando seis pilares operativos clave para demostrar viabilidad y defensibilidad.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Arquitectura Centrada en el Cliente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Cada decisión operativa—desde funcionalidades del producto hasta la cadena de suministro—debe partir de la disposición real a pagar del cliente.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Modelo Operativo Escalable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Demostrar cómo el capital semilla inicial evoluciona hacia un crecimiento comercial autosuficiente y de alto margen mediante ejecución disciplinada.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p_overview_isometric_179139621793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Innovación Estratégica y Plan de Negocios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335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PILAR 1: ANÁLISIS DEL CLIENTE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2 / 8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500">
                <a:solidFill>
                  <a:srgbClr val="231F20"/>
                </a:solidFill>
                <a:latin typeface="Segoe UI"/>
              </a:defRPr>
            </a:pPr>
            <a:r>
              <a:t>1. Análisis del Cliente y el Marco de Descubrimiento '6W'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Determinando tamaño de mercado, dolor urgente y disposición real a pagar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Segmentación y Mercado Total (TAM)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Definir un segmento de clientes específico, estimar el tamaño total del mercado (TAM) y determinar su disposición real a pagar validada.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El Marco de Investigación 6W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¿Quiénes son (demografía, estilo de vida)? ¿Qué necesitan con urgencia? ¿Cuándo y dónde experimentan la fricción y realizan la compra?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La Prueba de Decisión de Compra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¿Cómo comprarán y usarán su producto? Y fundamentalmente: ¿Por qué elegirán su solución por encima de las alternativas existentes?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p_customer_product_179139624567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Innovación Estratégica y Plan de Negocios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910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PILAR 2: PRODUCTO Y DIFERENCIACIÓN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3 / 8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500">
                <a:solidFill>
                  <a:srgbClr val="231F20"/>
                </a:solidFill>
                <a:latin typeface="Segoe UI"/>
              </a:defRPr>
            </a:pPr>
            <a:r>
              <a:t>2. Arquitectura de Producto y Diferenciación Única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Creando el paquete de funcionalidades que supera decididamente a la competencia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Definición del Paquete de Valor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Especificar el tipo de oferta (app móvil, bien físico, servicio automatizado) y mapear a todos los competidores directos e indirectos.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El Diferenciador Primario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Identificar la característica singular e inimitable que convencerá decididamente a los clientes de abandonar a la competencia y comprar el suyo.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Eliminación del Desperdicio de Funciones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Evitar la sobrecarga de características innecesarias que diluyen la propuesta de valor y aumentan los costos variables de entrega.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p_customer_product_179139624567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Innovación Estratégica y Plan de Negocios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680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PILARES 3 Y 4: OPERACIONES Y GTM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4 / 8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500">
                <a:solidFill>
                  <a:srgbClr val="231F20"/>
                </a:solidFill>
                <a:latin typeface="Segoe UI"/>
              </a:defRPr>
            </a:pPr>
            <a:r>
              <a:t>3. Cadena de Suministro y 4. Estrategia de Marketing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Ejecutando entregas de bajo costo y adquisición de clientes de alta conversión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Cadena de Suministro Integral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Detallar el abastecimiento de insumos, procesos de producción y logística de distribución asegurando eficiencia de costos, confiabilidad y escala.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Canales de Alta Velocidad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Desplegar campañas en redes sociales virales, micro-influencers y alianzas contextuales para comunicar el valor del producto directamente al usuario.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Alineación Canal-Cliente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Conectar los canales con los lugares donde reside la atención real del cliente, aprovechando la recomendación boca a boca para reducir el CAC.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p_supply_marketing_17913962729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Innovación Estratégica y Plan de Negocios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4025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PILARES 5 Y 6: FINANZAS Y VALUACIÓN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5 / 8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500">
                <a:solidFill>
                  <a:srgbClr val="231F20"/>
                </a:solidFill>
                <a:latin typeface="Segoe UI"/>
              </a:defRPr>
            </a:pPr>
            <a:r>
              <a:t>5. Proyecciones Financieras y 6. Valuación e Inversión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Modelando la economía unitaria, el punto de equilibrio y el pitch a inversionistas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Modelo Proforma a Tres Años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Proyectar ingresos de los Años 1 a 3 basados en volumen de clientes, esquema de precios, costos variables de entrega y gastos fijos de operación.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Valuación para Capital de Riesgo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Establecer una valuación previa a la inversión creíble (ej. múltiplo de 3x sobre ingresos proyectados del Año 3), acorde a la industria.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Estructura del Acuerdo de Inversión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Especificar el porcentaje de participación ofrecido, monto de capital solicitado y la tesis de retorno atractivo para el inversionista en 5 años.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p_financials_val_17913963104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Innovación Estratégica y Plan de Negocios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530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CASO PRÁCTICO: EJEMPLO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6 / 8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500">
                <a:solidFill>
                  <a:srgbClr val="231F20"/>
                </a:solidFill>
                <a:latin typeface="Segoe UI"/>
              </a:defRPr>
            </a:pPr>
            <a:r>
              <a:t>Caso Práctico: Kits de Comida Saludable para Universitarios (Parte 1)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Aplicación de Análisis del Cliente, Diferenciación y Cadena de Suministro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Perfil del Cliente Objetivo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Estudiantes universitarios urbanos (18–24 años) en dormitorios o departamentos compartidos. Mercado: ~15M en EE. UU. Disposición a pagar: $10/mes suscripción + $5/comida.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Diferenciador Clave Ultracompacto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Kits de comida saludable pre-porcionados para microondas (quinoa, salteados) que caben en mini-refrigeradores con prep en 5 min vs HelloFresh/comida rápida.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Cadena de Suministro Ágil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Alianzas con granjas locales e insumos al mayoreo; cocinas centrales de preparación en campus; entregas semanales en furgonetas eléctricas con empaque reciclable.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p_mealkit_case_179139634785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Innovación Estratégica y Plan de Negocios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530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CASO PRÁCTICO: EJEMPLO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7 / 8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500">
                <a:solidFill>
                  <a:srgbClr val="231F20"/>
                </a:solidFill>
                <a:latin typeface="Segoe UI"/>
              </a:defRPr>
            </a:pPr>
            <a:r>
              <a:t>Caso Práctico: Finanzas, Marketing y Valuación (Parte 2)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Escalando de $7M en Año 1 a $20M en Año 3 con 50% de margen neto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Marketing Enfocado en Estudiantes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Campañas de recetas rápidas en TikTok e Instagram (#CollegeLife), embajadores universitarios y patrocinios con comedores de campus.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Proyección Financiera a 3 Años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A1: 50k suscriptores → $7M Ingresos ($0.9M utilidad). A2: 100k subs → $12M Ingresos ($5M utilidad). A3: 150k subs → $20M Ingresos ($10M utilidad; 10% penetración).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Valuación y Ronda Shark Tank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Valuación de $30M (3x ingresos del Año 3). Venta del 20% por $6M para financiar expansión de cocinas centrales; retorno proyectado a 5 años.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p_scale_growth_179139639739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Innovación Estratégica y Plan de Negocios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760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EVALUACIÓN Y COMENTARIOS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8 / 8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500">
                <a:solidFill>
                  <a:srgbClr val="231F20"/>
                </a:solidFill>
                <a:latin typeface="Segoe UI"/>
              </a:defRPr>
            </a:pPr>
            <a:r>
              <a:t>Marco de Evaluación del Profesor Westland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Claves estratégicas para defender su plan de negocios ante comités de inversión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Supuestos Respaldados en Evidencia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Fundamentar precios, costos y adopción en datos conductuales reales. Los inversionistas descartan proyecciones infladas sin validación empírica.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Enfoque en el Diferenciador Singular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Las empresas exitosas no intentan abarcarlo todo; ejecutan una ventaja crítica 10 veces mejor que las alternativas para su nicho específico.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Defensa Rigurosa del Pitch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Estar preparado para sustentar economías de escala en costos unitarios, control de retención/churn y resiliencia logística ante imprevistos.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p_pitch_eval_17913964305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Innovación Estratégica y Plan de Negocios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