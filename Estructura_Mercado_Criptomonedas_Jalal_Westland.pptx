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1. DESCRIPCIÓN:</a:t>
            </a:r>
          </a:p>
          <a:p>
            <a:pPr>
              <a:spcAft>
                <a:spcPts val="400"/>
              </a:spcAft>
            </a:pPr>
            <a:r>
              <a:rPr sz="1300">
                <a:latin typeface="Segoe UI"/>
              </a:rPr>
              <a:t>Esta diapositiva es la portada y la introducción de la clase. Presenta el tema general: la estructura del mercado de criptomonedas, los derivados, las stablecoins y los límites de la detección de delitos financieros.</a:t>
            </a:r>
          </a:p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2. PUNTOS CLAVE: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Tema central:</a:t>
            </a:r>
            <a:r>
              <a:rPr b="0" sz="1300">
                <a:latin typeface="Segoe UI"/>
              </a:rPr>
              <a:t> Cómo funciona realmente el mercado financiero de criptoactivos.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Expositor:</a:t>
            </a:r>
            <a:r>
              <a:rPr b="0" sz="1300">
                <a:latin typeface="Segoe UI"/>
              </a:rPr>
              <a:t> J. Christopher Westland (becario Fulbright en la Universidad Anáhuac Mayab y profesor en la Universidad de Illinois Chicago).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Enfoque de la sesión:</a:t>
            </a:r>
            <a:r>
              <a:rPr b="0" sz="1300">
                <a:latin typeface="Segoe UI"/>
              </a:rPr>
              <a:t> Análisis económico, financiero y datos reales, no especulación de precios.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1. DESCRIPCIÓN:</a:t>
            </a:r>
          </a:p>
          <a:p>
            <a:pPr>
              <a:spcAft>
                <a:spcPts val="400"/>
              </a:spcAft>
            </a:pPr>
            <a:r>
              <a:rPr sz="1300">
                <a:latin typeface="Segoe UI"/>
              </a:rPr>
              <a:t>Esta diapositiva muestra la agenda y la hoja de ruta de la clase. Divide la sesión de 90 minutos en tres partes principales.</a:t>
            </a:r>
          </a:p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2. PUNTOS CLAVE: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Parte 1:</a:t>
            </a:r>
            <a:r>
              <a:rPr b="0" sz="1300">
                <a:latin typeface="Segoe UI"/>
              </a:rPr>
              <a:t> Fundamentos técnicos (la blockchain, la minería y las billeteras).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Parte 2:</a:t>
            </a:r>
            <a:r>
              <a:rPr b="0" sz="1300">
                <a:latin typeface="Segoe UI"/>
              </a:rPr>
              <a:t> Mercados financieros (libros de órdenes, derivados y stablecoins).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Parte 3:</a:t>
            </a:r>
            <a:r>
              <a:rPr b="0" sz="1300">
                <a:latin typeface="Segoe UI"/>
              </a:rPr>
              <a:t> Investigación empírica (nuestro artículo académico sobre lavado de dinero y modelos forenses).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1. DESCRIPCIÓN:</a:t>
            </a:r>
          </a:p>
          <a:p>
            <a:pPr>
              <a:spcAft>
                <a:spcPts val="400"/>
              </a:spcAft>
            </a:pPr>
            <a:r>
              <a:rPr sz="1300">
                <a:latin typeface="Segoe UI"/>
              </a:rPr>
              <a:t>Esta diapositiva explica qué es la blockchain y cómo funciona como un libro contable distribuido.</a:t>
            </a:r>
          </a:p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2. PUNTOS CLAVE: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Libro contable distribuido:</a:t>
            </a:r>
            <a:r>
              <a:rPr b="0" sz="1300">
                <a:latin typeface="Segoe UI"/>
              </a:rPr>
              <a:t> Es una base de datos pública compartida entre muchas computadoras (nodos).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Sin intermediarios:</a:t>
            </a:r>
            <a:r>
              <a:rPr b="0" sz="1300">
                <a:latin typeface="Segoe UI"/>
              </a:rPr>
              <a:t> No necesita un banco central para validar las transacciones.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Criptografía clásica:</a:t>
            </a:r>
            <a:r>
              <a:rPr b="0" sz="1300">
                <a:latin typeface="Segoe UI"/>
              </a:rPr>
              <a:t> Utiliza firmas digitales y funciones hash que existen desde hace décadas.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Inmutabilidad:</a:t>
            </a:r>
            <a:r>
              <a:rPr b="0" sz="1300">
                <a:latin typeface="Segoe UI"/>
              </a:rPr>
              <a:t> Una vez guardada la información, es prácticamente imposible cambiar transacciones pasadas.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1. DESCRIPCIÓN:</a:t>
            </a:r>
          </a:p>
          <a:p>
            <a:pPr>
              <a:spcAft>
                <a:spcPts val="400"/>
              </a:spcAft>
            </a:pPr>
            <a:r>
              <a:rPr sz="1300">
                <a:latin typeface="Segoe UI"/>
              </a:rPr>
              <a:t>Esta diapositiva explica el ciclo de vida de una transacción: los 6 pasos necesarios para añadir un nuevo bloque a la blockchain.</a:t>
            </a:r>
          </a:p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2. PUNTOS CLAVE: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Pasos 1 y 2 (Firma y Mempool):</a:t>
            </a:r>
            <a:r>
              <a:rPr b="0" sz="1300">
                <a:latin typeface="Segoe UI"/>
              </a:rPr>
              <a:t> El usuario firma la transacción y esta espera en una lista pública llamada mempool.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Paso 3 (Empaquetado):</a:t>
            </a:r>
            <a:r>
              <a:rPr b="0" sz="1300">
                <a:latin typeface="Segoe UI"/>
              </a:rPr>
              <a:t> Los mineros eligen las transacciones que pagan más comisiones (gas).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Pasos 4 y 5 (Consenso y Enlace):</a:t>
            </a:r>
            <a:r>
              <a:rPr b="0" sz="1300">
                <a:latin typeface="Segoe UI"/>
              </a:rPr>
              <a:t> Se resuelve el consenso (Proof of Work o Proof of Stake) y se conecta con el bloque anterior.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Paso 6 (Confirmación):</a:t>
            </a:r>
            <a:r>
              <a:rPr b="0" sz="1300">
                <a:latin typeface="Segoe UI"/>
              </a:rPr>
              <a:t> El bloque se copia en todos los nodos de la red.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Conclusión:</a:t>
            </a:r>
            <a:r>
              <a:rPr b="0" sz="1300">
                <a:latin typeface="Segoe UI"/>
              </a:rPr>
              <a:t> Este proceso toma tiempo, por lo que la blockchain es lenta para el trading rápido.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1. DESCRIPCIÓN:</a:t>
            </a:r>
          </a:p>
          <a:p>
            <a:pPr>
              <a:spcAft>
                <a:spcPts val="400"/>
              </a:spcAft>
            </a:pPr>
            <a:r>
              <a:rPr sz="1300">
                <a:latin typeface="Segoe UI"/>
              </a:rPr>
              <a:t>Esta diapositiva habla de la red entre computadoras (Peer-to-Peer) y cómo se toman las decisiones y reglas en Bitcoin.</a:t>
            </a:r>
          </a:p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2. PUNTOS CLAVE: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Mineros vs Nodos:</a:t>
            </a:r>
            <a:r>
              <a:rPr b="0" sz="1300">
                <a:latin typeface="Segoe UI"/>
              </a:rPr>
              <a:t> Los mineros crean bloques, pero los nodos completos verifican que no haya trampas ni monedas falsas.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Cadena más pesada:</a:t>
            </a:r>
            <a:r>
              <a:rPr b="0" sz="1300">
                <a:latin typeface="Segoe UI"/>
              </a:rPr>
              <a:t> Los nodos siempre siguen la cadena con mayor trabajo computacional acumulado.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Bifurcaciones (Forks):</a:t>
            </a:r>
            <a:r>
              <a:rPr b="0" sz="1300">
                <a:latin typeface="Segoe UI"/>
              </a:rPr>
              <a:t> Cambios en las reglas del software de la red.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Soft Fork:</a:t>
            </a:r>
            <a:r>
              <a:rPr b="0" sz="1300">
                <a:latin typeface="Segoe UI"/>
              </a:rPr>
              <a:t> Cambio compatible con versiones anteriores.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Hard Fork:</a:t>
            </a:r>
            <a:r>
              <a:rPr b="0" sz="1300">
                <a:latin typeface="Segoe UI"/>
              </a:rPr>
              <a:t> Cambio que no es compatible; puede dividir la red en dos monedas diferentes (ejemplo: Bitcoin y Bitcoin Cash).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1. DESCRIPCIÓN:</a:t>
            </a:r>
          </a:p>
          <a:p>
            <a:pPr>
              <a:spcAft>
                <a:spcPts val="400"/>
              </a:spcAft>
            </a:pPr>
            <a:r>
              <a:rPr sz="1300">
                <a:latin typeface="Segoe UI"/>
              </a:rPr>
              <a:t>Esta diapositiva analiza la industria real de la minería de Bitcoin y la rentabilidad de crear nuevas criptomonedas (altcoins).</a:t>
            </a:r>
          </a:p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2. PUNTOS CLAVE: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Minería industrial:</a:t>
            </a:r>
            <a:r>
              <a:rPr b="0" sz="1300">
                <a:latin typeface="Segoe UI"/>
              </a:rPr>
              <a:t> Hoy la minería es un negocio de grandes empresas con miles de máquinas, no de computadoras en casa.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Geografía:</a:t>
            </a:r>
            <a:r>
              <a:rPr b="0" sz="1300">
                <a:latin typeface="Segoe UI"/>
              </a:rPr>
              <a:t> Los mineros están en lugares con energía barata, principalmente en Estados Unidos (Texas) y Rusia.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Costo de energía:</a:t>
            </a:r>
            <a:r>
              <a:rPr b="0" sz="1300">
                <a:latin typeface="Segoe UI"/>
              </a:rPr>
              <a:t> Para ser rentable tras el halving de 2024, la electricidad debe costar menos de 4.5 centavos de dólar por kWh.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Altcoins muertas:</a:t>
            </a:r>
            <a:r>
              <a:rPr b="0" sz="1300">
                <a:latin typeface="Segoe UI"/>
              </a:rPr>
              <a:t> Se han creado más de 7,000 criptomonedas, pero más del 80% mueren sin volumen ni valor económico.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1. DESCRIPCIÓN:</a:t>
            </a:r>
          </a:p>
          <a:p>
            <a:pPr>
              <a:spcAft>
                <a:spcPts val="400"/>
              </a:spcAft>
            </a:pPr>
            <a:r>
              <a:rPr sz="1300">
                <a:latin typeface="Segoe UI"/>
              </a:rPr>
              <a:t>Esta diapositiva muestra las herramientas básicas de análisis de mercado: gráficos de precios con velas japonesas y volumen.</a:t>
            </a:r>
          </a:p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2. PUNTOS CLAVE: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Velas japonesas (OHLCV):</a:t>
            </a:r>
            <a:r>
              <a:rPr b="0" sz="1300">
                <a:latin typeface="Segoe UI"/>
              </a:rPr>
              <a:t> Muestran cuatro precios (apertura, máximo, mínimo y cierre) en un periodo de tiempo.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Colores:</a:t>
            </a:r>
            <a:r>
              <a:rPr b="0" sz="1300">
                <a:latin typeface="Segoe UI"/>
              </a:rPr>
              <a:t> Verde indica que el precio subió; rojo indica que el precio bajó.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Importancia del volumen:</a:t>
            </a:r>
            <a:r>
              <a:rPr b="0" sz="1300">
                <a:latin typeface="Segoe UI"/>
              </a:rPr>
              <a:t> Mide la cantidad de dinero negociada y confirma si un movimiento de precio es real y fuerte.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Cuidado con los datos:</a:t>
            </a:r>
            <a:r>
              <a:rPr b="0" sz="1300">
                <a:latin typeface="Segoe UI"/>
              </a:rPr>
              <a:t> En exchanges no regulados, parte del volumen reportado puede ser falso.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1. DESCRIPCIÓN:</a:t>
            </a:r>
          </a:p>
          <a:p>
            <a:pPr>
              <a:spcAft>
                <a:spcPts val="400"/>
              </a:spcAft>
            </a:pPr>
            <a:r>
              <a:rPr sz="1300">
                <a:latin typeface="Segoe UI"/>
              </a:rPr>
              <a:t>Esta diapositiva explica la microestructura del mercado: el libro de órdenes (Order Book) y la profundidad de mercado (DOM).</a:t>
            </a:r>
          </a:p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2. PUNTOS CLAVE: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Bids (Compras):</a:t>
            </a:r>
            <a:r>
              <a:rPr b="0" sz="1300">
                <a:latin typeface="Segoe UI"/>
              </a:rPr>
              <a:t> Órdenes de personas que quieren comprar al precio más bajo posible.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Asks (Ventas):</a:t>
            </a:r>
            <a:r>
              <a:rPr b="0" sz="1300">
                <a:latin typeface="Segoe UI"/>
              </a:rPr>
              <a:t> Órdenes de personas que quieren vender al precio más alto posible.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Profundidad de mercado:</a:t>
            </a:r>
            <a:r>
              <a:rPr b="0" sz="1300">
                <a:latin typeface="Segoe UI"/>
              </a:rPr>
              <a:t> La cantidad de monedas disponibles para comprar o vender en cada precio.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Slippage (Deslizamiento):</a:t>
            </a:r>
            <a:r>
              <a:rPr b="0" sz="1300">
                <a:latin typeface="Segoe UI"/>
              </a:rPr>
              <a:t> Cuando una orden grande se ejecuta consumiendo varios precios porque no hay suficiente liquidez inmediata.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1. DESCRIPCIÓN:</a:t>
            </a:r>
          </a:p>
          <a:p>
            <a:pPr>
              <a:spcAft>
                <a:spcPts val="400"/>
              </a:spcAft>
            </a:pPr>
            <a:r>
              <a:rPr sz="1300">
                <a:latin typeface="Segoe UI"/>
              </a:rPr>
              <a:t>Esta diapositiva explica qué es el spread bid-ask y cómo se mide cuantitativamente la liquidez de un activo.</a:t>
            </a:r>
          </a:p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2. PUNTOS CLAVE: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Spread Bid-Ask:</a:t>
            </a:r>
            <a:r>
              <a:rPr b="0" sz="1300">
                <a:latin typeface="Segoe UI"/>
              </a:rPr>
              <a:t> Es la diferencia de precio entre la mejor oferta de venta y la mejor oferta de compra.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Costo de operar:</a:t>
            </a:r>
            <a:r>
              <a:rPr b="0" sz="1300">
                <a:latin typeface="Segoe UI"/>
              </a:rPr>
              <a:t> Un spread pequeño indica un mercado líquido y barato; un spread amplio indica un mercado ilíquido y caro.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Riesgo del creador:</a:t>
            </a:r>
            <a:r>
              <a:rPr b="0" sz="1300">
                <a:latin typeface="Segoe UI"/>
              </a:rPr>
              <a:t> El spread compensa a quien pone liquidez por el riesgo de quedarse con inventario que baje de precio.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Medición matemática:</a:t>
            </a:r>
            <a:r>
              <a:rPr b="0" sz="1300">
                <a:latin typeface="Segoe UI"/>
              </a:rPr>
              <a:t> Se usan fórmulas estadísticas (como Amihud y Corwin-Schultz) para estimar la liquidez con datos diarios.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1. DESCRIPCIÓN:</a:t>
            </a:r>
          </a:p>
          <a:p>
            <a:pPr>
              <a:spcAft>
                <a:spcPts val="400"/>
              </a:spcAft>
            </a:pPr>
            <a:r>
              <a:rPr sz="1300">
                <a:latin typeface="Segoe UI"/>
              </a:rPr>
              <a:t>Esta diapositiva muestra la distribución del volumen global: la gran dominancia de los derivados sobre el mercado al contado (spot).</a:t>
            </a:r>
          </a:p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2. PUNTOS CLAVE: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Dominio de derivados:</a:t>
            </a:r>
            <a:r>
              <a:rPr b="0" sz="1300">
                <a:latin typeface="Segoe UI"/>
              </a:rPr>
              <a:t> Cerca del 65% a 70% de todo el volumen en cripto ocurre en derivados (futuros y opciones), no en spot.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Mercado al contado pequeño:</a:t>
            </a:r>
            <a:r>
              <a:rPr b="0" sz="1300">
                <a:latin typeface="Segoe UI"/>
              </a:rPr>
              <a:t> La mayoría de los operadores no compra ni transfiere bitcoins reales.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Uso de apalancamiento:</a:t>
            </a:r>
            <a:r>
              <a:rPr b="0" sz="1300">
                <a:latin typeface="Segoe UI"/>
              </a:rPr>
              <a:t> Los derivados permiten operar con dinero prestado usando un margen pequeño (10x, 20x).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Formación de precios:</a:t>
            </a:r>
            <a:r>
              <a:rPr b="0" sz="1300">
                <a:latin typeface="Segoe UI"/>
              </a:rPr>
              <a:t> Los precios se descubren primero en los mercados de futuros y luego mueven al mercado contado.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1. DESCRIPCIÓN:</a:t>
            </a:r>
          </a:p>
          <a:p>
            <a:pPr>
              <a:spcAft>
                <a:spcPts val="400"/>
              </a:spcAft>
            </a:pPr>
            <a:r>
              <a:rPr sz="1300">
                <a:latin typeface="Segoe UI"/>
              </a:rPr>
              <a:t>Esta diapositiva explica los contratos derivados más importantes en cripto: futuros perpetuos, opciones y sus riesgos.</a:t>
            </a:r>
          </a:p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2. PUNTOS CLAVE: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Futuros perpetuos:</a:t>
            </a:r>
            <a:r>
              <a:rPr b="0" sz="1300">
                <a:latin typeface="Segoe UI"/>
              </a:rPr>
              <a:t> Contratos de futuros que no tienen fecha de vencimiento; se pueden mantener abiertos indefinidamente.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Funding Rate (Tasa de financiación):</a:t>
            </a:r>
            <a:r>
              <a:rPr b="0" sz="1300">
                <a:latin typeface="Segoe UI"/>
              </a:rPr>
              <a:t> Un pago cada 8 horas entre compradores y vendedores para que el precio no se desvíe del mercado real.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Opciones:</a:t>
            </a:r>
            <a:r>
              <a:rPr b="0" sz="1300">
                <a:latin typeface="Segoe UI"/>
              </a:rPr>
              <a:t> Contratos para comprar o vender a un precio fijado de antemano.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Liquidaciones forzadas:</a:t>
            </a:r>
            <a:r>
              <a:rPr b="0" sz="1300">
                <a:latin typeface="Segoe UI"/>
              </a:rPr>
              <a:t> Si el precio cae demasiado, el exchange vende la posición de forma automática para cubrir pérdidas.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1. DESCRIPCIÓN:</a:t>
            </a:r>
          </a:p>
          <a:p>
            <a:pPr>
              <a:spcAft>
                <a:spcPts val="400"/>
              </a:spcAft>
            </a:pPr>
            <a:r>
              <a:rPr sz="1300">
                <a:latin typeface="Segoe UI"/>
              </a:rPr>
              <a:t>Esta diapositiva explica las stablecoins (monedas con precio fijo al dólar) y los mecanismos que usan para mantener su valor.</a:t>
            </a:r>
          </a:p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2. PUNTOS CLAVE: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Rol principal:</a:t>
            </a:r>
            <a:r>
              <a:rPr b="0" sz="1300">
                <a:latin typeface="Segoe UI"/>
              </a:rPr>
              <a:t> Son el dólar digital del ecosistema; permiten mover valor rápido sin usar bancos tradicionales.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Respaldadas por fiat:</a:t>
            </a:r>
            <a:r>
              <a:rPr b="0" sz="1300">
                <a:latin typeface="Segoe UI"/>
              </a:rPr>
              <a:t> Guardan dólares o bonos del gobierno en cuentas de reserva (ejemplos: USDT y USDC).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Sobrecolateralizadas:</a:t>
            </a:r>
            <a:r>
              <a:rPr b="0" sz="1300">
                <a:latin typeface="Segoe UI"/>
              </a:rPr>
              <a:t> Respaldadas con excedentes de otras criptomonedas en contratos inteligentes (ejemplo: DAI).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Algorítmicas:</a:t>
            </a:r>
            <a:r>
              <a:rPr b="0" sz="1300">
                <a:latin typeface="Segoe UI"/>
              </a:rPr>
              <a:t> Intentan mantener el precio con matemáticas y sin reservas externas (ejemplo: Terra/UST, que colapsó en 2022).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1. DESCRIPCIÓN:</a:t>
            </a:r>
          </a:p>
          <a:p>
            <a:pPr>
              <a:spcAft>
                <a:spcPts val="400"/>
              </a:spcAft>
            </a:pPr>
            <a:r>
              <a:rPr sz="1300">
                <a:latin typeface="Segoe UI"/>
              </a:rPr>
              <a:t>Esta diapositiva muestra la participación de mercado de las principales stablecoins y quiénes son las entidades que las operan.</a:t>
            </a:r>
          </a:p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2. PUNTOS CLAVE: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Dominio de Tether (USDT):</a:t>
            </a:r>
            <a:r>
              <a:rPr b="0" sz="1300">
                <a:latin typeface="Segoe UI"/>
              </a:rPr>
              <a:t> Concentra cerca del 70% del mercado con más de 118 mil millones de dólares.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Circle (USDC):</a:t>
            </a:r>
            <a:r>
              <a:rPr b="0" sz="1300">
                <a:latin typeface="Segoe UI"/>
              </a:rPr>
              <a:t> Ocupa el segundo lugar con unos 35 mil millones de dólares; está muy regulada en EE.UU. y Europa.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Alta concentración:</a:t>
            </a:r>
            <a:r>
              <a:rPr b="0" sz="1300">
                <a:latin typeface="Segoe UI"/>
              </a:rPr>
              <a:t> El mercado de dólares digitales está en manos de muy pocas empresas privadas.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Rentabilidad:</a:t>
            </a:r>
            <a:r>
              <a:rPr b="0" sz="1300">
                <a:latin typeface="Segoe UI"/>
              </a:rPr>
              <a:t> Las empresas emisoras ganan miles de millones de dólares invirtiendo las reservas en bonos del Tesoro estadounidense.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1. DESCRIPCIÓN:</a:t>
            </a:r>
          </a:p>
          <a:p>
            <a:pPr>
              <a:spcAft>
                <a:spcPts val="400"/>
              </a:spcAft>
            </a:pPr>
            <a:r>
              <a:rPr sz="1300">
                <a:latin typeface="Segoe UI"/>
              </a:rPr>
              <a:t>Esta diapositiva explica qué son las billeteras criptográficas, las claves públicas y privadas, y los tipos de custodia.</a:t>
            </a:r>
          </a:p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2. PUNTOS CLAVE: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No almacenan monedas:</a:t>
            </a:r>
            <a:r>
              <a:rPr b="0" sz="1300">
                <a:latin typeface="Segoe UI"/>
              </a:rPr>
              <a:t> Las monedas viven en la blockchain; la billetera almacena únicamente las claves criptográficas.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Clave privada:</a:t>
            </a:r>
            <a:r>
              <a:rPr b="0" sz="1300">
                <a:latin typeface="Segoe UI"/>
              </a:rPr>
              <a:t> Es la contraseña secreta de 256 bits para autorizar transacciones; si se pierde, no se puede recuperar el dinero.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Dirección pública:</a:t>
            </a:r>
            <a:r>
              <a:rPr b="0" sz="1300">
                <a:latin typeface="Segoe UI"/>
              </a:rPr>
              <a:t> Es el código visible para recibir pagos (equivalente al número de cuenta bancaria).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Custodia centralizada vs propia:</a:t>
            </a:r>
            <a:r>
              <a:rPr b="0" sz="1300">
                <a:latin typeface="Segoe UI"/>
              </a:rPr>
              <a:t> Si tienes tu dinero en un exchange (como Binance), ellos controlan tus claves ('Not your keys, not your coins').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1. DESCRIPCIÓN:</a:t>
            </a:r>
          </a:p>
          <a:p>
            <a:pPr>
              <a:spcAft>
                <a:spcPts val="400"/>
              </a:spcAft>
            </a:pPr>
            <a:r>
              <a:rPr sz="1300">
                <a:latin typeface="Segoe UI"/>
              </a:rPr>
              <a:t>Esta diapositiva compara cómo ocurren las transferencias en la blockchain frente al trading en exchanges centralizados (CEX) y descentralizados (DEX).</a:t>
            </a:r>
          </a:p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2. PUNTOS CLAVE: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Transferencia en blockchain:</a:t>
            </a:r>
            <a:r>
              <a:rPr b="0" sz="1300">
                <a:latin typeface="Segoe UI"/>
              </a:rPr>
              <a:t> Requiere firma digital, paga comisiones de red y toma varios minutos en confirmarse.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Trading en CEX (Binance, Coinbase):</a:t>
            </a:r>
            <a:r>
              <a:rPr b="0" sz="1300">
                <a:latin typeface="Segoe UI"/>
              </a:rPr>
              <a:t> Ocurre en bases de datos internas del exchange en microsegundos; no toca la blockchain.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Trading en DEX (Uniswap):</a:t>
            </a:r>
            <a:r>
              <a:rPr b="0" sz="1300">
                <a:latin typeface="Segoe UI"/>
              </a:rPr>
              <a:t> Ocurre dentro de la blockchain mediante contratos inteligentes y fórmulas matemáticas (x · y = k).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Bots MEV:</a:t>
            </a:r>
            <a:r>
              <a:rPr b="0" sz="1300">
                <a:latin typeface="Segoe UI"/>
              </a:rPr>
              <a:t> Programas automatizados en DEX que se adelantan a transacciones de usuarios para obtener ganancias.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1. DESCRIPCIÓN:</a:t>
            </a:r>
          </a:p>
          <a:p>
            <a:pPr>
              <a:spcAft>
                <a:spcPts val="400"/>
              </a:spcAft>
            </a:pPr>
            <a:r>
              <a:rPr sz="1300">
                <a:latin typeface="Segoe UI"/>
              </a:rPr>
              <a:t>Esta diapositiva analiza las rampas de entrada y salida fiat (bancos) y por qué las stablecoins son el centro del trading.</a:t>
            </a:r>
          </a:p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2. PUNTOS CLAVE: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Punto regulado:</a:t>
            </a:r>
            <a:r>
              <a:rPr b="0" sz="1300">
                <a:latin typeface="Segoe UI"/>
              </a:rPr>
              <a:t> Las entradas y salidas de dinero de los bancos son el único lugar con control de identidad estricto (KYC) y reportes antilavado.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Fricción bancaria:</a:t>
            </a:r>
            <a:r>
              <a:rPr b="0" sz="1300">
                <a:latin typeface="Segoe UI"/>
              </a:rPr>
              <a:t> Los bancos no operan fines de semana y frecuentemente bloquean transferencias hacia plataformas de criptoactivos.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Hub de stablecoins:</a:t>
            </a:r>
            <a:r>
              <a:rPr b="0" sz="1300">
                <a:latin typeface="Segoe UI"/>
              </a:rPr>
              <a:t> Más del 85% de los pares de trading cotizan contra USDT o USDC; permiten mover dinero 24/7 entre exchanges.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1. DESCRIPCIÓN:</a:t>
            </a:r>
          </a:p>
          <a:p>
            <a:pPr>
              <a:spcAft>
                <a:spcPts val="400"/>
              </a:spcAft>
            </a:pPr>
            <a:r>
              <a:rPr sz="1300">
                <a:latin typeface="Segoe UI"/>
              </a:rPr>
              <a:t>Esta diapositiva muestra cómo el lavado de dinero y los delitos financieros migraron de Bitcoin hacia las stablecoins.</a:t>
            </a:r>
          </a:p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2. PUNTOS CLAVE: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Cambio de tendencia:</a:t>
            </a:r>
            <a:r>
              <a:rPr b="0" sz="1300">
                <a:latin typeface="Segoe UI"/>
              </a:rPr>
              <a:t> Antes de 2020 se usaba Bitcoin; hoy más del 60% a 70% del valor ilícito se mueve en stablecoins (USDT).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Sin riesgo de precio:</a:t>
            </a:r>
            <a:r>
              <a:rPr b="0" sz="1300">
                <a:latin typeface="Segoe UI"/>
              </a:rPr>
              <a:t> Los criminales prefieren USDT porque mantiene su valor de $1.00 intacto durante las semanas que toma lavar dinero.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Bajas comisiones en TRON:</a:t>
            </a:r>
            <a:r>
              <a:rPr b="0" sz="1300">
                <a:latin typeface="Segoe UI"/>
              </a:rPr>
              <a:t> Mover fondos en la red TRON cuesta menos de 2 dólares y toma pocos segundos.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Camuflaje:</a:t>
            </a:r>
            <a:r>
              <a:rPr b="0" sz="1300">
                <a:latin typeface="Segoe UI"/>
              </a:rPr>
              <a:t> Es fácil ocultar sumas ilícitas dentro del volumen diario masivo de Tether (más de $50 mil millones diarios).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1. DESCRIPCIÓN:</a:t>
            </a:r>
          </a:p>
          <a:p>
            <a:pPr>
              <a:spcAft>
                <a:spcPts val="400"/>
              </a:spcAft>
            </a:pPr>
            <a:r>
              <a:rPr sz="1300">
                <a:latin typeface="Segoe UI"/>
              </a:rPr>
              <a:t>Esta diapositiva presenta nuestro artículo de investigación académica con Fabiha Jalal sobre los límites de las herramientas forenses en blockchain.</a:t>
            </a:r>
          </a:p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2. PUNTOS CLAVE: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Escala real:</a:t>
            </a:r>
            <a:r>
              <a:rPr b="0" sz="1300">
                <a:latin typeface="Segoe UI"/>
              </a:rPr>
              <a:t> El lavado en cripto es de ~24 mil millones de dólares; el lavado tradicional en bancos es de hasta 2 billones de dólares (ONU).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Promesas de la industria:</a:t>
            </a:r>
            <a:r>
              <a:rPr b="0" sz="1300">
                <a:latin typeface="Segoe UI"/>
              </a:rPr>
              <a:t> Empresas de ciberinteligencia afirman que pueden bloquear el crimen de forma automática con Inteligencia Artificial.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Nuestro objetivo:</a:t>
            </a:r>
            <a:r>
              <a:rPr b="0" sz="1300">
                <a:latin typeface="Segoe UI"/>
              </a:rPr>
              <a:t> Analizamos con millones de datos empíricos si estas herramientas de IA realmente funcionan como prometen.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1. DESCRIPCIÓN:</a:t>
            </a:r>
          </a:p>
          <a:p>
            <a:pPr>
              <a:spcAft>
                <a:spcPts val="400"/>
              </a:spcAft>
            </a:pPr>
            <a:r>
              <a:rPr sz="1300">
                <a:latin typeface="Segoe UI"/>
              </a:rPr>
              <a:t>Esta diapositiva responde a la primera pregunta de nuestro paper (RQ1): si las Redes Neuronales de Grafos (GNN) superan a los modelos simples de árboles.</a:t>
            </a:r>
          </a:p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2. PUNTOS CLAVE: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El mito de la industria:</a:t>
            </a:r>
            <a:r>
              <a:rPr b="0" sz="1300">
                <a:latin typeface="Segoe UI"/>
              </a:rPr>
              <a:t> Se afirmaba que la estructura de red de la blockchain obligaba a usar redes neuronales de grafos.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Muestreo emparejado:</a:t>
            </a:r>
            <a:r>
              <a:rPr b="0" sz="1300">
                <a:latin typeface="Segoe UI"/>
              </a:rPr>
              <a:t> Al comparar carteras normales y carteras ilícitas de tamaño idéntico, la ventaja de los grafos desapareció.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Victoria de modelos simples:</a:t>
            </a:r>
            <a:r>
              <a:rPr b="0" sz="1300">
                <a:latin typeface="Segoe UI"/>
              </a:rPr>
              <a:t> Un modelo clásico de árboles (Random Forest) tuvo mejor precisión que los modelos complejos de grafos.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Conclusión:</a:t>
            </a:r>
            <a:r>
              <a:rPr b="0" sz="1300">
                <a:latin typeface="Segoe UI"/>
              </a:rPr>
              <a:t> Las instituciones pagan precios muy altos por tecnología compleja que no ofrece beneficios operativos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1. DESCRIPCIÓN:</a:t>
            </a:r>
          </a:p>
          <a:p>
            <a:pPr>
              <a:spcAft>
                <a:spcPts val="400"/>
              </a:spcAft>
            </a:pPr>
            <a:r>
              <a:rPr sz="1300">
                <a:latin typeface="Segoe UI"/>
              </a:rPr>
              <a:t>Esta diapositiva responde a la segunda pregunta de nuestro paper (RQ2): si rastrear billeteras ilícitas permite predecir precios o volatilidad del mercado.</a:t>
            </a:r>
          </a:p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2. PUNTOS CLAVE: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La promesa comercial:</a:t>
            </a:r>
            <a:r>
              <a:rPr b="0" sz="1300">
                <a:latin typeface="Segoe UI"/>
              </a:rPr>
              <a:t> Se vendía la idea de que los datos de billeteras sospechosas permitían anticipar caídas de precios.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30 pruebas estadísticas:</a:t>
            </a:r>
            <a:r>
              <a:rPr b="0" sz="1300">
                <a:latin typeface="Segoe UI"/>
              </a:rPr>
              <a:t> Demostraron que los flujos ilícitos on-chain tienen cero capacidad para predecir precios futuros fuera de muestra.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Errores en la industria:</a:t>
            </a:r>
            <a:r>
              <a:rPr b="0" sz="1300">
                <a:latin typeface="Segoe UI"/>
              </a:rPr>
              <a:t> Encontramos estudios que usaban datos del futuro por error en sus simulaciones (look-ahead leak).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Conclusión:</a:t>
            </a:r>
            <a:r>
              <a:rPr b="0" sz="1300">
                <a:latin typeface="Segoe UI"/>
              </a:rPr>
              <a:t> La información de billeteras ilícitas no sirve como señal predictiva para fondos de inversión.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1. DESCRIPCIÓN:</a:t>
            </a:r>
          </a:p>
          <a:p>
            <a:pPr>
              <a:spcAft>
                <a:spcPts val="400"/>
              </a:spcAft>
            </a:pPr>
            <a:r>
              <a:rPr sz="1300">
                <a:latin typeface="Segoe UI"/>
              </a:rPr>
              <a:t>Esta diapositiva responde a la tercera pregunta de nuestro paper (RQ3): la falacia de la tasa base y por qué los bloqueos automáticos son inviables.</a:t>
            </a:r>
          </a:p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2. PUNTOS CLAVE: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Delitos muy poco frecuentes:</a:t>
            </a:r>
            <a:r>
              <a:rPr b="0" sz="1300">
                <a:latin typeface="Segoe UI"/>
              </a:rPr>
              <a:t> En contratos inteligentes solo hay unos 150 hackeos confirmados entre 37.5 millones de despliegues (4 por millón).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La falacia de la tasa base (Bayes):</a:t>
            </a:r>
            <a:r>
              <a:rPr b="0" sz="1300">
                <a:latin typeface="Segoe UI"/>
              </a:rPr>
              <a:t> Cuando un delito es extremadamente raro, la gran mayoría de las alarmas son falsos positivos.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Carga operativa:</a:t>
            </a:r>
            <a:r>
              <a:rPr b="0" sz="1300">
                <a:latin typeface="Segoe UI"/>
              </a:rPr>
              <a:t> Para atrapar al 90% de los atacantes, se generan entre 40,700 y 116,700 alertas falsas de usuarios inocentes por cada acierto.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Conclusión:</a:t>
            </a:r>
            <a:r>
              <a:rPr b="0" sz="1300">
                <a:latin typeface="Segoe UI"/>
              </a:rPr>
              <a:t> La IA no puede usarse como bloqueo automático; solo sirve para ayudar a analistas humanos a priorizar su trabajo (triaje).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1. DESCRIPCIÓN:</a:t>
            </a:r>
          </a:p>
          <a:p>
            <a:pPr>
              <a:spcAft>
                <a:spcPts val="400"/>
              </a:spcAft>
            </a:pPr>
            <a:r>
              <a:rPr sz="1300">
                <a:latin typeface="Segoe UI"/>
              </a:rPr>
              <a:t>Esta diapositiva responde a la cuarta pregunta de nuestro paper (RQ4): cómo detectar volumen falso (wash trading) en exchanges descentralizados (DEX).</a:t>
            </a:r>
          </a:p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2. PUNTOS CLAVE: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El problema en DEX:</a:t>
            </a:r>
            <a:r>
              <a:rPr b="0" sz="1300">
                <a:latin typeface="Segoe UI"/>
              </a:rPr>
              <a:t> Como no hay control de identidad, un operador puede comerciar consigo mismo para inflar el volumen de un token.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4 filtros de comportamiento:</a:t>
            </a:r>
            <a:r>
              <a:rPr b="0" sz="1300">
                <a:latin typeface="Segoe UI"/>
              </a:rPr>
              <a:t> Frecuencia de operaciones, simetría en compras y ventas, concentración en el pool y saldo de inventario neutral.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Métrica Wash-Discount (WD):</a:t>
            </a:r>
            <a:r>
              <a:rPr b="0" sz="1300">
                <a:latin typeface="Segoe UI"/>
              </a:rPr>
              <a:t> Ecuación matemática que calcula cuánto del volumen reportado en un pool es falso.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Utilidad:</a:t>
            </a:r>
            <a:r>
              <a:rPr b="0" sz="1300">
                <a:latin typeface="Segoe UI"/>
              </a:rPr>
              <a:t> Permite a agregadores de precios y reguladores descontar el volumen artificial y ver la liquidez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1. DESCRIPCIÓN:</a:t>
            </a:r>
          </a:p>
          <a:p>
            <a:pPr>
              <a:spcAft>
                <a:spcPts val="400"/>
              </a:spcAft>
            </a:pPr>
            <a:r>
              <a:rPr sz="1300">
                <a:latin typeface="Segoe UI"/>
              </a:rPr>
              <a:t>Esta diapositiva presenta las conclusiones de nuestro estudio para reguladores bancarios y políticas contra el lavado de dinero (AML).</a:t>
            </a:r>
          </a:p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2. PUNTOS CLAVE: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Billeteras desechables:</a:t>
            </a:r>
            <a:r>
              <a:rPr b="0" sz="1300">
                <a:latin typeface="Segoe UI"/>
              </a:rPr>
              <a:t> Los criminales usan billeteras para un solo ataque y las abandonan; solo el 12.9% sigue activa después de 2 años.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Listas negras inútiles:</a:t>
            </a:r>
            <a:r>
              <a:rPr b="0" sz="1300">
                <a:latin typeface="Segoe UI"/>
              </a:rPr>
              <a:t> Obligar a las empresas a vigilar listas viejas de direcciones es ineficiente porque los delincuentes usan cuentas nuevas.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Para reguladores:</a:t>
            </a:r>
            <a:r>
              <a:rPr b="0" sz="1300">
                <a:latin typeface="Segoe UI"/>
              </a:rPr>
              <a:t> Deben abandonar los mandatos de bloqueo automático con IA y exigir reportes realistas de falsos positivos y triaje humano.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Para la industria:</a:t>
            </a:r>
            <a:r>
              <a:rPr b="0" sz="1300">
                <a:latin typeface="Segoe UI"/>
              </a:rPr>
              <a:t> Demostrar el rendimiento real de los modelos frente a soluciones simples antes de vender cajas negras.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1. DESCRIPCIÓN:</a:t>
            </a:r>
          </a:p>
          <a:p>
            <a:pPr>
              <a:spcAft>
                <a:spcPts val="400"/>
              </a:spcAft>
            </a:pPr>
            <a:r>
              <a:rPr sz="1300">
                <a:latin typeface="Segoe UI"/>
              </a:rPr>
              <a:t>Esta diapositiva resume las cuatro conclusiones clave de la clase y abre el espacio de debate con los estudiantes.</a:t>
            </a:r>
          </a:p>
          <a:p>
            <a:pPr>
              <a:spcAft>
                <a:spcPts val="400"/>
              </a:spcAft>
            </a:pPr>
            <a:r>
              <a:rPr b="1" sz="1400">
                <a:latin typeface="Segoe UI"/>
              </a:rPr>
              <a:t>2. PUNTOS CLAVE: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Conclusión 1:</a:t>
            </a:r>
            <a:r>
              <a:rPr b="0" sz="1300">
                <a:latin typeface="Segoe UI"/>
              </a:rPr>
              <a:t> La liquidez real se mide en el libro de órdenes y el spread, no en el volumen de pantalla.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Conclusión 2:</a:t>
            </a:r>
            <a:r>
              <a:rPr b="0" sz="1300">
                <a:latin typeface="Segoe UI"/>
              </a:rPr>
              <a:t> Dos tercios del volumen de mercado se negocian en derivados (futuros perpetuos), no al contado.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Conclusión 3:</a:t>
            </a:r>
            <a:r>
              <a:rPr b="0" sz="1300">
                <a:latin typeface="Segoe UI"/>
              </a:rPr>
              <a:t> Las stablecoins (USDT) son el centro del trading y también el canal principal del dinero ilícito.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Conclusión 4:</a:t>
            </a:r>
            <a:r>
              <a:rPr b="0" sz="1300">
                <a:latin typeface="Segoe UI"/>
              </a:rPr>
              <a:t> Las matemáticas demuestran que la gobernanza forense con IA no puede ser 100% automática debido a la tasa base.</a:t>
            </a:r>
          </a:p>
          <a:p>
            <a:pPr>
              <a:spcAft>
                <a:spcPts val="400"/>
              </a:spcAft>
            </a:pPr>
            <a:r>
              <a:rPr b="1" sz="1300">
                <a:latin typeface="Segoe UI"/>
              </a:rPr>
              <a:t>• Preguntas para debate:</a:t>
            </a:r>
            <a:r>
              <a:rPr b="0" sz="1300">
                <a:latin typeface="Segoe UI"/>
              </a:rPr>
              <a:t> Riesgo sistémico de Tether, falta de predictibilidad de datos on-chain y cómo regular con base matemática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business.uic.edu/profiles/westland-james-christopher/" TargetMode="Externa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658368"/>
            <a:ext cx="9997135" cy="5596128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3175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95360" y="896112"/>
            <a:ext cx="2103120" cy="6400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960120"/>
            <a:ext cx="1920240" cy="54536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463040" y="932688"/>
            <a:ext cx="4114800" cy="347472"/>
          </a:xfrm>
          <a:prstGeom prst="round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CURSO DE FINANZAS Y TECNOLOGÍA (FINTECH)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89888"/>
            <a:ext cx="92354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Estructura del Mercado de Criptomonedas</a:t>
            </a:r>
          </a:p>
          <a:p>
            <a:pPr>
              <a:spcAft>
                <a:spcPts val="800"/>
              </a:spcAft>
              <a:defRPr sz="1650">
                <a:solidFill>
                  <a:srgbClr val="FF5900"/>
                </a:solidFill>
                <a:latin typeface="Segoe UI"/>
              </a:defRPr>
            </a:pPr>
            <a:r>
              <a:t>Microestructura, Derivados, Stablecoins y Límites de la Gobernanza Forense</a:t>
            </a:r>
          </a:p>
          <a:p>
            <a:pPr>
              <a:defRPr sz="1100">
                <a:solidFill>
                  <a:srgbClr val="F5EDE4"/>
                </a:solidFill>
                <a:latin typeface="Segoe UI"/>
              </a:defRPr>
            </a:pPr>
            <a:r>
              <a:t>Un análisis exhaustivo del funcionamiento del mercado de activos digitales: mecanismos de consenso, billeteras, liquidez en libros de órdenes, hegemonía de derivados, desplazamiento de flujos ilícitos a stablecoins, y los hallazgos empíricos del artículo de Jalal &amp; Westland sobre la falacia de la tasa base en la detección de lavado de dinero.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3246120"/>
            <a:ext cx="9357055" cy="2788920"/>
          </a:xfrm>
          <a:prstGeom prst="roundRect">
            <a:avLst>
              <a:gd name="adj" fmla="val 4000"/>
            </a:avLst>
          </a:prstGeom>
          <a:solidFill>
            <a:srgbClr val="2B180D"/>
          </a:solidFill>
          <a:ln w="15240">
            <a:solidFill>
              <a:srgbClr val="633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3364992"/>
            <a:ext cx="5577840" cy="2542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J. Christopher Westland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F5900"/>
                </a:solidFill>
                <a:latin typeface="Segoe UI"/>
              </a:rPr>
              <a:t>Fulbright-García Robles U.S. Scholar (Science and Technology)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5EDE4"/>
                </a:solidFill>
                <a:latin typeface="Segoe UI"/>
              </a:rPr>
              <a:t>hosted by Universidad Anáhuac Mayab | Mérida, México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5EDE4"/>
                </a:solidFill>
                <a:latin typeface="Segoe UI"/>
              </a:rPr>
              <a:t>Professor, Information &amp; Decision Sciences | University of Illinois Chicago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DCD2C8"/>
                </a:solidFill>
                <a:latin typeface="Segoe UI"/>
              </a:rPr>
              <a:t>Editor-in-Chief: Electronic Commerce Research (Springer)</a:t>
            </a:r>
          </a:p>
          <a:p>
            <a:r>
              <a:rPr sz="950">
                <a:solidFill>
                  <a:srgbClr val="C8BEB4"/>
                </a:solidFill>
                <a:latin typeface="Segoe UI"/>
              </a:rPr>
              <a:t>Perfil Académico (Faculty Profile): </a:t>
            </a:r>
            <a:r>
              <a:rPr sz="950" u="sng">
                <a:solidFill>
                  <a:srgbClr val="FF5900"/>
                </a:solidFill>
                <a:latin typeface="Segoe UI"/>
                <a:hlinkClick r:id="rId3"/>
              </a:rPr>
              <a:t>business.uic.edu/profiles/westland-james-christopher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3429000"/>
            <a:ext cx="18288" cy="2423160"/>
          </a:xfrm>
          <a:prstGeom prst="rect">
            <a:avLst/>
          </a:prstGeom>
          <a:solidFill>
            <a:srgbClr val="63381B"/>
          </a:solidFill>
          <a:ln>
            <a:solidFill>
              <a:srgbClr val="633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3364992"/>
            <a:ext cx="3108960" cy="2542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FF5900"/>
                </a:solidFill>
                <a:latin typeface="Segoe UI"/>
              </a:rPr>
              <a:t>INVESTIGACIÓN EMPÍRICA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5EDE4"/>
                </a:solidFill>
                <a:latin typeface="Segoe UI"/>
              </a:rPr>
              <a:t>Basado en la investigación empírica de: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Fabiha Jalal &amp; J. Christopher Westland</a:t>
            </a:r>
          </a:p>
          <a:p>
            <a:pPr>
              <a:spcAft>
                <a:spcPts val="800"/>
              </a:spcAft>
            </a:pPr>
            <a:r>
              <a:rPr sz="900" i="1">
                <a:solidFill>
                  <a:srgbClr val="C3B4A8"/>
                </a:solidFill>
                <a:latin typeface="Segoe UI"/>
              </a:rPr>
              <a:t>"The Limits of Blockchain Forensics: Deconstructing the Mythologies of Automated Governance"</a:t>
            </a:r>
          </a:p>
          <a:p>
            <a:r>
              <a:rPr sz="900" b="1">
                <a:solidFill>
                  <a:srgbClr val="FFFFFF"/>
                </a:solidFill>
                <a:latin typeface="Segoe UI"/>
              </a:rPr>
              <a:t>© J. Christopher Westland. Todos los derechos reservados.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VISIÓN GENERAL DEL MÓDULO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Estructura de la Clase y Hoja de Ruta Temática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02/24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DA4100"/>
                </a:solidFill>
              </a:defRPr>
            </a:pPr>
            <a:r>
              <a:t>1. Fundamentos &amp; Blockchain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La Blockchain: </a:t>
            </a:r>
            <a:r>
              <a:rPr b="0" sz="1050">
                <a:solidFill>
                  <a:srgbClr val="21140E"/>
                </a:solidFill>
                <a:latin typeface="Segoe UI"/>
              </a:rPr>
              <a:t>Libro mayor distribuido (DLT), criptografía y consenso.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Adición de Bloques: </a:t>
            </a:r>
            <a:r>
              <a:rPr b="0" sz="1050">
                <a:solidFill>
                  <a:srgbClr val="21140E"/>
                </a:solidFill>
                <a:latin typeface="Segoe UI"/>
              </a:rPr>
              <a:t>Mempool, árbol de Merkle, minería y validación.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Red P2P y Consenso: </a:t>
            </a:r>
            <a:r>
              <a:rPr b="0" sz="1050">
                <a:solidFill>
                  <a:srgbClr val="21140E"/>
                </a:solidFill>
                <a:latin typeface="Segoe UI"/>
              </a:rPr>
              <a:t>Protocolo de chisme, regla de la cadena más pesada, BIPs y forks.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Economía de la Minería: </a:t>
            </a:r>
            <a:r>
              <a:rPr b="0" sz="1050">
                <a:solidFill>
                  <a:srgbClr val="21140E"/>
                </a:solidFill>
                <a:latin typeface="Segoe UI"/>
              </a:rPr>
              <a:t>Geografía, hashrate, halving y mortalidad de altcoins (~7,000+).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Serie Precio-Volumen: </a:t>
            </a:r>
            <a:r>
              <a:rPr b="0" sz="1050">
                <a:solidFill>
                  <a:srgbClr val="21140E"/>
                </a:solidFill>
                <a:latin typeface="Segoe UI"/>
              </a:rPr>
              <a:t>Lectura de velas japonesas y toma de decisiones.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Billeteras y Rampas Fiat: </a:t>
            </a:r>
            <a:r>
              <a:rPr b="0" sz="1050">
                <a:solidFill>
                  <a:srgbClr val="21140E"/>
                </a:solidFill>
                <a:latin typeface="Segoe UI"/>
              </a:rPr>
              <a:t>Custodia criptográfica, On/Off-ramps y bancos.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55448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73736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FF5900"/>
                </a:solidFill>
              </a:defRPr>
            </a:pPr>
            <a:r>
              <a:t>2. Microestructura &amp; Mercados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El Libro de Órdenes: </a:t>
            </a:r>
            <a:r>
              <a:rPr b="0" sz="1100">
                <a:solidFill>
                  <a:srgbClr val="F5EDE4"/>
                </a:solidFill>
                <a:latin typeface="Segoe UI"/>
              </a:rPr>
              <a:t>Bids, asks, profundidad y emparejamiento CEX/DEX.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Bid-Ask Spread: </a:t>
            </a:r>
            <a:r>
              <a:rPr b="0" sz="1100">
                <a:solidFill>
                  <a:srgbClr val="F5EDE4"/>
                </a:solidFill>
                <a:latin typeface="Segoe UI"/>
              </a:rPr>
              <a:t>Medición de liquidez y coste de transacción.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Hegemonía de Derivados: </a:t>
            </a:r>
            <a:r>
              <a:rPr b="0" sz="1100">
                <a:solidFill>
                  <a:srgbClr val="F5EDE4"/>
                </a:solidFill>
                <a:latin typeface="Segoe UI"/>
              </a:rPr>
              <a:t>2/3 del volumen en futuros perpetuos y opciones.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Ecosistema Stablecoins: </a:t>
            </a:r>
            <a:r>
              <a:rPr b="0" sz="1100">
                <a:solidFill>
                  <a:srgbClr val="F5EDE4"/>
                </a:solidFill>
                <a:latin typeface="Segoe UI"/>
              </a:rPr>
              <a:t>USDT, USDC, emisores, reservas y dominancia.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El Hub de Trading: </a:t>
            </a:r>
            <a:r>
              <a:rPr b="0" sz="1100">
                <a:solidFill>
                  <a:srgbClr val="F5EDE4"/>
                </a:solidFill>
                <a:latin typeface="Segoe UI"/>
              </a:rPr>
              <a:t>Por qué se comercia en stablecoins y no en fiat.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55448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633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73736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3D2314"/>
                </a:solidFill>
              </a:defRPr>
            </a:pPr>
            <a:r>
              <a:t>3. Forense &amp; Paper Empírico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D2314"/>
                </a:solidFill>
                <a:latin typeface="Segoe UI"/>
              </a:rPr>
              <a:t>• Migración del Lavado: </a:t>
            </a:r>
            <a:r>
              <a:rPr b="0" sz="1100">
                <a:solidFill>
                  <a:srgbClr val="21140E"/>
                </a:solidFill>
                <a:latin typeface="Segoe UI"/>
              </a:rPr>
              <a:t>De Bitcoin volátil a stablecoins de alta liquidez.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D2314"/>
                </a:solidFill>
                <a:latin typeface="Segoe UI"/>
              </a:rPr>
              <a:t>• RQ1 (Árboles vs GNNs): </a:t>
            </a:r>
            <a:r>
              <a:rPr b="0" sz="1100">
                <a:solidFill>
                  <a:srgbClr val="21140E"/>
                </a:solidFill>
                <a:latin typeface="Segoe UI"/>
              </a:rPr>
              <a:t>Modelos tabulares baten a grafos neuronales.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D2314"/>
                </a:solidFill>
                <a:latin typeface="Segoe UI"/>
              </a:rPr>
              <a:t>• RQ2 (The Price Null): </a:t>
            </a:r>
            <a:r>
              <a:rPr b="0" sz="1100">
                <a:solidFill>
                  <a:srgbClr val="21140E"/>
                </a:solidFill>
                <a:latin typeface="Segoe UI"/>
              </a:rPr>
              <a:t>Flujos ilícitos no predicen precios ni volatilidad.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D2314"/>
                </a:solidFill>
                <a:latin typeface="Segoe UI"/>
              </a:rPr>
              <a:t>• RQ3 (Tasa Base en AML): </a:t>
            </a:r>
            <a:r>
              <a:rPr b="0" sz="1100">
                <a:solidFill>
                  <a:srgbClr val="21140E"/>
                </a:solidFill>
                <a:latin typeface="Segoe UI"/>
              </a:rPr>
              <a:t>40k-116k falsos positivos por captura: triaje vs alarmas.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D2314"/>
                </a:solidFill>
                <a:latin typeface="Segoe UI"/>
              </a:rPr>
              <a:t>• RQ4 (Wash Trading DEX): </a:t>
            </a:r>
            <a:r>
              <a:rPr b="0" sz="1100">
                <a:solidFill>
                  <a:srgbClr val="21140E"/>
                </a:solidFill>
                <a:latin typeface="Segoe UI"/>
              </a:rPr>
              <a:t>Detección conductual y métrica Wash-Discount.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FUNDAMENTOS DE CRIPTOACTIVOS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¿Qué es la Blockchain? Arquitectura de Libro Mayor Distribuido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03/24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9496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DA4100"/>
                </a:solidFill>
              </a:defRPr>
            </a:pPr>
            <a:r>
              <a:t>Definición y Principios Operativos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DA4100"/>
                </a:solidFill>
                <a:latin typeface="Segoe UI"/>
              </a:rPr>
              <a:t>• Libro Mayor Distribuido (DLT): </a:t>
            </a:r>
            <a:r>
              <a:rPr b="0" sz="1150">
                <a:solidFill>
                  <a:srgbClr val="21140E"/>
                </a:solidFill>
                <a:latin typeface="Segoe UI"/>
              </a:rPr>
              <a:t>Base de datos replicada y sincronizada simultáneamente entre todos los participantes de una red entre pares (P2P), sin un servidor central.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DA4100"/>
                </a:solidFill>
                <a:latin typeface="Segoe UI"/>
              </a:rPr>
              <a:t>• Inmutabilidad Criptográfica: </a:t>
            </a:r>
            <a:r>
              <a:rPr b="0" sz="1150">
                <a:solidFill>
                  <a:srgbClr val="21140E"/>
                </a:solidFill>
                <a:latin typeface="Segoe UI"/>
              </a:rPr>
              <a:t>Cada bloque contiene el hash del bloque anterior. Modificar un registro histórico exigiría recalcular todo el trabajo computacional de la red.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DA4100"/>
                </a:solidFill>
                <a:latin typeface="Segoe UI"/>
              </a:rPr>
              <a:t>• Descentralización &amp; 'Trustless': </a:t>
            </a:r>
            <a:r>
              <a:rPr b="0" sz="1150">
                <a:solidFill>
                  <a:srgbClr val="21140E"/>
                </a:solidFill>
                <a:latin typeface="Segoe UI"/>
              </a:rPr>
              <a:t>No se requiere confianza en una entidad bancaria ni en un custodio. La verdad del estado financiero se resuelve mediante consenso algorítmico.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DA4100"/>
                </a:solidFill>
                <a:latin typeface="Segoe UI"/>
              </a:rPr>
              <a:t>• Transparencia Pseudónima: </a:t>
            </a:r>
            <a:r>
              <a:rPr b="0" sz="1150">
                <a:solidFill>
                  <a:srgbClr val="21140E"/>
                </a:solidFill>
                <a:latin typeface="Segoe UI"/>
              </a:rPr>
              <a:t>Todas las transacciones y saldos son legibles en el registro público, vinculados a direcciones criptográficas públicas.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02920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5900"/>
                </a:solidFill>
              </a:defRPr>
            </a:pPr>
            <a:r>
              <a:t>Pilares Tecnológicos Esenciales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1. Criptografía Asimétrica: </a:t>
            </a:r>
            <a:r>
              <a:rPr b="0" sz="1100">
                <a:solidFill>
                  <a:srgbClr val="F5EDE4"/>
                </a:solidFill>
                <a:latin typeface="Segoe UI"/>
              </a:rPr>
              <a:t>Pares de clave pública (identidad) y clave privada (autorización y firma de transacciones con ECDSA).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2. Funciones Hash Unidireccionales: </a:t>
            </a:r>
            <a:r>
              <a:rPr b="0" sz="1100">
                <a:solidFill>
                  <a:srgbClr val="F5EDE4"/>
                </a:solidFill>
                <a:latin typeface="Segoe UI"/>
              </a:rPr>
              <a:t>Algoritmos deterministas (SHA-256 en BTC, Keccak-256 en ETH) que comprimen datos en una cadena de longitud fija e irreversible.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3. Mecanismo de Consenso: </a:t>
            </a:r>
            <a:r>
              <a:rPr b="0" sz="1100">
                <a:solidFill>
                  <a:srgbClr val="F5EDE4"/>
                </a:solidFill>
                <a:latin typeface="Segoe UI"/>
              </a:rPr>
              <a:t>Reglas de acuerdo distribuido para acordar el estado único del libro (Proof of Work en Bitcoin, Proof of Stake en Ethereum).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4. Protocolo P2P y Nodos: </a:t>
            </a:r>
            <a:r>
              <a:rPr b="0" sz="1100">
                <a:solidFill>
                  <a:srgbClr val="F5EDE4"/>
                </a:solidFill>
                <a:latin typeface="Segoe UI"/>
              </a:rPr>
              <a:t>Red distribuida de nodos completos que verifican de forma independiente cada transacción según las reglas del protocolo.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MECÁNICA DEL PROTOCOLO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¿Cómo se Añade un Bloque a la Blockchain? Ciclo de Vida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04/24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328416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91640"/>
            <a:ext cx="29992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A4100"/>
                </a:solidFill>
              </a:defRPr>
            </a:pPr>
            <a:r>
              <a:t>1. Emisión y Firma</a:t>
            </a:r>
          </a:p>
          <a:p>
            <a:pPr>
              <a:defRPr sz="1050">
                <a:solidFill>
                  <a:srgbClr val="21140E"/>
                </a:solidFill>
              </a:defRPr>
            </a:pPr>
            <a:r>
              <a:t>El usuario crea la transacción y la firma criptográficamente con su clave privada, difundiéndola a la 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554480"/>
            <a:ext cx="3328416" cy="20574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1905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691640"/>
            <a:ext cx="29992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F5900"/>
                </a:solidFill>
              </a:defRPr>
            </a:pPr>
            <a:r>
              <a:t>2. Entrada al Mempool</a:t>
            </a:r>
          </a:p>
          <a:p>
            <a:pPr>
              <a:defRPr sz="1050">
                <a:solidFill>
                  <a:srgbClr val="F5EDE4"/>
                </a:solidFill>
              </a:defRPr>
            </a:pPr>
            <a:r>
              <a:t>Las transacciones no confirmadas esperan en la 'piscina de memoria' (mempool), priorizadas por su tarifa de gas.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554480"/>
            <a:ext cx="3328416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691640"/>
            <a:ext cx="29992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A4100"/>
                </a:solidFill>
              </a:defRPr>
            </a:pPr>
            <a:r>
              <a:t>3. Empaquetado en Bloque</a:t>
            </a:r>
          </a:p>
          <a:p>
            <a:pPr>
              <a:defRPr sz="1050">
                <a:solidFill>
                  <a:srgbClr val="21140E"/>
                </a:solidFill>
              </a:defRPr>
            </a:pPr>
            <a:r>
              <a:t>Los mineros/validadores seleccionan transacciones y calculan el Árbol de Merkle (Merkle Root) en la cabecera.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3328416" cy="20574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1905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69080"/>
            <a:ext cx="29992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F5900"/>
                </a:solidFill>
              </a:defRPr>
            </a:pPr>
            <a:r>
              <a:t>4. Proceso de Consenso</a:t>
            </a:r>
          </a:p>
          <a:p>
            <a:pPr>
              <a:defRPr sz="1050">
                <a:solidFill>
                  <a:srgbClr val="F5EDE4"/>
                </a:solidFill>
              </a:defRPr>
            </a:pPr>
            <a:r>
              <a:t>PoW resuelve el puzzle criptográfico (Nonce); PoS selecciona un validador ponderado por su depósito de garantía.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3931920"/>
            <a:ext cx="3328416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4069080"/>
            <a:ext cx="29992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A4100"/>
                </a:solidFill>
              </a:defRPr>
            </a:pPr>
            <a:r>
              <a:t>5. Enlace Criptográfico</a:t>
            </a:r>
          </a:p>
          <a:p>
            <a:pPr>
              <a:defRPr sz="1050">
                <a:solidFill>
                  <a:srgbClr val="21140E"/>
                </a:solidFill>
              </a:defRPr>
            </a:pPr>
            <a:r>
              <a:t>Se incluye el Hash del Bloque Anterior (H_{t-1}), vinculando formalmente el nuevo bloque con el historial.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3931920"/>
            <a:ext cx="3328416" cy="20574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1905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4069080"/>
            <a:ext cx="29992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F5900"/>
                </a:solidFill>
              </a:defRPr>
            </a:pPr>
            <a:r>
              <a:t>6. Difusión y Confirmación</a:t>
            </a:r>
          </a:p>
          <a:p>
            <a:pPr>
              <a:defRPr sz="1050">
                <a:solidFill>
                  <a:srgbClr val="F5EDE4"/>
                </a:solidFill>
              </a:defRPr>
            </a:pPr>
            <a:r>
              <a:t>El bloque se transmite a la red. Cada nodo valida las firmas y añade el bloque a su copia local del ledger.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TOPOLOGÍA DE RED Y CONSENSO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La Red P2P, Chisme de Nodos y Cómo los Mineros Actualizan el Ledger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05/24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A4100"/>
                </a:solidFill>
              </a:defRPr>
            </a:pPr>
            <a:r>
              <a:t>Dinámica de la Red P2P y Reglas de Acuerdo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Protocolo Gossip (Chisme): </a:t>
            </a:r>
            <a:r>
              <a:rPr b="0" sz="1100">
                <a:solidFill>
                  <a:srgbClr val="21140E"/>
                </a:solidFill>
                <a:latin typeface="Segoe UI"/>
              </a:rPr>
              <a:t>Los nodos descubren direcciones IP de pares y retransmiten transacciones y bloques de forma epidémica. Cada nodo envía datos válidos a ~8-12 pares, logrando propagación global en segundos sin enrutadores centrales.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Consenso Nakamoto y Regla de la Cadena Más Larga: </a:t>
            </a:r>
            <a:r>
              <a:rPr b="0" sz="1100">
                <a:solidFill>
                  <a:srgbClr val="21140E"/>
                </a:solidFill>
                <a:latin typeface="Segoe UI"/>
              </a:rPr>
              <a:t>Los mineros llegan a acuerdos matemáticamente: los nodos siempre aceptan y construyen sobre la cadena con la **mayor dificultad acumulada de Prueba de Trabajo** ('cadena más pesada').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Resolución Autónoma de Bifurcaciones (Forks): </a:t>
            </a:r>
            <a:r>
              <a:rPr b="0" sz="1100">
                <a:solidFill>
                  <a:srgbClr val="21140E"/>
                </a:solidFill>
                <a:latin typeface="Segoe UI"/>
              </a:rPr>
              <a:t>Si dos mineros hallan un bloque simultáneamente a la misma altura, los nodos siguen ambas ramas. El empate se rompe en cuanto se mina el siguiente bloque en una rama, dejando huérfano el bloque rezagado.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Nodos Completos vs. Mineros (Soberanía): </a:t>
            </a:r>
            <a:r>
              <a:rPr b="0" sz="1100">
                <a:solidFill>
                  <a:srgbClr val="21140E"/>
                </a:solidFill>
                <a:latin typeface="Segoe UI"/>
              </a:rPr>
              <a:t>Los mineros proponen bloques candidatos, pero los **nodos completos no mineros validan e imponen las reglas**. Si un pool minero con el 60% del hashrate emite un bloque inválido (p. ej. gastando monedas ajenas), cada nodo lo rechaza automáticamente.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5900"/>
                </a:solidFill>
              </a:defRPr>
            </a:pPr>
            <a:r>
              <a:t>Cómo Acuerda la Red las Actualizaciones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1. Propuestas de Mejora (BIPs y EIPs): </a:t>
            </a:r>
            <a:r>
              <a:rPr b="0" sz="1050">
                <a:solidFill>
                  <a:srgbClr val="F5EDE4"/>
                </a:solidFill>
                <a:latin typeface="Segoe UI"/>
              </a:rPr>
              <a:t>Especificaciones técnicas abiertas y formalizadas (p. ej., BIP-141 SegWit, BIP-340 Taproot, EIP-1559 burn) debatidas mediante revisión por pares y consenso general de la comunidad de desarrolladores.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2. Señalización por Bloques Minados (BIP-9): </a:t>
            </a:r>
            <a:r>
              <a:rPr b="0" sz="1050">
                <a:solidFill>
                  <a:srgbClr val="F5EDE4"/>
                </a:solidFill>
                <a:latin typeface="Segoe UI"/>
              </a:rPr>
              <a:t>Los mineros votan su preparación técnica activando bits de versión en las cabeceras de los bloques minados. Alcanzar el umbral exigido (p. ej. 90% en 2,016 bloques) bloquea su activación definitiva.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3. Soft Forks (Retrocompatibles): </a:t>
            </a:r>
            <a:r>
              <a:rPr b="0" sz="1050">
                <a:solidFill>
                  <a:srgbClr val="F5EDE4"/>
                </a:solidFill>
                <a:latin typeface="Segoe UI"/>
              </a:rPr>
              <a:t>Hacen más estrictas las reglas del protocolo. Los nodos antiguos siguen considerando válidos los nuevos bloques (p. ej., SegWit). No fractura la red.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4. Hard Forks (Incompatibles hacia Atrás): </a:t>
            </a:r>
            <a:r>
              <a:rPr b="0" sz="1050">
                <a:solidFill>
                  <a:srgbClr val="F5EDE4"/>
                </a:solidFill>
                <a:latin typeface="Segoe UI"/>
              </a:rPr>
              <a:t>Relajan o alteran reglas; exige que el 100% de los nodos actualice su cliente. Si no hay consenso total, la blockchain se divide permanentemente en dos redes rivales (p. ej., Bitcoin vs Bitcoin Cash en 2017; Ethereum vs Ethereum Classic en 2016).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REALIDAD INDUSTRIAL Y VIABILIDAD DE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Quiénes y Dónde Están los Mineros: Viabilidad y Rentabilidad de Altcoins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06/24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85216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_mining_economics_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5669280" cy="257694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0" y="1554480"/>
            <a:ext cx="457200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73736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900"/>
                </a:solidFill>
              </a:defRPr>
            </a:pPr>
            <a:r>
              <a:t>La Realidad Industrial y Económica</a:t>
            </a:r>
          </a:p>
          <a:p>
            <a:pPr>
              <a:spcAft>
                <a:spcPts val="650"/>
              </a:spcAft>
            </a:pPr>
            <a:r>
              <a:rPr b="1" sz="1000">
                <a:solidFill>
                  <a:srgbClr val="FF5900"/>
                </a:solidFill>
                <a:latin typeface="Segoe UI"/>
              </a:rPr>
              <a:t>• Quiénes son los Mineros: </a:t>
            </a:r>
            <a:r>
              <a:rPr b="0" sz="1000">
                <a:solidFill>
                  <a:srgbClr val="F5EDE4"/>
                </a:solidFill>
                <a:latin typeface="Segoe UI"/>
              </a:rPr>
              <a:t>Evolucionaron de entusiastas caseros a conglomerados multimillonarios que cotizan en NASDAQ (Marathon, Riot, CleanSpark) y megapiscinas (*pools* como Foundry USA y AntPool) que agrupan miles de ASIC industriales.</a:t>
            </a:r>
          </a:p>
          <a:p>
            <a:pPr>
              <a:spcAft>
                <a:spcPts val="650"/>
              </a:spcAft>
            </a:pPr>
            <a:r>
              <a:rPr b="1" sz="1000">
                <a:solidFill>
                  <a:srgbClr val="FF5900"/>
                </a:solidFill>
                <a:latin typeface="Segoe UI"/>
              </a:rPr>
              <a:t>• Dónde Están Ubicados: </a:t>
            </a:r>
            <a:r>
              <a:rPr b="0" sz="1000">
                <a:solidFill>
                  <a:srgbClr val="F5EDE4"/>
                </a:solidFill>
                <a:latin typeface="Segoe UI"/>
              </a:rPr>
              <a:t>Concentrados en regiones con energía barata y excedente: **Estados Unidos (~38%**, liderado por la red ERCOT y gas venteado de Texas), China (~21% hidroeléctrica no declarada), Rusia (~14% en Siberia) y Canadá.</a:t>
            </a:r>
          </a:p>
          <a:p>
            <a:pPr>
              <a:spcAft>
                <a:spcPts val="650"/>
              </a:spcAft>
            </a:pPr>
            <a:r>
              <a:rPr b="1" sz="1000">
                <a:solidFill>
                  <a:srgbClr val="FF5900"/>
                </a:solidFill>
                <a:latin typeface="Segoe UI"/>
              </a:rPr>
              <a:t>• ¿Sigue Siendo una Actividad Viable?: </a:t>
            </a:r>
            <a:r>
              <a:rPr b="0" sz="1000">
                <a:solidFill>
                  <a:srgbClr val="F5EDE4"/>
                </a:solidFill>
                <a:latin typeface="Segoe UI"/>
              </a:rPr>
              <a:t>Compresión brutal de márgenes. El Halving de abril de 2024 redujo la recompensa de bloque de 6.25 a 3.125 BTC. Con hashrate global &gt;700 EH/s, la supervivencia exige **electricidad &lt; $0.045 USD/kWh** y ASICs de última generación (&lt;17.5 J/TH). Operadores ineficientes van a la quiebra.</a:t>
            </a:r>
          </a:p>
          <a:p>
            <a:pPr>
              <a:spcAft>
                <a:spcPts val="650"/>
              </a:spcAft>
            </a:pPr>
            <a:r>
              <a:rPr b="1" sz="1000">
                <a:solidFill>
                  <a:srgbClr val="FF5900"/>
                </a:solidFill>
                <a:latin typeface="Segoe UI"/>
              </a:rPr>
              <a:t>• ¿Es Rentable Crear Criptomonedas? (~7,000+): </a:t>
            </a:r>
            <a:r>
              <a:rPr b="0" sz="1000">
                <a:solidFill>
                  <a:srgbClr val="F5EDE4"/>
                </a:solidFill>
                <a:latin typeface="Segoe UI"/>
              </a:rPr>
              <a:t>Se han creado más de 7,000 a decenas de miles de tokens. **Más del 70-80% mueren con cero volumen o liquidez** ('dead coins', estafas *rug pull*). Solo el top 50 retiene valor económico duradero.</a:t>
            </a:r>
          </a:p>
          <a:p>
            <a:pPr>
              <a:spcAft>
                <a:spcPts val="650"/>
              </a:spcAft>
            </a:pPr>
            <a:r>
              <a:rPr b="1" sz="1000">
                <a:solidFill>
                  <a:srgbClr val="FF5900"/>
                </a:solidFill>
                <a:latin typeface="Segoe UI"/>
              </a:rPr>
              <a:t>• ¿Quién Gana con Nuevas Criptomonedas?: </a:t>
            </a:r>
            <a:r>
              <a:rPr b="0" sz="1000">
                <a:solidFill>
                  <a:srgbClr val="F5EDE4"/>
                </a:solidFill>
                <a:latin typeface="Segoe UI"/>
              </a:rPr>
              <a:t>Exclusivamente los *insiders* iniciales, fundadores con asignaciones previas (*pre-mines*) y creadores que venden en la euforia minorista inicial. Para el 99% restante, crear un token genera cero beneficio neto frente a los efectos de red consolidados (Ley de Metcalfe).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ANÁLISIS TÉCNICO Y TOMA DE DECISIONES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Series de Precio y Volumen: El Núcleo de la Decisión del Inversor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07/24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475488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A4100"/>
                </a:solidFill>
              </a:defRPr>
            </a:pPr>
            <a:r>
              <a:t>Lectura del Comportamiento del Mercado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Velas Japonesas (OHLCV): </a:t>
            </a:r>
            <a:r>
              <a:rPr b="0" sz="1100">
                <a:solidFill>
                  <a:srgbClr val="21140E"/>
                </a:solidFill>
                <a:latin typeface="Segoe UI"/>
              </a:rPr>
              <a:t>Sintetizan la batalla intradiaria entre compradores y vendedores mediante cuatro precios: Apertura, Máximo, Mínimo y Cierre.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Validación por Volumen: </a:t>
            </a:r>
            <a:r>
              <a:rPr b="0" sz="1100">
                <a:solidFill>
                  <a:srgbClr val="21140E"/>
                </a:solidFill>
                <a:latin typeface="Segoe UI"/>
              </a:rPr>
              <a:t>'El precio es lo que pagas, el volumen es la fuerza que lo respalda'. Las subidas con volumen creciente confirman interés institucional genuino.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Detección de Divergencias: </a:t>
            </a:r>
            <a:r>
              <a:rPr b="0" sz="1100">
                <a:solidFill>
                  <a:srgbClr val="21140E"/>
                </a:solidFill>
                <a:latin typeface="Segoe UI"/>
              </a:rPr>
              <a:t>Un nuevo máximo de precio acompañado de volumen decreciente es una alerta crítica de agotamiento de compras y potencial reversión bajista.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Rupturas (Breakouts): </a:t>
            </a:r>
            <a:r>
              <a:rPr b="0" sz="1100">
                <a:solidFill>
                  <a:srgbClr val="21140E"/>
                </a:solidFill>
                <a:latin typeface="Segoe UI"/>
              </a:rPr>
              <a:t>La superación de resistencias sin volumen suele ser una trampa (*fakeout*); con alto volumen indica cambio estructural de tendencia.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Limitaciones Esenciales: </a:t>
            </a:r>
            <a:r>
              <a:rPr b="0" sz="1100">
                <a:solidFill>
                  <a:srgbClr val="21140E"/>
                </a:solidFill>
                <a:latin typeface="Segoe UI"/>
              </a:rPr>
              <a:t>El volumen reportado en exchanges puede incluir wash trading y no registra operaciones institucionales extrabursátiles (OTC).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554480"/>
            <a:ext cx="566928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art_price_volume_candlesti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691640"/>
            <a:ext cx="548640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MICROESTRUCTURA DEL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El Libro de Órdenes (Order Book) y Profundidad de Mercado (DOM)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08/24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66928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_order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5486400" cy="27432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675120" y="1554480"/>
            <a:ext cx="475488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73736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5900"/>
                </a:solidFill>
              </a:defRPr>
            </a:pPr>
            <a:r>
              <a:t>Dinámica del Libro de Órdenes (CLOB)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Lado de Compra (Bids): </a:t>
            </a:r>
            <a:r>
              <a:rPr b="0" sz="1100">
                <a:solidFill>
                  <a:srgbClr val="F5EDE4"/>
                </a:solidFill>
                <a:latin typeface="Segoe UI"/>
              </a:rPr>
              <a:t>Órdenes límite de compradores ordenadas de mayor a menor precio. La más alta es el 'Best Bid'.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Lado de Venta (Asks / Offers): </a:t>
            </a:r>
            <a:r>
              <a:rPr b="0" sz="1100">
                <a:solidFill>
                  <a:srgbClr val="F5EDE4"/>
                </a:solidFill>
                <a:latin typeface="Segoe UI"/>
              </a:rPr>
              <a:t>Órdenes límite de vendedores ordenadas de menor a mayor precio. La más baja es el 'Best Ask'.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Profundidad de Mercado (DOM): </a:t>
            </a:r>
            <a:r>
              <a:rPr b="0" sz="1100">
                <a:solidFill>
                  <a:srgbClr val="F5EDE4"/>
                </a:solidFill>
                <a:latin typeface="Segoe UI"/>
              </a:rPr>
              <a:t>Volumen acumulado disponible en múltiples niveles de precio. Una mayor profundidad absorbe grandes órdenes sin mover bruscamente la cotización.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Makers vs. Takers: </a:t>
            </a:r>
            <a:r>
              <a:rPr b="0" sz="1100">
                <a:solidFill>
                  <a:srgbClr val="F5EDE4"/>
                </a:solidFill>
                <a:latin typeface="Segoe UI"/>
              </a:rPr>
              <a:t>Los *Market Makers* aportan liquidez colocando órdenes límite (reciben rebate); los *Takers* consumen liquidez con órdenes a mercado.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Deslizamiento (Slippage): </a:t>
            </a:r>
            <a:r>
              <a:rPr b="0" sz="1100">
                <a:solidFill>
                  <a:srgbClr val="F5EDE4"/>
                </a:solidFill>
                <a:latin typeface="Segoe UI"/>
              </a:rPr>
              <a:t>Ocurre cuando una orden a mercado supera la liquidez del mejor precio disponible y debe consumir niveles sucesivos del libro.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MICROESTRUCTURA DEL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El Spread Bid-Ask y la Medición Cuantitativa de la Liquidez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09/24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A4100"/>
                </a:solidFill>
              </a:defRPr>
            </a:pPr>
            <a:r>
              <a:t>Anatomía del Spread Bid-Ask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DA4100"/>
                </a:solidFill>
                <a:latin typeface="Segoe UI"/>
              </a:rPr>
              <a:t>• Spread Absoluto: </a:t>
            </a:r>
            <a:r>
              <a:rPr b="0" sz="1150">
                <a:solidFill>
                  <a:srgbClr val="21140E"/>
                </a:solidFill>
                <a:latin typeface="Segoe UI"/>
              </a:rPr>
              <a:t>Diferencia entre el precio de venta más bajo y el precio de compra más alto:
Spread = P_{ask} - P_{bid}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DA4100"/>
                </a:solidFill>
                <a:latin typeface="Segoe UI"/>
              </a:rPr>
              <a:t>• Spread Relativo (%): </a:t>
            </a:r>
            <a:r>
              <a:rPr b="0" sz="1150">
                <a:solidFill>
                  <a:srgbClr val="21140E"/>
                </a:solidFill>
                <a:latin typeface="Segoe UI"/>
              </a:rPr>
              <a:t>Normalizado por el precio medio (Mid-Price):
Spread % = [(P_{ask} - P_{bid}) / P_{mid}] × 100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DA4100"/>
                </a:solidFill>
                <a:latin typeface="Segoe UI"/>
              </a:rPr>
              <a:t>• Coste Inmediato de Fricción: </a:t>
            </a:r>
            <a:r>
              <a:rPr b="0" sz="1150">
                <a:solidFill>
                  <a:srgbClr val="21140E"/>
                </a:solidFill>
                <a:latin typeface="Segoe UI"/>
              </a:rPr>
              <a:t>Es el peaje instantáneo que paga cualquier operador que ejecuta una orden de mercado ('crossing the spread').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DA4100"/>
                </a:solidFill>
                <a:latin typeface="Segoe UI"/>
              </a:rPr>
              <a:t>• Compensación del Creador: </a:t>
            </a:r>
            <a:r>
              <a:rPr b="0" sz="1150">
                <a:solidFill>
                  <a:srgbClr val="21140E"/>
                </a:solidFill>
                <a:latin typeface="Segoe UI"/>
              </a:rPr>
              <a:t>Retribuye al Market Maker por tres riesgos fundamentales: riesgo de inventario, riesgo de selección adversa y costes de ejecución.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5900"/>
                </a:solidFill>
              </a:defRPr>
            </a:pPr>
            <a:r>
              <a:t>Métricas Financieras de Iliquidez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Ratio de Iliquidez de Amihud (2002): </a:t>
            </a:r>
            <a:r>
              <a:rPr b="0" sz="1100">
                <a:solidFill>
                  <a:srgbClr val="F5EDE4"/>
                </a:solidFill>
                <a:latin typeface="Segoe UI"/>
              </a:rPr>
              <a:t>Mide el impacto de precio por cada unidad monetaria negociada:
ILLIQ_t = |r_t| / Volumen_t
(Un ratio alto indica un mercado frágil y poco líquido).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Estimador de Corwin-Schultz (2012): </a:t>
            </a:r>
            <a:r>
              <a:rPr b="0" sz="1100">
                <a:solidFill>
                  <a:srgbClr val="F5EDE4"/>
                </a:solidFill>
                <a:latin typeface="Segoe UI"/>
              </a:rPr>
              <a:t>Calcula el spread efectivo bid-ask a partir de los precios máximos y mínimos diarios (utilizado en el paper de Jalal &amp; Westland).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Desequilibrio del Flujo de Órdenes (OFI): </a:t>
            </a:r>
            <a:r>
              <a:rPr b="0" sz="1100">
                <a:solidFill>
                  <a:srgbClr val="F5EDE4"/>
                </a:solidFill>
                <a:latin typeface="Segoe UI"/>
              </a:rPr>
              <a:t>Diferencia entre el volumen que presiona en el lado del bid y del ask; predice precios a horizontes de segundos.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ESTRUCTURA GLOBAL DE NEGOCIACIÓN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La Hegemonía de los Derivados: ~2/3 del Volumen Total en Cripto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10/24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85216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_derivatives_vs_sp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5669280" cy="257694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0" y="1554480"/>
            <a:ext cx="457200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73736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5900"/>
                </a:solidFill>
              </a:defRPr>
            </a:pPr>
            <a:r>
              <a:t>¿Por qué Dominan los Derivados?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1. Eficiencia de Capital y Margen: </a:t>
            </a:r>
            <a:r>
              <a:rPr b="0" sz="1100">
                <a:solidFill>
                  <a:srgbClr val="F5EDE4"/>
                </a:solidFill>
                <a:latin typeface="Segoe UI"/>
              </a:rPr>
              <a:t>Los operadores no necesitan inmovilizar el 100% del valor del activo; acceden a posiciones apalancadas (5x, 20x, 50x) con margen fraccionario.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2. Posiciones en Corto (Shorting): </a:t>
            </a:r>
            <a:r>
              <a:rPr b="0" sz="1100">
                <a:solidFill>
                  <a:srgbClr val="F5EDE4"/>
                </a:solidFill>
                <a:latin typeface="Segoe UI"/>
              </a:rPr>
              <a:t>Permite cubrir carteras existentes o especular con caídas de mercado de forma sintética, sin requerir pedir prestado el token físico.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3. Ausencia de Fricciones On-Chain: </a:t>
            </a:r>
            <a:r>
              <a:rPr b="0" sz="1100">
                <a:solidFill>
                  <a:srgbClr val="F5EDE4"/>
                </a:solidFill>
                <a:latin typeface="Segoe UI"/>
              </a:rPr>
              <a:t>Operar derivados en CEX no requiere pagar tarifas de gas ni esperar confirmaciones de bloque en cada transacción.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4. Formación Central de Precios: </a:t>
            </a:r>
            <a:r>
              <a:rPr b="0" sz="1100">
                <a:solidFill>
                  <a:srgbClr val="F5EDE4"/>
                </a:solidFill>
                <a:latin typeface="Segoe UI"/>
              </a:rPr>
              <a:t>El descubrimiento de precios ocurre predominantemente en los mercados de futuros perpetuos, transmitiéndose luego al mercado spot.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INSTRUMENTOS FINANCIEROS AVANZADOS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Anatomía de los Criptoderivados: Futuros Perpetuos, Opciones y Riesgos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09/24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A4100"/>
                </a:solidFill>
              </a:defRPr>
            </a:pPr>
            <a:r>
              <a:t>Futuros Perpetuos (Perps)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Sin Vencimiento: </a:t>
            </a:r>
            <a:r>
              <a:rPr b="0" sz="1050">
                <a:solidFill>
                  <a:srgbClr val="21140E"/>
                </a:solidFill>
                <a:latin typeface="Segoe UI"/>
              </a:rPr>
              <a:t>Contratos creados por BitMEX que pueden mantenerse indefinidamente.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Tasa de Financiación (Funding Rate): </a:t>
            </a:r>
            <a:r>
              <a:rPr b="0" sz="1050">
                <a:solidFill>
                  <a:srgbClr val="21140E"/>
                </a:solidFill>
                <a:latin typeface="Segoe UI"/>
              </a:rPr>
              <a:t>Mecanismo que fuerza la convergencia al spot cada 8h. Si Perp &gt; Spot, los largos pagan a los cortos; viceversa.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Márgenes USDT vs Coin-M: </a:t>
            </a:r>
            <a:r>
              <a:rPr b="0" sz="1050">
                <a:solidFill>
                  <a:srgbClr val="21140E"/>
                </a:solidFill>
                <a:latin typeface="Segoe UI"/>
              </a:rPr>
              <a:t>Margen colateralizado en stablecoins (USDT) o en la propia criptomoneda.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55448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73736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5900"/>
                </a:solidFill>
              </a:defRPr>
            </a:pPr>
            <a:r>
              <a:t>Futuros Fechados &amp; Opciones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Futuros Fechados (Dated): </a:t>
            </a:r>
            <a:r>
              <a:rPr b="0" sz="1050">
                <a:solidFill>
                  <a:srgbClr val="F5EDE4"/>
                </a:solidFill>
                <a:latin typeface="Segoe UI"/>
              </a:rPr>
              <a:t>Liquidación mensual/trimestral (CME, Binance). Presentan 'Basis' (Contango o Backwardation).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Opciones Vanilla (Deribit): </a:t>
            </a:r>
            <a:r>
              <a:rPr b="0" sz="1050">
                <a:solidFill>
                  <a:srgbClr val="F5EDE4"/>
                </a:solidFill>
                <a:latin typeface="Segoe UI"/>
              </a:rPr>
              <a:t>Contratos Call/Put europeos para coberturas asimétricas y volatilidad.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Superficie de Volatilidad (IV): </a:t>
            </a:r>
            <a:r>
              <a:rPr b="0" sz="1050">
                <a:solidFill>
                  <a:srgbClr val="F5EDE4"/>
                </a:solidFill>
                <a:latin typeface="Segoe UI"/>
              </a:rPr>
              <a:t>El índice DVOL mide las expectativas del mercado a 30 días.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55448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633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73736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D2314"/>
                </a:solidFill>
              </a:defRPr>
            </a:pPr>
            <a:r>
              <a:t>Liquidaciones en Cascada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3D2314"/>
                </a:solidFill>
                <a:latin typeface="Segoe UI"/>
              </a:rPr>
              <a:t>• Margen de Mantenimiento: </a:t>
            </a:r>
            <a:r>
              <a:rPr b="0" sz="1050">
                <a:solidFill>
                  <a:srgbClr val="21140E"/>
                </a:solidFill>
                <a:latin typeface="Segoe UI"/>
              </a:rPr>
              <a:t>Si el balance cae por debajo de este umbral, el motor liquida la posición a mercado.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3D2314"/>
                </a:solidFill>
                <a:latin typeface="Segoe UI"/>
              </a:rPr>
              <a:t>• Desapalancamiento Automático: </a:t>
            </a:r>
            <a:r>
              <a:rPr b="0" sz="1050">
                <a:solidFill>
                  <a:srgbClr val="21140E"/>
                </a:solidFill>
                <a:latin typeface="Segoe UI"/>
              </a:rPr>
              <a:t>Ventas forzadas masivas empujan el precio abajo, provocando liquidaciones sucesivas ('long squeeze').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3D2314"/>
                </a:solidFill>
                <a:latin typeface="Segoe UI"/>
              </a:rPr>
              <a:t>• Fondos de Seguro (Insurance Funds): </a:t>
            </a:r>
            <a:r>
              <a:rPr b="0" sz="1050">
                <a:solidFill>
                  <a:srgbClr val="21140E"/>
                </a:solidFill>
                <a:latin typeface="Segoe UI"/>
              </a:rPr>
              <a:t>Colchón de capital del exchange para absorber quiebras antes de socializar pérdidas.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LA ESPINA DORSAL DE LA LIQUIDEZ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Stablecoins: Tipos, Mecanismos de Anclaje y Rol Sistémico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10/24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A4100"/>
                </a:solidFill>
              </a:defRPr>
            </a:pPr>
            <a:r>
              <a:t>1. Respaldadas por Fiat (Off-Chain)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Mecanismo 1:1: </a:t>
            </a:r>
            <a:r>
              <a:rPr b="0" sz="1050">
                <a:solidFill>
                  <a:srgbClr val="21140E"/>
                </a:solidFill>
                <a:latin typeface="Segoe UI"/>
              </a:rPr>
              <a:t>Por cada token emitido, el emisor mantiene $1 USD en activos líquidos (efectivo y letras del Tesoro de EE.UU.).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Ejemplos Clave: </a:t>
            </a:r>
            <a:r>
              <a:rPr b="0" sz="1050">
                <a:solidFill>
                  <a:srgbClr val="21140E"/>
                </a:solidFill>
                <a:latin typeface="Segoe UI"/>
              </a:rPr>
              <a:t>Tether (USDT), USD Coin (Circle USDC), FDUSD, PayPal USD (PYUSD).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Riesgo Principal: </a:t>
            </a:r>
            <a:r>
              <a:rPr b="0" sz="1050">
                <a:solidFill>
                  <a:srgbClr val="21140E"/>
                </a:solidFill>
                <a:latin typeface="Segoe UI"/>
              </a:rPr>
              <a:t>Riesgo de contraparte, congelamiento regulatorio y opacidad en auditorías.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55448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73736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5900"/>
                </a:solidFill>
              </a:defRPr>
            </a:pPr>
            <a:r>
              <a:t>2. Sobrecolateralizadas (On-Chain)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Colateral Excedente: </a:t>
            </a:r>
            <a:r>
              <a:rPr b="0" sz="1050">
                <a:solidFill>
                  <a:srgbClr val="F5EDE4"/>
                </a:solidFill>
                <a:latin typeface="Segoe UI"/>
              </a:rPr>
              <a:t>Se emiten bloqueando criptoactivos (ETH, WBTC) en smart contracts con ratios del 130%-150%.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Ejemplos Clave: </a:t>
            </a:r>
            <a:r>
              <a:rPr b="0" sz="1050">
                <a:solidFill>
                  <a:srgbClr val="F5EDE4"/>
                </a:solidFill>
                <a:latin typeface="Segoe UI"/>
              </a:rPr>
              <a:t>USDS / DAI (MakerDAO / Sky), LUSD (Liquity).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Estabilidad: </a:t>
            </a:r>
            <a:r>
              <a:rPr b="0" sz="1050">
                <a:solidFill>
                  <a:srgbClr val="F5EDE4"/>
                </a:solidFill>
                <a:latin typeface="Segoe UI"/>
              </a:rPr>
              <a:t>Gobernanza descentralizada mediante tokens (MKR/SKY) y liquidaciones automáticas on-chain.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55448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633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73736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D2314"/>
                </a:solidFill>
              </a:defRPr>
            </a:pPr>
            <a:r>
              <a:t>3. Sintéticas &amp; Algorítmicas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3D2314"/>
                </a:solidFill>
                <a:latin typeface="Segoe UI"/>
              </a:rPr>
              <a:t>• Delta-Neutral (Ethena USDe): </a:t>
            </a:r>
            <a:r>
              <a:rPr b="0" sz="1050">
                <a:solidFill>
                  <a:srgbClr val="21140E"/>
                </a:solidFill>
                <a:latin typeface="Segoe UI"/>
              </a:rPr>
              <a:t>Respalda el dólar sintético combinando ETH al contado con una posición corta en perpetuos para capturar la tasa de financiación.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3D2314"/>
                </a:solidFill>
                <a:latin typeface="Segoe UI"/>
              </a:rPr>
              <a:t>• El Colapso de UST / Terra: </a:t>
            </a:r>
            <a:r>
              <a:rPr b="0" sz="1050">
                <a:solidFill>
                  <a:srgbClr val="21140E"/>
                </a:solidFill>
                <a:latin typeface="Segoe UI"/>
              </a:rPr>
              <a:t>Lección histórica: modelos algorítmicos sin respaldo externo sufren 'espirales de la muerte'.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3D2314"/>
                </a:solidFill>
                <a:latin typeface="Segoe UI"/>
              </a:rPr>
              <a:t>• Relevancia Sistémica: </a:t>
            </a:r>
            <a:r>
              <a:rPr b="0" sz="1050">
                <a:solidFill>
                  <a:srgbClr val="21140E"/>
                </a:solidFill>
                <a:latin typeface="Segoe UI"/>
              </a:rPr>
              <a:t>Las stablecoins son el 'dólar de internet', actuando como unidad de cuenta y puente cambiario primario.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DISTRIBUCIÓN DE MERCADO Y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Histograma de las Principales Stablecoins y Quién las Opera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13/24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603504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_stablecoins_hist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5852160" cy="321868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949440" y="1554480"/>
            <a:ext cx="448056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900"/>
                </a:solidFill>
              </a:defRPr>
            </a:pPr>
            <a:r>
              <a:t>¿Quién Posee y Administra las Stablecoins?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F5900"/>
                </a:solidFill>
                <a:latin typeface="Segoe UI"/>
              </a:rPr>
              <a:t>• Tether (USDT - ~$118.5B): </a:t>
            </a:r>
            <a:r>
              <a:rPr b="0" sz="1000">
                <a:solidFill>
                  <a:srgbClr val="F5EDE4"/>
                </a:solidFill>
                <a:latin typeface="Segoe UI"/>
              </a:rPr>
              <a:t>Operada por Tether Holdings Ltd. (subsidiaria de iFinex Inc., matriz del exchange Bitfinex). Liderada por Paolo Ardoino (CEO) y Giancarlo Devasini (CFO). Respaldada por &gt;$80B en letras del Tesoro de EE.UU.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F5900"/>
                </a:solidFill>
                <a:latin typeface="Segoe UI"/>
              </a:rPr>
              <a:t>• USD Coin (USDC - ~$35.2B): </a:t>
            </a:r>
            <a:r>
              <a:rPr b="0" sz="1000">
                <a:solidFill>
                  <a:srgbClr val="F5EDE4"/>
                </a:solidFill>
                <a:latin typeface="Segoe UI"/>
              </a:rPr>
              <a:t>Emitida por Circle Internet Financial (CEO: Jeremy Allaire). Entidad regulada en EE.UU. y Europa (MiCA), con reservas en BNY Mellon auditadas por Deloitte.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F5900"/>
                </a:solidFill>
                <a:latin typeface="Segoe UI"/>
              </a:rPr>
              <a:t>• USDS / DAI (~$5.4B): </a:t>
            </a:r>
            <a:r>
              <a:rPr b="0" sz="1000">
                <a:solidFill>
                  <a:srgbClr val="F5EDE4"/>
                </a:solidFill>
                <a:latin typeface="Segoe UI"/>
              </a:rPr>
              <a:t>Protocolo Sky (antes MakerDAO, fundado por Rune Christensen). Gobernado de forma descentralizada por tenedores de tokens MKR/SKY.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F5900"/>
                </a:solidFill>
                <a:latin typeface="Segoe UI"/>
              </a:rPr>
              <a:t>• First Digital USD (FDUSD - ~$2.8B): </a:t>
            </a:r>
            <a:r>
              <a:rPr b="0" sz="1000">
                <a:solidFill>
                  <a:srgbClr val="F5EDE4"/>
                </a:solidFill>
                <a:latin typeface="Segoe UI"/>
              </a:rPr>
              <a:t>Emitida por FD121 Limited (Hong Kong Trust, filial de First Digital Labs). Adoptada fuertemente por Binance tras el cierre de BUSD.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IDENTIDAD Y CRIPTOGRAFÍA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¿Qué son las Billeteras Criptográficas? Claves, Custodia y Direcciones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12/24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A4100"/>
                </a:solidFill>
              </a:defRPr>
            </a:pPr>
            <a:r>
              <a:t>La Tríada Criptográfica de la Billetera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La Billetera no contiene monedas: </a:t>
            </a:r>
            <a:r>
              <a:rPr b="0" sz="1100">
                <a:solidFill>
                  <a:srgbClr val="21140E"/>
                </a:solidFill>
                <a:latin typeface="Segoe UI"/>
              </a:rPr>
              <a:t>Las monedas residen en la blockchain pública; la wallet almacena únicamente las llaves criptográficas para autorizar movimientos.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1. Clave Privada (Private Key): </a:t>
            </a:r>
            <a:r>
              <a:rPr b="0" sz="1100">
                <a:solidFill>
                  <a:srgbClr val="21140E"/>
                </a:solidFill>
                <a:latin typeface="Segoe UI"/>
              </a:rPr>
              <a:t>Número aleatorio de 256 bits mantenido en secreto absoluto. Es la firma que autoriza el gasto de los fondos.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2. Clave Pública (Public Key): </a:t>
            </a:r>
            <a:r>
              <a:rPr b="0" sz="1100">
                <a:solidFill>
                  <a:srgbClr val="21140E"/>
                </a:solidFill>
                <a:latin typeface="Segoe UI"/>
              </a:rPr>
              <a:t>Derivada de la clave privada mediante Criptografía de Curva Elíptica (secp256k1). Imposible de revertir a la privada.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3. Dirección Pública (Address): </a:t>
            </a:r>
            <a:r>
              <a:rPr b="0" sz="1100">
                <a:solidFill>
                  <a:srgbClr val="21140E"/>
                </a:solidFill>
                <a:latin typeface="Segoe UI"/>
              </a:rPr>
              <a:t>Hash de la clave pública (SHA-256 + RIPEMD-160 en BTC, Keccak-256 en ETH: '0x...'). Es el identificador público visible.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Semilla de Recuperación (BIP-39): </a:t>
            </a:r>
            <a:r>
              <a:rPr b="0" sz="1100">
                <a:solidFill>
                  <a:srgbClr val="21140E"/>
                </a:solidFill>
                <a:latin typeface="Segoe UI"/>
              </a:rPr>
              <a:t>Secuencia de 12 o 24 palabras que permite regenerar todas las claves de forma determinista (HD Wallets).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5900"/>
                </a:solidFill>
              </a:defRPr>
            </a:pPr>
            <a:r>
              <a:t>Modelos de Custodia y Seguridad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Hot Wallets (Billeteras Calientes): </a:t>
            </a:r>
            <a:r>
              <a:rPr b="0" sz="1100">
                <a:solidFill>
                  <a:srgbClr val="F5EDE4"/>
                </a:solidFill>
                <a:latin typeface="Segoe UI"/>
              </a:rPr>
              <a:t>Conectadas a la red (MetaMask, Phantom, Trust Wallet). Rápidas y convenientes para operar a diario, pero vulnerables a malware y phishing.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Cold Wallets (Billeteras Frías): </a:t>
            </a:r>
            <a:r>
              <a:rPr b="0" sz="1100">
                <a:solidFill>
                  <a:srgbClr val="F5EDE4"/>
                </a:solidFill>
                <a:latin typeface="Segoe UI"/>
              </a:rPr>
              <a:t>Dispositivos aislados de internet (Hardware Wallets: Ledger, Trezor). La clave privada nunca toca una máquina conectada.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Custodia Centralizada vs No-Custodial: </a:t>
            </a:r>
            <a:r>
              <a:rPr b="0" sz="1100">
                <a:solidFill>
                  <a:srgbClr val="F5EDE4"/>
                </a:solidFill>
                <a:latin typeface="Segoe UI"/>
              </a:rPr>
              <a:t>'Not your keys, not your coins'. En exchanges (Binance, Coinbase), el usuario cede la custodia técnica a una cuenta omnibus corporativa.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MECÁNICA DE EJECUCIÓN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¿Cómo Ocurren los Trades y Transferencias entre Billeteras?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15/24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A4100"/>
                </a:solidFill>
              </a:defRPr>
            </a:pPr>
            <a:r>
              <a:t>Transferencia On-Chain entre Billeteras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1. Construcción del Payload: </a:t>
            </a:r>
            <a:r>
              <a:rPr b="0" sz="1100">
                <a:solidFill>
                  <a:srgbClr val="21140E"/>
                </a:solidFill>
                <a:latin typeface="Segoe UI"/>
              </a:rPr>
              <a:t>La billetera A especifica destino (Billetera B), monto y tarifa de gas dispuesta a pagar.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2. Firma Criptográfica: </a:t>
            </a:r>
            <a:r>
              <a:rPr b="0" sz="1100">
                <a:solidFill>
                  <a:srgbClr val="21140E"/>
                </a:solidFill>
                <a:latin typeface="Segoe UI"/>
              </a:rPr>
              <a:t>Se firma el hash de la transacción con la clave privada de A mediante ECDSA, demostrando propiedad sin revelar la clave.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3. Transmisión al Mempool: </a:t>
            </a:r>
            <a:r>
              <a:rPr b="0" sz="1100">
                <a:solidFill>
                  <a:srgbClr val="21140E"/>
                </a:solidFill>
                <a:latin typeface="Segoe UI"/>
              </a:rPr>
              <a:t>La transacción firmada se difunde a nodos P2P y entra al mempool para validación sintáctica de saldo y nonce.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4. Inclusión en Bloque: </a:t>
            </a:r>
            <a:r>
              <a:rPr b="0" sz="1100">
                <a:solidFill>
                  <a:srgbClr val="21140E"/>
                </a:solidFill>
                <a:latin typeface="Segoe UI"/>
              </a:rPr>
              <a:t>Un validador la incluye en un bloque minado; tras la confirmación, el saldo de B se actualiza en el ledger global.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5900"/>
                </a:solidFill>
              </a:defRPr>
            </a:pPr>
            <a:r>
              <a:t>¿Cómo Ocurren los Trades? CEX vs. DEX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Negociación CEX (Off-Chain): </a:t>
            </a:r>
            <a:r>
              <a:rPr b="0" sz="1100">
                <a:solidFill>
                  <a:srgbClr val="F5EDE4"/>
                </a:solidFill>
                <a:latin typeface="Segoe UI"/>
              </a:rPr>
              <a:t>En Binance o Coinbase, los trades NO van a la blockchain. Ocurren en bases de datos internas con motores de emparejamiento en microsegundos sin comisiones de red.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Negociación DEX (On-Chain / AMM): </a:t>
            </a:r>
            <a:r>
              <a:rPr b="0" sz="1100">
                <a:solidFill>
                  <a:srgbClr val="F5EDE4"/>
                </a:solidFill>
                <a:latin typeface="Segoe UI"/>
              </a:rPr>
              <a:t>En Uniswap o Raydium, se negocia contra un Pool de Liquidez gestionado por una fórmula matemática (x · y = k). Cada trade es una transacción on-chain.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Riesgo MEV (Miner Extractable Value): </a:t>
            </a:r>
            <a:r>
              <a:rPr b="0" sz="1100">
                <a:solidFill>
                  <a:srgbClr val="F5EDE4"/>
                </a:solidFill>
                <a:latin typeface="Segoe UI"/>
              </a:rPr>
              <a:t>En DEX, bots de arbitraje detectan órdenes en el mempool y hacen 'sandwich attacks' alterando el orden de confirmación.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PUENTE TRADFI Y CRIPTO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Entrada y Salida Fiat (On/Off-Ramp) y el Hub de Stablecoins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16/24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10728655" cy="164592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5900"/>
                </a:solidFill>
              </a:defRPr>
            </a:pPr>
            <a:r>
              <a:t>EL FLUJO ESTRUCTURAL DE FONDOS: EL 'HUB' DE LAS STABLECOINS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t>[BANCO FIAT (USD / EUR)]  ─── On-Ramp (ACH/SEPA/Wire con KYC) ───►  [EXCHANGE REGULADO (CEX)]</a:t>
            </a:r>
            <a:br/>
            <a:r>
              <a:t>                     ▼</a:t>
            </a:r>
            <a:br/>
            <a:r>
              <a:t>        [CONVERSIÓN INMEDIATA A STABLECOINS (USDT / USDC)]  ◄─── EL NÚCLEO LÍQUIDO DEL MERCADO</a:t>
            </a:r>
            <a:br/>
            <a:r>
              <a:t>                     ▼</a:t>
            </a:r>
            <a:br/>
            <a:r>
              <a:t>[UNIVERSO DE TRADING (BTC, ETH, Altcoins, Futuros Perpetuos, Opciones, DeFi Yield)]</a:t>
            </a:r>
            <a:br/>
            <a:r>
              <a:t>                     ▼</a:t>
            </a:r>
            <a:br/>
            <a:r>
              <a:t>        [CONVERSIÓN DE RETORNO A STABLECOINS]  ─── Off-Ramp ───►  [RETIRO A CUENTA BANCARIA]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52120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DA4100"/>
                </a:solidFill>
              </a:defRPr>
            </a:pPr>
            <a:r>
              <a:t>Pasarelas de Entrada y Salida (On/Off-Ramps)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El Cuello de Botella Regulado: </a:t>
            </a:r>
            <a:r>
              <a:rPr b="0" sz="1050">
                <a:solidFill>
                  <a:srgbClr val="21140E"/>
                </a:solidFill>
                <a:latin typeface="Segoe UI"/>
              </a:rPr>
              <a:t>Los puntos donde el dinero fiduciario entra y sale son los únicos sujetos a estricta supervisión bancaria, KYC e informes SAR.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Fricción Bancaria Tradicional: </a:t>
            </a:r>
            <a:r>
              <a:rPr b="0" sz="1050">
                <a:solidFill>
                  <a:srgbClr val="21140E"/>
                </a:solidFill>
                <a:latin typeface="Segoe UI"/>
              </a:rPr>
              <a:t>Los bancos no operan 24/7 y frecuentemente bloquean transferencias a plataformas cripto debido a políticas de riesgo.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3383280"/>
            <a:ext cx="52120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633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352044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3D2314"/>
                </a:solidFill>
              </a:defRPr>
            </a:pPr>
            <a:r>
              <a:t>¿Por qué se comercia en Stablecoins y NO en Fiat?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D2314"/>
                </a:solidFill>
                <a:latin typeface="Segoe UI"/>
              </a:rPr>
              <a:t>• Par de Cotización Universal: </a:t>
            </a:r>
            <a:r>
              <a:rPr b="0" sz="1050">
                <a:solidFill>
                  <a:srgbClr val="21140E"/>
                </a:solidFill>
                <a:latin typeface="Segoe UI"/>
              </a:rPr>
              <a:t>&gt;85% de los pares de trading activos en CEX cotizan contra USDT o USDC (ej. BTC/USDT), no contra USD o EUR.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D2314"/>
                </a:solidFill>
                <a:latin typeface="Segoe UI"/>
              </a:rPr>
              <a:t>• Disponibilidad 24/7/365: </a:t>
            </a:r>
            <a:r>
              <a:rPr b="0" sz="1050">
                <a:solidFill>
                  <a:srgbClr val="21140E"/>
                </a:solidFill>
                <a:latin typeface="Segoe UI"/>
              </a:rPr>
              <a:t>Permiten mover liquidez y arbitrar precios entre exchanges en distintos husos horarios sin depender de cámaras de compensación bancarias.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D2314"/>
                </a:solidFill>
                <a:latin typeface="Segoe UI"/>
              </a:rPr>
              <a:t>• Moneda Base Global: </a:t>
            </a:r>
            <a:r>
              <a:rPr b="0" sz="1050">
                <a:solidFill>
                  <a:srgbClr val="21140E"/>
                </a:solidFill>
                <a:latin typeface="Segoe UI"/>
              </a:rPr>
              <a:t>Permite a inversores de todo el mundo acceder a liquidez en dólares digitales eludiendo controles de cambio locales.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DINÁMICA DEL CRIMEN FINANCIERO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La Migración del Lavado de Dinero: De Criptomonedas a Stablecoins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17/24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A4100"/>
                </a:solidFill>
              </a:defRPr>
            </a:pPr>
            <a:r>
              <a:t>El Cambio Estructural de los Flujos Ilícitos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Pérdida de Dominancia de Bitcoin: </a:t>
            </a:r>
            <a:r>
              <a:rPr b="0" sz="1100">
                <a:solidFill>
                  <a:srgbClr val="21140E"/>
                </a:solidFill>
                <a:latin typeface="Segoe UI"/>
              </a:rPr>
              <a:t>Hasta 2019-2020, Bitcoin concentraba la mayoría del volumen ilícito. En 2023-2026, más del 60-70% del valor ilícito se ha trasladado a **Stablecoins (especialmente USDT en TRON - TRC20)**.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Adopción por Sindicatos Criminales: </a:t>
            </a:r>
            <a:r>
              <a:rPr b="0" sz="1100">
                <a:solidFill>
                  <a:srgbClr val="21140E"/>
                </a:solidFill>
                <a:latin typeface="Segoe UI"/>
              </a:rPr>
              <a:t>Informes de UNODC y TRM Labs confirman que el lavado a gran escala opera preferentemente en stablecoins por certidumbre de valor.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Infraestructuras Especializadas: </a:t>
            </a:r>
            <a:r>
              <a:rPr b="0" sz="1100">
                <a:solidFill>
                  <a:srgbClr val="21140E"/>
                </a:solidFill>
                <a:latin typeface="Segoe UI"/>
              </a:rPr>
              <a:t>Aparición de 'Garantor Markets' y mesas de dinero OTC no reguladas que liquidan miles de millones ilícitos exclusivamente en USDT.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5900"/>
                </a:solidFill>
              </a:defRPr>
            </a:pPr>
            <a:r>
              <a:t>4 Razones Clave de la Preferencia Ilícita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1. Eliminación del Riesgo de Precio: </a:t>
            </a:r>
            <a:r>
              <a:rPr b="0" sz="1100">
                <a:solidFill>
                  <a:srgbClr val="F5EDE4"/>
                </a:solidFill>
                <a:latin typeface="Segoe UI"/>
              </a:rPr>
              <a:t>El lavado requiere tiempo y capas (*layering*). Con BTC o ETH, una caída del 15% destruye el margen criminal. Una stablecoin conserva su valor de $1.00 intacto.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2. Hiperliquidez y Camuflaje: </a:t>
            </a:r>
            <a:r>
              <a:rPr b="0" sz="1100">
                <a:solidFill>
                  <a:srgbClr val="F5EDE4"/>
                </a:solidFill>
                <a:latin typeface="Segoe UI"/>
              </a:rPr>
              <a:t>USDT mueve más de $50B diarios. Las sumas ilícitas se diluyen en el volumen masivo sin distorsionar spreads ni levantar sospechas inmediatas.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3. Tarifas Mínimas y Rapidez: </a:t>
            </a:r>
            <a:r>
              <a:rPr b="0" sz="1100">
                <a:solidFill>
                  <a:srgbClr val="F5EDE4"/>
                </a:solidFill>
                <a:latin typeface="Segoe UI"/>
              </a:rPr>
              <a:t>En redes como TRON, transferir $1,000,000 cuesta menos de $2 USD y tarda escasos segundos.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4. Paridad Directa con el Dólar Físico: </a:t>
            </a:r>
            <a:r>
              <a:rPr b="0" sz="1100">
                <a:solidFill>
                  <a:srgbClr val="F5EDE4"/>
                </a:solidFill>
                <a:latin typeface="Segoe UI"/>
              </a:rPr>
              <a:t>Facilidad de canje en redes informales de remesas (Hawala digital) y mercados negros sin pasar por el sistema bancario de EE.UU.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INVESTIGACIÓN EMPÍRICA CENTRAL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Paper: The Limits of Blockchain Forensics (Jalal &amp; Westland)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18/24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10728655" cy="18288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5900"/>
                </a:solidFill>
              </a:defRPr>
            </a:pPr>
            <a:r>
              <a:t>Deconstruyendo las Mitologías de la Gobernanza Algorítmica en Blockchain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Contexto Realista: </a:t>
            </a:r>
            <a:r>
              <a:rPr b="0" sz="1100">
                <a:solidFill>
                  <a:srgbClr val="F5EDE4"/>
                </a:solidFill>
                <a:latin typeface="Segoe UI"/>
              </a:rPr>
              <a:t>El lavado global mueve entre $800B y $2 Trillones (UNODC). El problema en cripto es de ~$24.2B (&lt;1% del volumen total). A pesar de esto, reguladores y la industria de inteligencia blockchain ($B) exigen un nivel de vigilancia automatizada que no existe en el sistema bancario tradicional.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La 'Trampa de la Complejidad': </a:t>
            </a:r>
            <a:r>
              <a:rPr b="0" sz="1100">
                <a:solidFill>
                  <a:srgbClr val="F5EDE4"/>
                </a:solidFill>
                <a:latin typeface="Segoe UI"/>
              </a:rPr>
              <a:t>Empresas forenses comercializan modelos de IA de alta complejidad (Graph Neural Networks) prometiendo 'kill-switches' automáticos. Este artículo somete a prueba empírica rigurosa las tres grandes mitologías del sector.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251460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A4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703320"/>
            <a:ext cx="22951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A4100"/>
                </a:solidFill>
              </a:defRPr>
            </a:pPr>
            <a:r>
              <a:t>RQ1: Estructura vs Conducta</a:t>
            </a:r>
          </a:p>
          <a:p>
            <a:pPr>
              <a:defRPr sz="1000">
                <a:solidFill>
                  <a:srgbClr val="21140E"/>
                </a:solidFill>
              </a:defRPr>
            </a:pPr>
            <a:r>
              <a:t>¿Las GNNs de grafos superan a simples modelos de árboles conductuales al detectar ilícitos?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5576" y="3566160"/>
            <a:ext cx="251460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3D2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5304" y="3703320"/>
            <a:ext cx="22951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D2314"/>
                </a:solidFill>
              </a:defRPr>
            </a:pPr>
            <a:r>
              <a:t>RQ2: Predicción de Mercado</a:t>
            </a:r>
          </a:p>
          <a:p>
            <a:pPr>
              <a:defRPr sz="1000">
                <a:solidFill>
                  <a:srgbClr val="21140E"/>
                </a:solidFill>
              </a:defRPr>
            </a:pPr>
            <a:r>
              <a:t>¿Los flujos ilícitos on-chain predicen precios, volatilidad o liquidez ('alpha'), o es un espejismo?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3566160"/>
            <a:ext cx="251460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A4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703320"/>
            <a:ext cx="22951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A4100"/>
                </a:solidFill>
              </a:defRPr>
            </a:pPr>
            <a:r>
              <a:t>RQ3: Alarmas Autónomas &amp; Tasa Base</a:t>
            </a:r>
          </a:p>
          <a:p>
            <a:pPr>
              <a:defRPr sz="1000">
                <a:solidFill>
                  <a:srgbClr val="21140E"/>
                </a:solidFill>
              </a:defRPr>
            </a:pPr>
            <a:r>
              <a:t>¿Puede una alarma automática operar de forma autónoma ante la extrema rareza de los atacantes?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3688" y="3566160"/>
            <a:ext cx="251460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3D2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3416" y="3703320"/>
            <a:ext cx="22951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D2314"/>
                </a:solidFill>
              </a:defRPr>
            </a:pPr>
            <a:r>
              <a:t>RQ4: Wash Trading en DEX</a:t>
            </a:r>
          </a:p>
          <a:p>
            <a:pPr>
              <a:defRPr sz="1000">
                <a:solidFill>
                  <a:srgbClr val="21140E"/>
                </a:solidFill>
              </a:defRPr>
            </a:pPr>
            <a:r>
              <a:t>¿Cómo detectar manipulación de microestructura en pools de liquidez descentralizados?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PAPER JALAL &amp; WESTLAND — RQ1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Mitología Técnica: ¿Redes de Grafos (GNN) o Modelos de Árbol?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19/24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85216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_model_comparison_rq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5669280" cy="28346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0" y="1554480"/>
            <a:ext cx="457200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73736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900"/>
                </a:solidFill>
              </a:defRPr>
            </a:pPr>
            <a:r>
              <a:t>Deconstrucción de la Mitología Técnica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El Mito de la Industria: </a:t>
            </a:r>
            <a:r>
              <a:rPr b="0" sz="1050">
                <a:solidFill>
                  <a:srgbClr val="F5EDE4"/>
                </a:solidFill>
                <a:latin typeface="Segoe UI"/>
              </a:rPr>
              <a:t>Se afirma que la topología relacional de la blockchain exige redes neuronales de grafos (GCN, GraphSAGE, GATv2) para detectar billeteras ilícitas.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Muestreo Emparejado por Grado: </a:t>
            </a:r>
            <a:r>
              <a:rPr b="0" sz="1050">
                <a:solidFill>
                  <a:srgbClr val="F5EDE4"/>
                </a:solidFill>
                <a:latin typeface="Segoe UI"/>
              </a:rPr>
              <a:t>Al emparejar cada nodo ilícito con nodos normales de volumen idéntico, se evita una falsa victoria lograda por clasificar billeteras de alto volumen.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En Bitcoin (Red Plana, 32% Top-1%): </a:t>
            </a:r>
            <a:r>
              <a:rPr b="0" sz="1050">
                <a:solidFill>
                  <a:srgbClr val="F5EDE4"/>
                </a:solidFill>
                <a:latin typeface="Segoe UI"/>
              </a:rPr>
              <a:t>Random Forest tabular sin grafos gana con F1 = 0.935 frente a GraphSAGE (0.931) y GAT (0.911). Con solo rasgos estructurales, RF alcanza 0.893 vs 0.844 conductuales.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En Shiba &amp; Doge (Redes Concentradas): </a:t>
            </a:r>
            <a:r>
              <a:rPr b="0" sz="1050">
                <a:solidFill>
                  <a:srgbClr val="F5EDE4"/>
                </a:solidFill>
                <a:latin typeface="Segoe UI"/>
              </a:rPr>
              <a:t>Los hubs de exchanges (48%-63% de conexiones) enmascaran la cercanía a nodos ilícitos. Las variables conductuales (edad de wallet, recencia, ráfaga) dominan por completo.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Conclusión: </a:t>
            </a:r>
            <a:r>
              <a:rPr b="0" sz="1050">
                <a:solidFill>
                  <a:srgbClr val="F5EDE4"/>
                </a:solidFill>
                <a:latin typeface="Segoe UI"/>
              </a:rPr>
              <a:t>No existe ventaja sistemática en GNNs; las instituciones pagan una 'prima de complejidad' sin beneficios operativos reales.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PAPER JALAL &amp; WESTLAND — RQ2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Mitología Informacional: La Nulidad Predictiva ('The Price Null')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20/24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_rolling_stability_rq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5120640" cy="28803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900"/>
                </a:solidFill>
              </a:defRPr>
            </a:pPr>
            <a:r>
              <a:t>La Ilusión del 'Alfa' y Trampas Forenses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El Mito de la Industria: </a:t>
            </a:r>
            <a:r>
              <a:rPr b="0" sz="1050">
                <a:solidFill>
                  <a:srgbClr val="F5EDE4"/>
                </a:solidFill>
                <a:latin typeface="Segoe UI"/>
              </a:rPr>
              <a:t>Proveedores afirman que rastrear flujos ilícitos on-chain permite anticipar caídas de precios, picos de volatilidad o presiones de venta.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Batería de 30 Pruebas Estadísticas: </a:t>
            </a:r>
            <a:r>
              <a:rPr b="0" sz="1050">
                <a:solidFill>
                  <a:srgbClr val="F5EDE4"/>
                </a:solidFill>
                <a:latin typeface="Segoe UI"/>
              </a:rPr>
              <a:t>Causalidad de Granger (lags 1-10), modelos HAR-RV-X, Toda-Yamamoto y Temporal Fusion Transformers revelan **ausencia total de capacidad predictiva fuera de muestra (OOS)**.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Trampa 1: Look-Ahead Leak (Filtración): </a:t>
            </a:r>
            <a:r>
              <a:rPr b="0" sz="1050">
                <a:solidFill>
                  <a:srgbClr val="F5EDE4"/>
                </a:solidFill>
                <a:latin typeface="Segoe UI"/>
              </a:rPr>
              <a:t>Distribuir la actividad de una conexión hacia atrás creaba una ganancia ficticia del 7% en Doge (MSFE 0.934). Al reconstruir la serie causalmente, colapsó a 1.044 (¡mera filtración de datos futuros!).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Trampa 2: Artefactos de Feed de Precios: </a:t>
            </a:r>
            <a:r>
              <a:rPr b="0" sz="1050">
                <a:solidFill>
                  <a:srgbClr val="F5EDE4"/>
                </a:solidFill>
                <a:latin typeface="Segoe UI"/>
              </a:rPr>
              <a:t>Señales predictivas que parecían significativas en una plataforma de precios desaparecían por completo en otras.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Colapso en Calibración Rodante: </a:t>
            </a:r>
            <a:r>
              <a:rPr b="0" sz="1050">
                <a:solidFill>
                  <a:srgbClr val="F5EDE4"/>
                </a:solidFill>
                <a:latin typeface="Segoe UI"/>
              </a:rPr>
              <a:t>En ventanas móviles, la señal de liquidez (0.68) se sitúa cerca del azar (0.49) y lejos de una relación económica persistente (0.93).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PAPER JALAL &amp; WESTLAND — RQ3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Mitología Operativa: La Falacia de la Tasa Base y Sobrecarga de Alertas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21/24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85216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_base_rate_fall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5669280" cy="294802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0" y="1554480"/>
            <a:ext cx="457200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73736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900"/>
                </a:solidFill>
              </a:defRPr>
            </a:pPr>
            <a:r>
              <a:t>La Realidad Matemática (Axelsson, 2000)</a:t>
            </a:r>
          </a:p>
          <a:p>
            <a:pPr>
              <a:spcAft>
                <a:spcPts val="65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Prevalencia Empírica Ínfima (p): </a:t>
            </a:r>
            <a:r>
              <a:rPr b="0" sz="1050">
                <a:solidFill>
                  <a:srgbClr val="F5EDE4"/>
                </a:solidFill>
                <a:latin typeface="Segoe UI"/>
              </a:rPr>
              <a:t>En contratos inteligentes, solo existen ~150 exploits confirmados sobre 37.5M despliegues (p ≈ 4.4 × 10⁻⁶ = 4.4 por millón).</a:t>
            </a:r>
          </a:p>
          <a:p>
            <a:pPr>
              <a:spcAft>
                <a:spcPts val="65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Ecuación de Revisiones por Captura: </a:t>
            </a:r>
            <a:r>
              <a:rPr b="0" sz="1050">
                <a:solidFill>
                  <a:srgbClr val="F5EDE4"/>
                </a:solidFill>
                <a:latin typeface="Segoe UI"/>
              </a:rPr>
              <a:t>Revisiones / Captura = [(1 - p) / p] · [FPR_{at recall} / recall]</a:t>
            </a:r>
          </a:p>
          <a:p>
            <a:pPr>
              <a:spcAft>
                <a:spcPts val="65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Carga Operativa Inmanejable: </a:t>
            </a:r>
            <a:r>
              <a:rPr b="0" sz="1050">
                <a:solidFill>
                  <a:srgbClr val="F5EDE4"/>
                </a:solidFill>
                <a:latin typeface="Segoe UI"/>
              </a:rPr>
              <a:t>Para alcanzar un 90% de recall con el detector XGBoost (AUC 0.876), **se requieren entre 40,700 y 116,700 revisiones benignas por CADA captura real**.</a:t>
            </a:r>
          </a:p>
          <a:p>
            <a:pPr>
              <a:spcAft>
                <a:spcPts val="65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Imposibilidad de 'Kill-Switches': </a:t>
            </a:r>
            <a:r>
              <a:rPr b="0" sz="1050">
                <a:solidFill>
                  <a:srgbClr val="F5EDE4"/>
                </a:solidFill>
                <a:latin typeface="Segoe UI"/>
              </a:rPr>
              <a:t>Un bloqueo automático congelaría decenas de miles de usuarios legítimos, destruyendo el negocio institucional.</a:t>
            </a:r>
          </a:p>
          <a:p>
            <a:pPr>
              <a:spcAft>
                <a:spcPts val="65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Detección como TRIAJE (Triage): </a:t>
            </a:r>
            <a:r>
              <a:rPr b="0" sz="1050">
                <a:solidFill>
                  <a:srgbClr val="F5EDE4"/>
                </a:solidFill>
                <a:latin typeface="Segoe UI"/>
              </a:rPr>
              <a:t>El modelo SÍ es valioso como filtro de priorización humana: inspeccionar el top 1% más riesgoso concentra a los atacantes 13.3 veces por encima de la tasa base (Lift = 13.3x).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PAPER JALAL &amp; WESTLAND — RQ4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Manipulación en DEX: Detección de Wash Trading y el 'Wash-Discount'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22/24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A4100"/>
                </a:solidFill>
              </a:defRPr>
            </a:pPr>
            <a:r>
              <a:t>Embudo de Filtrado Conductual en Pools DEX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El Problema en Exchanges Descentralizados: </a:t>
            </a:r>
            <a:r>
              <a:rPr b="0" sz="1050">
                <a:solidFill>
                  <a:srgbClr val="21140E"/>
                </a:solidFill>
                <a:latin typeface="Segoe UI"/>
              </a:rPr>
              <a:t>No existen restricciones KYC; cualquier actor puede crear múltiples billeteras e intercambiar tokens consigo mismo para simular liquidez y volumen falso.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1. Umbral de Actividad (K ≥ 4): </a:t>
            </a:r>
            <a:r>
              <a:rPr b="0" sz="1050">
                <a:solidFill>
                  <a:srgbClr val="21140E"/>
                </a:solidFill>
                <a:latin typeface="Segoe UI"/>
              </a:rPr>
              <a:t>Mínimo de swaps ejecutados por la dirección dentro de la ventana de análisis semanal.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2. Balance Direccional (≥ 0.60): </a:t>
            </a:r>
            <a:r>
              <a:rPr b="0" sz="1050">
                <a:solidFill>
                  <a:srgbClr val="21140E"/>
                </a:solidFill>
                <a:latin typeface="Segoe UI"/>
              </a:rPr>
              <a:t>Relación simétrica entre compras y ventas: min(buys, sells) / max(buys, sells) ≥ 0.60.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3. Participación en el Pool (≥ 30%): </a:t>
            </a:r>
            <a:r>
              <a:rPr b="0" sz="1050">
                <a:solidFill>
                  <a:srgbClr val="21140E"/>
                </a:solidFill>
                <a:latin typeface="Segoe UI"/>
              </a:rPr>
              <a:t>La dirección sospechosa concentra más del 30% del volumen total de transacciones del pool.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4. Neutralidad de Inventario (&lt; 0.10): </a:t>
            </a:r>
            <a:r>
              <a:rPr b="0" sz="1050">
                <a:solidFill>
                  <a:srgbClr val="21140E"/>
                </a:solidFill>
                <a:latin typeface="Segoe UI"/>
              </a:rPr>
              <a:t>Flujo neto respecto a flujo bruto inferior al 10% en ambos tokens (reciclaje de inventario sin posición neta).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5900"/>
                </a:solidFill>
              </a:defRPr>
            </a:pPr>
            <a:r>
              <a:t>La Métrica 'Wash-Discount' (WD_i)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Inspiración en el Beneish M-Score: </a:t>
            </a:r>
            <a:r>
              <a:rPr b="0" sz="1050">
                <a:solidFill>
                  <a:srgbClr val="F5EDE4"/>
                </a:solidFill>
                <a:latin typeface="Segoe UI"/>
              </a:rPr>
              <a:t>Análogo a las métricas de contabilidad forense para detectar manipulación de beneficios corporativos.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Formalización Matemática: </a:t>
            </a:r>
            <a:r>
              <a:rPr b="0" sz="1050">
                <a:solidFill>
                  <a:srgbClr val="F5EDE4"/>
                </a:solidFill>
                <a:latin typeface="Segoe UI"/>
              </a:rPr>
              <a:t>WD_i = 1 - (Volumen_organico / Volumen_reportado) = Σ_{a ∈ C_i} V_{a,i} / V_{i,reportado}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Utilidad para Agregadores y Reguladores: </a:t>
            </a:r>
            <a:r>
              <a:rPr b="0" sz="1050">
                <a:solidFill>
                  <a:srgbClr val="F5EDE4"/>
                </a:solidFill>
                <a:latin typeface="Segoe UI"/>
              </a:rPr>
              <a:t>Permite a CoinMarketCap o CoinGecko deflactar el volumen artificial para reflejar la verdadera liquidez económica del pool.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Precaución Metodológica: </a:t>
            </a:r>
            <a:r>
              <a:rPr b="0" sz="1050">
                <a:solidFill>
                  <a:srgbClr val="F5EDE4"/>
                </a:solidFill>
                <a:latin typeface="Segoe UI"/>
              </a:rPr>
              <a:t>El volumen candidato no es prueba automática de colusión criminal; debe contrastarse con actividades de arbitraje y creación de mercado legítima.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PAPER JALAL &amp; WESTLAND — IMPLICACIONES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La Crisis de Obsolescencia de Etiquetas (Staleness) y Políticas AML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23/24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A4100"/>
                </a:solidFill>
              </a:defRPr>
            </a:pPr>
            <a:r>
              <a:t>La Vida Media de las Etiquetas Públicas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Vida Media de ~2 Años en Ethereum: </a:t>
            </a:r>
            <a:r>
              <a:rPr b="0" sz="1050">
                <a:solidFill>
                  <a:srgbClr val="21140E"/>
                </a:solidFill>
                <a:latin typeface="Segoe UI"/>
              </a:rPr>
              <a:t>En una cohorte de 3,279 direcciones ilícitas analizadas, la actividad cae a la mitad en solo 2 años. **Solo el 12.9% de las direcciones flagged seguían activas hacia 2024**.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Inactividad Total en Dogecoin (0%): </a:t>
            </a:r>
            <a:r>
              <a:rPr b="0" sz="1050">
                <a:solidFill>
                  <a:srgbClr val="21140E"/>
                </a:solidFill>
                <a:latin typeface="Segoe UI"/>
              </a:rPr>
              <a:t>El vecindario de billeteras de estafas en Dogecoin quedó 100% inactivo / durmiente tras 2022.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OFAC vs. ScamSniffer: </a:t>
            </a:r>
            <a:r>
              <a:rPr b="0" sz="1050">
                <a:solidFill>
                  <a:srgbClr val="21140E"/>
                </a:solidFill>
                <a:latin typeface="Segoe UI"/>
              </a:rPr>
              <a:t>Las direcciones sancionadas por OFAC mantienen mayor longevidad (26.5%) que las billeteras de phishing efímeras (13.9%, z = 3.17).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El Fenómeno de 'Burner Wallets': </a:t>
            </a:r>
            <a:r>
              <a:rPr b="0" sz="1050">
                <a:solidFill>
                  <a:srgbClr val="21140E"/>
                </a:solidFill>
                <a:latin typeface="Segoe UI"/>
              </a:rPr>
              <a:t>Los atacantes abandonan sus billeteras tras una sola campaña delictiva. Monitorear listas negras estáticas solo ofrece una ilusión de seguridad.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5900"/>
                </a:solidFill>
              </a:defRPr>
            </a:pPr>
            <a:r>
              <a:t>Recomendaciones para Stakeholders y Reguladores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1. Para Reguladores y GAFI / FATF: </a:t>
            </a:r>
            <a:r>
              <a:rPr b="0" sz="1050">
                <a:solidFill>
                  <a:srgbClr val="F5EDE4"/>
                </a:solidFill>
                <a:latin typeface="Segoe UI"/>
              </a:rPr>
              <a:t>Abandonar la exigencia de bloqueos automáticos basados en IA ('Travel Rule'). El mandato ignora la tasa base e impone un impuesto de 'teatro de seguridad'. Exigir reportes de prevalencia, recall y tasa de revisión.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2. Para Exchanges y Protocolos DEX: </a:t>
            </a:r>
            <a:r>
              <a:rPr b="0" sz="1050">
                <a:solidFill>
                  <a:srgbClr val="F5EDE4"/>
                </a:solidFill>
                <a:latin typeface="Segoe UI"/>
              </a:rPr>
              <a:t>Implementar embudos de filtrado conductual y el ratio Wash-Discount ($WD_i$) para deflactar volúmenes inflados y priorizar inspección contextual humana.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3. Para la Industria de Inteligencia Cripto: </a:t>
            </a:r>
            <a:r>
              <a:rPr b="0" sz="1050">
                <a:solidFill>
                  <a:srgbClr val="F5EDE4"/>
                </a:solidFill>
                <a:latin typeface="Segoe UI"/>
              </a:rPr>
              <a:t>Abandonar la venta de 'cajas negras' de GNNs sobrevaloradas. Demostrar desempeño en tiempo real (*point-in-time*) frente a baselines simples de árboles.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CIERRE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Conclusiones Clave y Preguntas de Debate para la Clase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24/24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A4100"/>
                </a:solidFill>
              </a:defRPr>
            </a:pPr>
            <a:r>
              <a:t>Síntesis Conceptual de la Sesión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Microestructura Real: </a:t>
            </a:r>
            <a:r>
              <a:rPr b="0" sz="1050">
                <a:solidFill>
                  <a:srgbClr val="21140E"/>
                </a:solidFill>
                <a:latin typeface="Segoe UI"/>
              </a:rPr>
              <a:t>La liquidez no es el volumen bruto publicitario; se mide en el libro de órdenes (DOM), el spread bid-ask y el ratio de Amihud.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Dominio de Derivados: </a:t>
            </a:r>
            <a:r>
              <a:rPr b="0" sz="1050">
                <a:solidFill>
                  <a:srgbClr val="21140E"/>
                </a:solidFill>
                <a:latin typeface="Segoe UI"/>
              </a:rPr>
              <a:t>2 de cada 3 dólares negociados operan en futuros perpetuos y derivados, no en la compra directa de criptomonedas al contado.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El Eje de las Stablecoins: </a:t>
            </a:r>
            <a:r>
              <a:rPr b="0" sz="1050">
                <a:solidFill>
                  <a:srgbClr val="21140E"/>
                </a:solidFill>
                <a:latin typeface="Segoe UI"/>
              </a:rPr>
              <a:t>USDT y USDC son la verdadera moneda base del ecosistema comercial y, por ende, el canal preferido del lavado de capitales transfronterizo.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Lección del Paper (Jalal &amp; Westland): </a:t>
            </a:r>
            <a:r>
              <a:rPr b="0" sz="1050">
                <a:solidFill>
                  <a:srgbClr val="21140E"/>
                </a:solidFill>
                <a:latin typeface="Segoe UI"/>
              </a:rPr>
              <a:t>La gobernanza algorítmica autónoma ('kill-switches') es una quimera matemática debido a la falacia de la tasa base (40k-116k revisiones por acierto). La IA debe ser herramienta de *triage* para analistas humanos.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5900"/>
                </a:solidFill>
              </a:defRPr>
            </a:pPr>
            <a:r>
              <a:t>Preguntas para Debate en Clase</a:t>
            </a:r>
          </a:p>
          <a:p>
            <a:pPr>
              <a:spcAft>
                <a:spcPts val="9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1. Riesgo Sistémico de Stablecoins: </a:t>
            </a:r>
            <a:r>
              <a:rPr b="0" sz="1050">
                <a:solidFill>
                  <a:srgbClr val="F5EDE4"/>
                </a:solidFill>
                <a:latin typeface="Segoe UI"/>
              </a:rPr>
              <a:t>¿Representa la concentración del ~70% del mercado de stablecoins en Tether (USDT) un riesgo 'Too Big To Fail' para la estabilidad de las finanzas descentralizadas?</a:t>
            </a:r>
          </a:p>
          <a:p>
            <a:pPr>
              <a:spcAft>
                <a:spcPts val="9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2. Eficiencia de Mercado &amp; 'Alpha': </a:t>
            </a:r>
            <a:r>
              <a:rPr b="0" sz="1050">
                <a:solidFill>
                  <a:srgbClr val="F5EDE4"/>
                </a:solidFill>
                <a:latin typeface="Segoe UI"/>
              </a:rPr>
              <a:t>Si los flujos on-chain no aportan predictibilidad demostrable para precios y volatilidad fuera de muestra, ¿por qué los fondos cuantitativos siguen comprando analíticas on-chain?</a:t>
            </a:r>
          </a:p>
          <a:p>
            <a:pPr>
              <a:spcAft>
                <a:spcPts val="9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3. Regulación vs. Realidad Matemática: </a:t>
            </a:r>
            <a:r>
              <a:rPr b="0" sz="1050">
                <a:solidFill>
                  <a:srgbClr val="F5EDE4"/>
                </a:solidFill>
                <a:latin typeface="Segoe UI"/>
              </a:rPr>
              <a:t>¿Cómo deben los organismos reguladores (GAFI, SEC, FinCEN) reformular los mandatos de cumplimiento AML sin obligar a las instituciones a realizar 'teatro de seguridad'?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5900"/>
      </a:hlink>
      <a:folHlink>
        <a:srgbClr val="FFA04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